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bjective and approach" id="{527139b9-4d1a-2218-7a68-564e438133bf}">
          <p14:sldIdLst>
            <p14:sldId id="256"/>
            <p14:sldId id="257"/>
            <p14:sldId id="258"/>
          </p14:sldIdLst>
        </p14:section>
        <p14:section name="Exploratory analysis" id="{83a310dd-1b7c-834f-2bf2-9b70f6af0d10}">
          <p14:sldIdLst>
            <p14:sldId id="259"/>
            <p14:sldId id="260"/>
          </p14:sldIdLst>
        </p14:section>
        <p14:section name="Method" id="{812ec8cc-3055-99c1-fbb2-f2869116fd5a}">
          <p14:sldIdLst>
            <p14:sldId id="261"/>
            <p14:sldId id="262"/>
            <p14:sldId id="263"/>
            <p14:sldId id="264"/>
            <p14:sldId id="265"/>
          </p14:sldIdLst>
        </p14:section>
        <p14:section name="Results" id="{d82aa689-04c9-1467-63c8-3610bf881b2c}">
          <p14:sldIdLst>
            <p14:sldId id="266"/>
            <p14:sldId id="267"/>
            <p14:sldId id="268"/>
          </p14:sldIdLst>
        </p14:section>
        <p14:section name="Interpretation" id="{93cf5678-de24-6005-f418-80e6a9cb3529}">
          <p14:sldIdLst>
            <p14:sldId id="269"/>
            <p14:sldId id="270"/>
            <p14:sldId id="271"/>
            <p14:sldId id="272"/>
            <p14:sldId id="273"/>
            <p14:sldId id="274"/>
          </p14:sldIdLst>
        </p14:section>
        <p14:section name="Appendix" id="{90002204-aab2-1deb-c6d6-db53d5de1181}">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SPY month-end price, 2005–2024 (dividend-adjusted)</a:t>
            </a:r>
          </a:p>
        </c:rich>
      </c:tx>
      <c:layout/>
      <c:overlay val="0"/>
    </c:title>
    <c:autoTitleDeleted val="0"/>
    <c:plotArea>
      <c:layout/>
      <c:lineChart>
        <c:varyColors val="0"/>
        <c:ser>
          <c:idx val="0"/>
          <c:order val="0"/>
          <c:tx>
            <c:strRef>
              <c:f>Sheet1!$B$1</c:f>
              <c:strCache>
                <c:ptCount val="1"/>
                <c:pt idx="0">
                  <c:v>SPY</c:v>
                </c:pt>
              </c:strCache>
            </c:strRef>
          </c:tx>
          <c:spPr>
            <a:solidFill>
              <a:srgbClr val="14213D"/>
            </a:solidFill>
            <a:ln w="25400" cap="flat">
              <a:solidFill>
                <a:srgbClr val="14213D"/>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Sheet1!$A$2:$A$241</c:f>
              <c:multiLvlStrCache>
                <c:ptCount val="240"/>
                <c:lvl>
                  <c:pt idx="0">
                    <c:v>2005</c:v>
                  </c:pt>
                  <c:pt idx="1">
                    <c:v>2005</c:v>
                  </c:pt>
                  <c:pt idx="2">
                    <c:v>2005</c:v>
                  </c:pt>
                  <c:pt idx="3">
                    <c:v>2005</c:v>
                  </c:pt>
                  <c:pt idx="4">
                    <c:v>2005</c:v>
                  </c:pt>
                  <c:pt idx="5">
                    <c:v>2005</c:v>
                  </c:pt>
                  <c:pt idx="6">
                    <c:v>2005</c:v>
                  </c:pt>
                  <c:pt idx="7">
                    <c:v>2005</c:v>
                  </c:pt>
                  <c:pt idx="8">
                    <c:v>2005</c:v>
                  </c:pt>
                  <c:pt idx="9">
                    <c:v>2005</c:v>
                  </c:pt>
                  <c:pt idx="10">
                    <c:v>2005</c:v>
                  </c:pt>
                  <c:pt idx="11">
                    <c:v>2005</c:v>
                  </c:pt>
                  <c:pt idx="12">
                    <c:v>2006</c:v>
                  </c:pt>
                  <c:pt idx="13">
                    <c:v>2006</c:v>
                  </c:pt>
                  <c:pt idx="14">
                    <c:v>2006</c:v>
                  </c:pt>
                  <c:pt idx="15">
                    <c:v>2006</c:v>
                  </c:pt>
                  <c:pt idx="16">
                    <c:v>2006</c:v>
                  </c:pt>
                  <c:pt idx="17">
                    <c:v>2006</c:v>
                  </c:pt>
                  <c:pt idx="18">
                    <c:v>2006</c:v>
                  </c:pt>
                  <c:pt idx="19">
                    <c:v>2006</c:v>
                  </c:pt>
                  <c:pt idx="20">
                    <c:v>2006</c:v>
                  </c:pt>
                  <c:pt idx="21">
                    <c:v>2006</c:v>
                  </c:pt>
                  <c:pt idx="22">
                    <c:v>2006</c:v>
                  </c:pt>
                  <c:pt idx="23">
                    <c:v>2006</c:v>
                  </c:pt>
                  <c:pt idx="24">
                    <c:v>2007</c:v>
                  </c:pt>
                  <c:pt idx="25">
                    <c:v>2007</c:v>
                  </c:pt>
                  <c:pt idx="26">
                    <c:v>2007</c:v>
                  </c:pt>
                  <c:pt idx="27">
                    <c:v>2007</c:v>
                  </c:pt>
                  <c:pt idx="28">
                    <c:v>2007</c:v>
                  </c:pt>
                  <c:pt idx="29">
                    <c:v>2007</c:v>
                  </c:pt>
                  <c:pt idx="30">
                    <c:v>2007</c:v>
                  </c:pt>
                  <c:pt idx="31">
                    <c:v>2007</c:v>
                  </c:pt>
                  <c:pt idx="32">
                    <c:v>2007</c:v>
                  </c:pt>
                  <c:pt idx="33">
                    <c:v>2007</c:v>
                  </c:pt>
                  <c:pt idx="34">
                    <c:v>2007</c:v>
                  </c:pt>
                  <c:pt idx="35">
                    <c:v>2007</c:v>
                  </c:pt>
                  <c:pt idx="36">
                    <c:v>2008</c:v>
                  </c:pt>
                  <c:pt idx="37">
                    <c:v>2008</c:v>
                  </c:pt>
                  <c:pt idx="38">
                    <c:v>2008</c:v>
                  </c:pt>
                  <c:pt idx="39">
                    <c:v>2008</c:v>
                  </c:pt>
                  <c:pt idx="40">
                    <c:v>2008</c:v>
                  </c:pt>
                  <c:pt idx="41">
                    <c:v>2008</c:v>
                  </c:pt>
                  <c:pt idx="42">
                    <c:v>2008</c:v>
                  </c:pt>
                  <c:pt idx="43">
                    <c:v>2008</c:v>
                  </c:pt>
                  <c:pt idx="44">
                    <c:v>2008</c:v>
                  </c:pt>
                  <c:pt idx="45">
                    <c:v>2008</c:v>
                  </c:pt>
                  <c:pt idx="46">
                    <c:v>2008</c:v>
                  </c:pt>
                  <c:pt idx="47">
                    <c:v>2008</c:v>
                  </c:pt>
                  <c:pt idx="48">
                    <c:v>2009</c:v>
                  </c:pt>
                  <c:pt idx="49">
                    <c:v>2009</c:v>
                  </c:pt>
                  <c:pt idx="50">
                    <c:v>2009</c:v>
                  </c:pt>
                  <c:pt idx="51">
                    <c:v>2009</c:v>
                  </c:pt>
                  <c:pt idx="52">
                    <c:v>2009</c:v>
                  </c:pt>
                  <c:pt idx="53">
                    <c:v>2009</c:v>
                  </c:pt>
                  <c:pt idx="54">
                    <c:v>2009</c:v>
                  </c:pt>
                  <c:pt idx="55">
                    <c:v>2009</c:v>
                  </c:pt>
                  <c:pt idx="56">
                    <c:v>2009</c:v>
                  </c:pt>
                  <c:pt idx="57">
                    <c:v>2009</c:v>
                  </c:pt>
                  <c:pt idx="58">
                    <c:v>2009</c:v>
                  </c:pt>
                  <c:pt idx="59">
                    <c:v>2009</c:v>
                  </c:pt>
                  <c:pt idx="60">
                    <c:v>2010</c:v>
                  </c:pt>
                  <c:pt idx="61">
                    <c:v>2010</c:v>
                  </c:pt>
                  <c:pt idx="62">
                    <c:v>2010</c:v>
                  </c:pt>
                  <c:pt idx="63">
                    <c:v>2010</c:v>
                  </c:pt>
                  <c:pt idx="64">
                    <c:v>2010</c:v>
                  </c:pt>
                  <c:pt idx="65">
                    <c:v>2010</c:v>
                  </c:pt>
                  <c:pt idx="66">
                    <c:v>2010</c:v>
                  </c:pt>
                  <c:pt idx="67">
                    <c:v>2010</c:v>
                  </c:pt>
                  <c:pt idx="68">
                    <c:v>2010</c:v>
                  </c:pt>
                  <c:pt idx="69">
                    <c:v>2010</c:v>
                  </c:pt>
                  <c:pt idx="70">
                    <c:v>2010</c:v>
                  </c:pt>
                  <c:pt idx="71">
                    <c:v>2010</c:v>
                  </c:pt>
                  <c:pt idx="72">
                    <c:v>2011</c:v>
                  </c:pt>
                  <c:pt idx="73">
                    <c:v>2011</c:v>
                  </c:pt>
                  <c:pt idx="74">
                    <c:v>2011</c:v>
                  </c:pt>
                  <c:pt idx="75">
                    <c:v>2011</c:v>
                  </c:pt>
                  <c:pt idx="76">
                    <c:v>2011</c:v>
                  </c:pt>
                  <c:pt idx="77">
                    <c:v>2011</c:v>
                  </c:pt>
                  <c:pt idx="78">
                    <c:v>2011</c:v>
                  </c:pt>
                  <c:pt idx="79">
                    <c:v>2011</c:v>
                  </c:pt>
                  <c:pt idx="80">
                    <c:v>2011</c:v>
                  </c:pt>
                  <c:pt idx="81">
                    <c:v>2011</c:v>
                  </c:pt>
                  <c:pt idx="82">
                    <c:v>2011</c:v>
                  </c:pt>
                  <c:pt idx="83">
                    <c:v>2011</c:v>
                  </c:pt>
                  <c:pt idx="84">
                    <c:v>2012</c:v>
                  </c:pt>
                  <c:pt idx="85">
                    <c:v>2012</c:v>
                  </c:pt>
                  <c:pt idx="86">
                    <c:v>2012</c:v>
                  </c:pt>
                  <c:pt idx="87">
                    <c:v>2012</c:v>
                  </c:pt>
                  <c:pt idx="88">
                    <c:v>2012</c:v>
                  </c:pt>
                  <c:pt idx="89">
                    <c:v>2012</c:v>
                  </c:pt>
                  <c:pt idx="90">
                    <c:v>2012</c:v>
                  </c:pt>
                  <c:pt idx="91">
                    <c:v>2012</c:v>
                  </c:pt>
                  <c:pt idx="92">
                    <c:v>2012</c:v>
                  </c:pt>
                  <c:pt idx="93">
                    <c:v>2012</c:v>
                  </c:pt>
                  <c:pt idx="94">
                    <c:v>2012</c:v>
                  </c:pt>
                  <c:pt idx="95">
                    <c:v>2012</c:v>
                  </c:pt>
                  <c:pt idx="96">
                    <c:v>2013</c:v>
                  </c:pt>
                  <c:pt idx="97">
                    <c:v>2013</c:v>
                  </c:pt>
                  <c:pt idx="98">
                    <c:v>2013</c:v>
                  </c:pt>
                  <c:pt idx="99">
                    <c:v>2013</c:v>
                  </c:pt>
                  <c:pt idx="100">
                    <c:v>2013</c:v>
                  </c:pt>
                  <c:pt idx="101">
                    <c:v>2013</c:v>
                  </c:pt>
                  <c:pt idx="102">
                    <c:v>2013</c:v>
                  </c:pt>
                  <c:pt idx="103">
                    <c:v>2013</c:v>
                  </c:pt>
                  <c:pt idx="104">
                    <c:v>2013</c:v>
                  </c:pt>
                  <c:pt idx="105">
                    <c:v>2013</c:v>
                  </c:pt>
                  <c:pt idx="106">
                    <c:v>2013</c:v>
                  </c:pt>
                  <c:pt idx="107">
                    <c:v>2013</c:v>
                  </c:pt>
                  <c:pt idx="108">
                    <c:v>2014</c:v>
                  </c:pt>
                  <c:pt idx="109">
                    <c:v>2014</c:v>
                  </c:pt>
                  <c:pt idx="110">
                    <c:v>2014</c:v>
                  </c:pt>
                  <c:pt idx="111">
                    <c:v>2014</c:v>
                  </c:pt>
                  <c:pt idx="112">
                    <c:v>2014</c:v>
                  </c:pt>
                  <c:pt idx="113">
                    <c:v>2014</c:v>
                  </c:pt>
                  <c:pt idx="114">
                    <c:v>2014</c:v>
                  </c:pt>
                  <c:pt idx="115">
                    <c:v>2014</c:v>
                  </c:pt>
                  <c:pt idx="116">
                    <c:v>2014</c:v>
                  </c:pt>
                  <c:pt idx="117">
                    <c:v>2014</c:v>
                  </c:pt>
                  <c:pt idx="118">
                    <c:v>2014</c:v>
                  </c:pt>
                  <c:pt idx="119">
                    <c:v>2014</c:v>
                  </c:pt>
                  <c:pt idx="120">
                    <c:v>2015</c:v>
                  </c:pt>
                  <c:pt idx="121">
                    <c:v>2015</c:v>
                  </c:pt>
                  <c:pt idx="122">
                    <c:v>2015</c:v>
                  </c:pt>
                  <c:pt idx="123">
                    <c:v>2015</c:v>
                  </c:pt>
                  <c:pt idx="124">
                    <c:v>2015</c:v>
                  </c:pt>
                  <c:pt idx="125">
                    <c:v>2015</c:v>
                  </c:pt>
                  <c:pt idx="126">
                    <c:v>2015</c:v>
                  </c:pt>
                  <c:pt idx="127">
                    <c:v>2015</c:v>
                  </c:pt>
                  <c:pt idx="128">
                    <c:v>2015</c:v>
                  </c:pt>
                  <c:pt idx="129">
                    <c:v>2015</c:v>
                  </c:pt>
                  <c:pt idx="130">
                    <c:v>2015</c:v>
                  </c:pt>
                  <c:pt idx="131">
                    <c:v>2015</c:v>
                  </c:pt>
                  <c:pt idx="132">
                    <c:v>2016</c:v>
                  </c:pt>
                  <c:pt idx="133">
                    <c:v>2016</c:v>
                  </c:pt>
                  <c:pt idx="134">
                    <c:v>2016</c:v>
                  </c:pt>
                  <c:pt idx="135">
                    <c:v>2016</c:v>
                  </c:pt>
                  <c:pt idx="136">
                    <c:v>2016</c:v>
                  </c:pt>
                  <c:pt idx="137">
                    <c:v>2016</c:v>
                  </c:pt>
                  <c:pt idx="138">
                    <c:v>2016</c:v>
                  </c:pt>
                  <c:pt idx="139">
                    <c:v>2016</c:v>
                  </c:pt>
                  <c:pt idx="140">
                    <c:v>2016</c:v>
                  </c:pt>
                  <c:pt idx="141">
                    <c:v>2016</c:v>
                  </c:pt>
                  <c:pt idx="142">
                    <c:v>2016</c:v>
                  </c:pt>
                  <c:pt idx="143">
                    <c:v>2016</c:v>
                  </c:pt>
                  <c:pt idx="144">
                    <c:v>2017</c:v>
                  </c:pt>
                  <c:pt idx="145">
                    <c:v>2017</c:v>
                  </c:pt>
                  <c:pt idx="146">
                    <c:v>2017</c:v>
                  </c:pt>
                  <c:pt idx="147">
                    <c:v>2017</c:v>
                  </c:pt>
                  <c:pt idx="148">
                    <c:v>2017</c:v>
                  </c:pt>
                  <c:pt idx="149">
                    <c:v>2017</c:v>
                  </c:pt>
                  <c:pt idx="150">
                    <c:v>2017</c:v>
                  </c:pt>
                  <c:pt idx="151">
                    <c:v>2017</c:v>
                  </c:pt>
                  <c:pt idx="152">
                    <c:v>2017</c:v>
                  </c:pt>
                  <c:pt idx="153">
                    <c:v>2017</c:v>
                  </c:pt>
                  <c:pt idx="154">
                    <c:v>2017</c:v>
                  </c:pt>
                  <c:pt idx="155">
                    <c:v>2017</c:v>
                  </c:pt>
                  <c:pt idx="156">
                    <c:v>2018</c:v>
                  </c:pt>
                  <c:pt idx="157">
                    <c:v>2018</c:v>
                  </c:pt>
                  <c:pt idx="158">
                    <c:v>2018</c:v>
                  </c:pt>
                  <c:pt idx="159">
                    <c:v>2018</c:v>
                  </c:pt>
                  <c:pt idx="160">
                    <c:v>2018</c:v>
                  </c:pt>
                  <c:pt idx="161">
                    <c:v>2018</c:v>
                  </c:pt>
                  <c:pt idx="162">
                    <c:v>2018</c:v>
                  </c:pt>
                  <c:pt idx="163">
                    <c:v>2018</c:v>
                  </c:pt>
                  <c:pt idx="164">
                    <c:v>2018</c:v>
                  </c:pt>
                  <c:pt idx="165">
                    <c:v>2018</c:v>
                  </c:pt>
                  <c:pt idx="166">
                    <c:v>2018</c:v>
                  </c:pt>
                  <c:pt idx="167">
                    <c:v>2018</c:v>
                  </c:pt>
                  <c:pt idx="168">
                    <c:v>2019</c:v>
                  </c:pt>
                  <c:pt idx="169">
                    <c:v>2019</c:v>
                  </c:pt>
                  <c:pt idx="170">
                    <c:v>2019</c:v>
                  </c:pt>
                  <c:pt idx="171">
                    <c:v>2019</c:v>
                  </c:pt>
                  <c:pt idx="172">
                    <c:v>2019</c:v>
                  </c:pt>
                  <c:pt idx="173">
                    <c:v>2019</c:v>
                  </c:pt>
                  <c:pt idx="174">
                    <c:v>2019</c:v>
                  </c:pt>
                  <c:pt idx="175">
                    <c:v>2019</c:v>
                  </c:pt>
                  <c:pt idx="176">
                    <c:v>2019</c:v>
                  </c:pt>
                  <c:pt idx="177">
                    <c:v>2019</c:v>
                  </c:pt>
                  <c:pt idx="178">
                    <c:v>2019</c:v>
                  </c:pt>
                  <c:pt idx="179">
                    <c:v>2019</c:v>
                  </c:pt>
                  <c:pt idx="180">
                    <c:v>2020</c:v>
                  </c:pt>
                  <c:pt idx="181">
                    <c:v>2020</c:v>
                  </c:pt>
                  <c:pt idx="182">
                    <c:v>2020</c:v>
                  </c:pt>
                  <c:pt idx="183">
                    <c:v>2020</c:v>
                  </c:pt>
                  <c:pt idx="184">
                    <c:v>2020</c:v>
                  </c:pt>
                  <c:pt idx="185">
                    <c:v>2020</c:v>
                  </c:pt>
                  <c:pt idx="186">
                    <c:v>2020</c:v>
                  </c:pt>
                  <c:pt idx="187">
                    <c:v>2020</c:v>
                  </c:pt>
                  <c:pt idx="188">
                    <c:v>2020</c:v>
                  </c:pt>
                  <c:pt idx="189">
                    <c:v>2020</c:v>
                  </c:pt>
                  <c:pt idx="190">
                    <c:v>2020</c:v>
                  </c:pt>
                  <c:pt idx="191">
                    <c:v>2020</c:v>
                  </c:pt>
                  <c:pt idx="192">
                    <c:v>2021</c:v>
                  </c:pt>
                  <c:pt idx="193">
                    <c:v>2021</c:v>
                  </c:pt>
                  <c:pt idx="194">
                    <c:v>2021</c:v>
                  </c:pt>
                  <c:pt idx="195">
                    <c:v>2021</c:v>
                  </c:pt>
                  <c:pt idx="196">
                    <c:v>2021</c:v>
                  </c:pt>
                  <c:pt idx="197">
                    <c:v>2021</c:v>
                  </c:pt>
                  <c:pt idx="198">
                    <c:v>2021</c:v>
                  </c:pt>
                  <c:pt idx="199">
                    <c:v>2021</c:v>
                  </c:pt>
                  <c:pt idx="200">
                    <c:v>2021</c:v>
                  </c:pt>
                  <c:pt idx="201">
                    <c:v>2021</c:v>
                  </c:pt>
                  <c:pt idx="202">
                    <c:v>2021</c:v>
                  </c:pt>
                  <c:pt idx="203">
                    <c:v>2021</c:v>
                  </c:pt>
                  <c:pt idx="204">
                    <c:v>2022</c:v>
                  </c:pt>
                  <c:pt idx="205">
                    <c:v>2022</c:v>
                  </c:pt>
                  <c:pt idx="206">
                    <c:v>2022</c:v>
                  </c:pt>
                  <c:pt idx="207">
                    <c:v>2022</c:v>
                  </c:pt>
                  <c:pt idx="208">
                    <c:v>2022</c:v>
                  </c:pt>
                  <c:pt idx="209">
                    <c:v>2022</c:v>
                  </c:pt>
                  <c:pt idx="210">
                    <c:v>2022</c:v>
                  </c:pt>
                  <c:pt idx="211">
                    <c:v>2022</c:v>
                  </c:pt>
                  <c:pt idx="212">
                    <c:v>2022</c:v>
                  </c:pt>
                  <c:pt idx="213">
                    <c:v>2022</c:v>
                  </c:pt>
                  <c:pt idx="214">
                    <c:v>2022</c:v>
                  </c:pt>
                  <c:pt idx="215">
                    <c:v>2022</c:v>
                  </c:pt>
                  <c:pt idx="216">
                    <c:v>2023</c:v>
                  </c:pt>
                  <c:pt idx="217">
                    <c:v>2023</c:v>
                  </c:pt>
                  <c:pt idx="218">
                    <c:v>2023</c:v>
                  </c:pt>
                  <c:pt idx="219">
                    <c:v>2023</c:v>
                  </c:pt>
                  <c:pt idx="220">
                    <c:v>2023</c:v>
                  </c:pt>
                  <c:pt idx="221">
                    <c:v>2023</c:v>
                  </c:pt>
                  <c:pt idx="222">
                    <c:v>2023</c:v>
                  </c:pt>
                  <c:pt idx="223">
                    <c:v>2023</c:v>
                  </c:pt>
                  <c:pt idx="224">
                    <c:v>2023</c:v>
                  </c:pt>
                  <c:pt idx="225">
                    <c:v>2023</c:v>
                  </c:pt>
                  <c:pt idx="226">
                    <c:v>2023</c:v>
                  </c:pt>
                  <c:pt idx="227">
                    <c:v>2023</c:v>
                  </c:pt>
                  <c:pt idx="228">
                    <c:v>2024</c:v>
                  </c:pt>
                  <c:pt idx="229">
                    <c:v>2024</c:v>
                  </c:pt>
                  <c:pt idx="230">
                    <c:v>2024</c:v>
                  </c:pt>
                  <c:pt idx="231">
                    <c:v>2024</c:v>
                  </c:pt>
                  <c:pt idx="232">
                    <c:v>2024</c:v>
                  </c:pt>
                  <c:pt idx="233">
                    <c:v>2024</c:v>
                  </c:pt>
                  <c:pt idx="234">
                    <c:v>2024</c:v>
                  </c:pt>
                  <c:pt idx="235">
                    <c:v>2024</c:v>
                  </c:pt>
                  <c:pt idx="236">
                    <c:v>2024</c:v>
                  </c:pt>
                  <c:pt idx="237">
                    <c:v>2024</c:v>
                  </c:pt>
                  <c:pt idx="238">
                    <c:v>2024</c:v>
                  </c:pt>
                  <c:pt idx="239">
                    <c:v>2024</c:v>
                  </c:pt>
                </c:lvl>
              </c:multiLvlStrCache>
            </c:multiLvlStrRef>
          </c:cat>
          <c:val>
            <c:numRef>
              <c:f>Sheet1!$B$2:$B$241</c:f>
              <c:numCache>
                <c:formatCode>General</c:formatCode>
                <c:ptCount val="240"/>
                <c:pt idx="0">
                  <c:v>79.53</c:v>
                </c:pt>
                <c:pt idx="1">
                  <c:v>81.2</c:v>
                </c:pt>
                <c:pt idx="2">
                  <c:v>79.71</c:v>
                </c:pt>
                <c:pt idx="3">
                  <c:v>78.22</c:v>
                </c:pt>
                <c:pt idx="4">
                  <c:v>80.74</c:v>
                </c:pt>
                <c:pt idx="5">
                  <c:v>80.86</c:v>
                </c:pt>
                <c:pt idx="6">
                  <c:v>83.95</c:v>
                </c:pt>
                <c:pt idx="7">
                  <c:v>83.17</c:v>
                </c:pt>
                <c:pt idx="8">
                  <c:v>83.83</c:v>
                </c:pt>
                <c:pt idx="9">
                  <c:v>81.85</c:v>
                </c:pt>
                <c:pt idx="10">
                  <c:v>85.45</c:v>
                </c:pt>
                <c:pt idx="11">
                  <c:v>85.29</c:v>
                </c:pt>
                <c:pt idx="12">
                  <c:v>87.33</c:v>
                </c:pt>
                <c:pt idx="13">
                  <c:v>87.83</c:v>
                </c:pt>
                <c:pt idx="14">
                  <c:v>89.28</c:v>
                </c:pt>
                <c:pt idx="15">
                  <c:v>90.41</c:v>
                </c:pt>
                <c:pt idx="16">
                  <c:v>87.69</c:v>
                </c:pt>
                <c:pt idx="17">
                  <c:v>87.92</c:v>
                </c:pt>
                <c:pt idx="18">
                  <c:v>88.31</c:v>
                </c:pt>
                <c:pt idx="19">
                  <c:v>90.24</c:v>
                </c:pt>
                <c:pt idx="20">
                  <c:v>92.67</c:v>
                </c:pt>
                <c:pt idx="21">
                  <c:v>95.59</c:v>
                </c:pt>
                <c:pt idx="22">
                  <c:v>97.5</c:v>
                </c:pt>
                <c:pt idx="23">
                  <c:v>98.8</c:v>
                </c:pt>
                <c:pt idx="24">
                  <c:v>100.28</c:v>
                </c:pt>
                <c:pt idx="25">
                  <c:v>98.32</c:v>
                </c:pt>
                <c:pt idx="26">
                  <c:v>99.46</c:v>
                </c:pt>
                <c:pt idx="27">
                  <c:v>103.86</c:v>
                </c:pt>
                <c:pt idx="28">
                  <c:v>107.39</c:v>
                </c:pt>
                <c:pt idx="29">
                  <c:v>105.82</c:v>
                </c:pt>
                <c:pt idx="30">
                  <c:v>102.5</c:v>
                </c:pt>
                <c:pt idx="31">
                  <c:v>103.82</c:v>
                </c:pt>
                <c:pt idx="32">
                  <c:v>107.84</c:v>
                </c:pt>
                <c:pt idx="33">
                  <c:v>109.3</c:v>
                </c:pt>
                <c:pt idx="34">
                  <c:v>105.07</c:v>
                </c:pt>
                <c:pt idx="35">
                  <c:v>103.88</c:v>
                </c:pt>
                <c:pt idx="36">
                  <c:v>97.6</c:v>
                </c:pt>
                <c:pt idx="37">
                  <c:v>95.08</c:v>
                </c:pt>
                <c:pt idx="38">
                  <c:v>94.23</c:v>
                </c:pt>
                <c:pt idx="39">
                  <c:v>98.72</c:v>
                </c:pt>
                <c:pt idx="40">
                  <c:v>100.21</c:v>
                </c:pt>
                <c:pt idx="41">
                  <c:v>91.84</c:v>
                </c:pt>
                <c:pt idx="42">
                  <c:v>91.01</c:v>
                </c:pt>
                <c:pt idx="43">
                  <c:v>92.42</c:v>
                </c:pt>
                <c:pt idx="44">
                  <c:v>83.72</c:v>
                </c:pt>
                <c:pt idx="45">
                  <c:v>69.89</c:v>
                </c:pt>
                <c:pt idx="46">
                  <c:v>65.02</c:v>
                </c:pt>
                <c:pt idx="47">
                  <c:v>65.66</c:v>
                </c:pt>
                <c:pt idx="48">
                  <c:v>60.27</c:v>
                </c:pt>
                <c:pt idx="49">
                  <c:v>53.79</c:v>
                </c:pt>
                <c:pt idx="50">
                  <c:v>58.27</c:v>
                </c:pt>
                <c:pt idx="51">
                  <c:v>64.06</c:v>
                </c:pt>
                <c:pt idx="52">
                  <c:v>67.81</c:v>
                </c:pt>
                <c:pt idx="53">
                  <c:v>67.76</c:v>
                </c:pt>
                <c:pt idx="54">
                  <c:v>72.82</c:v>
                </c:pt>
                <c:pt idx="55">
                  <c:v>75.51</c:v>
                </c:pt>
                <c:pt idx="56">
                  <c:v>78.19</c:v>
                </c:pt>
                <c:pt idx="57">
                  <c:v>76.68</c:v>
                </c:pt>
                <c:pt idx="58">
                  <c:v>81.41</c:v>
                </c:pt>
                <c:pt idx="59">
                  <c:v>82.96</c:v>
                </c:pt>
                <c:pt idx="60">
                  <c:v>79.95</c:v>
                </c:pt>
                <c:pt idx="61">
                  <c:v>82.44</c:v>
                </c:pt>
                <c:pt idx="62">
                  <c:v>87.46</c:v>
                </c:pt>
                <c:pt idx="63">
                  <c:v>88.81</c:v>
                </c:pt>
                <c:pt idx="64">
                  <c:v>81.76</c:v>
                </c:pt>
                <c:pt idx="65">
                  <c:v>77.53</c:v>
                </c:pt>
                <c:pt idx="66">
                  <c:v>82.82</c:v>
                </c:pt>
                <c:pt idx="67">
                  <c:v>79.1</c:v>
                </c:pt>
                <c:pt idx="68">
                  <c:v>86.18</c:v>
                </c:pt>
                <c:pt idx="69">
                  <c:v>89.47</c:v>
                </c:pt>
                <c:pt idx="70">
                  <c:v>89.47</c:v>
                </c:pt>
                <c:pt idx="71">
                  <c:v>95.45</c:v>
                </c:pt>
                <c:pt idx="72">
                  <c:v>97.68</c:v>
                </c:pt>
                <c:pt idx="73">
                  <c:v>101.07</c:v>
                </c:pt>
                <c:pt idx="74">
                  <c:v>101.08</c:v>
                </c:pt>
                <c:pt idx="75">
                  <c:v>104.01</c:v>
                </c:pt>
                <c:pt idx="76">
                  <c:v>102.84</c:v>
                </c:pt>
                <c:pt idx="77">
                  <c:v>101.11</c:v>
                </c:pt>
                <c:pt idx="78">
                  <c:v>99.09</c:v>
                </c:pt>
                <c:pt idx="79">
                  <c:v>93.64</c:v>
                </c:pt>
                <c:pt idx="80">
                  <c:v>87.14</c:v>
                </c:pt>
                <c:pt idx="81">
                  <c:v>96.65</c:v>
                </c:pt>
                <c:pt idx="82">
                  <c:v>96.26</c:v>
                </c:pt>
                <c:pt idx="83">
                  <c:v>97.26</c:v>
                </c:pt>
                <c:pt idx="84">
                  <c:v>101.77</c:v>
                </c:pt>
                <c:pt idx="85">
                  <c:v>106.19</c:v>
                </c:pt>
                <c:pt idx="86">
                  <c:v>109.61</c:v>
                </c:pt>
                <c:pt idx="87">
                  <c:v>108.87</c:v>
                </c:pt>
                <c:pt idx="88">
                  <c:v>102.33</c:v>
                </c:pt>
                <c:pt idx="89">
                  <c:v>106.49</c:v>
                </c:pt>
                <c:pt idx="90">
                  <c:v>107.75</c:v>
                </c:pt>
                <c:pt idx="91">
                  <c:v>110.45</c:v>
                </c:pt>
                <c:pt idx="92">
                  <c:v>113.25</c:v>
                </c:pt>
                <c:pt idx="93">
                  <c:v>111.19</c:v>
                </c:pt>
                <c:pt idx="94">
                  <c:v>111.82</c:v>
                </c:pt>
                <c:pt idx="95">
                  <c:v>112.81</c:v>
                </c:pt>
                <c:pt idx="96">
                  <c:v>118.59</c:v>
                </c:pt>
                <c:pt idx="97">
                  <c:v>120.1</c:v>
                </c:pt>
                <c:pt idx="98">
                  <c:v>124.66</c:v>
                </c:pt>
                <c:pt idx="99">
                  <c:v>127.06</c:v>
                </c:pt>
                <c:pt idx="100">
                  <c:v>130.06</c:v>
                </c:pt>
                <c:pt idx="101">
                  <c:v>128.32</c:v>
                </c:pt>
                <c:pt idx="102">
                  <c:v>134.95</c:v>
                </c:pt>
                <c:pt idx="103">
                  <c:v>130.91</c:v>
                </c:pt>
                <c:pt idx="104">
                  <c:v>135.05</c:v>
                </c:pt>
                <c:pt idx="105">
                  <c:v>141.3</c:v>
                </c:pt>
                <c:pt idx="106">
                  <c:v>145.49</c:v>
                </c:pt>
                <c:pt idx="107">
                  <c:v>149.26</c:v>
                </c:pt>
                <c:pt idx="108">
                  <c:v>144</c:v>
                </c:pt>
                <c:pt idx="109">
                  <c:v>150.55</c:v>
                </c:pt>
                <c:pt idx="110">
                  <c:v>151.8</c:v>
                </c:pt>
                <c:pt idx="111">
                  <c:v>152.86</c:v>
                </c:pt>
                <c:pt idx="112">
                  <c:v>156.41</c:v>
                </c:pt>
                <c:pt idx="113">
                  <c:v>159.64</c:v>
                </c:pt>
                <c:pt idx="114">
                  <c:v>157.49</c:v>
                </c:pt>
                <c:pt idx="115">
                  <c:v>163.71</c:v>
                </c:pt>
                <c:pt idx="116">
                  <c:v>161.45</c:v>
                </c:pt>
                <c:pt idx="117">
                  <c:v>165.25</c:v>
                </c:pt>
                <c:pt idx="118">
                  <c:v>169.79</c:v>
                </c:pt>
                <c:pt idx="119">
                  <c:v>169.36</c:v>
                </c:pt>
                <c:pt idx="120">
                  <c:v>164.34</c:v>
                </c:pt>
                <c:pt idx="121">
                  <c:v>173.58</c:v>
                </c:pt>
                <c:pt idx="122">
                  <c:v>170.85</c:v>
                </c:pt>
                <c:pt idx="123">
                  <c:v>172.53</c:v>
                </c:pt>
                <c:pt idx="124">
                  <c:v>174.75</c:v>
                </c:pt>
                <c:pt idx="125">
                  <c:v>171.2</c:v>
                </c:pt>
                <c:pt idx="126">
                  <c:v>175.07</c:v>
                </c:pt>
                <c:pt idx="127">
                  <c:v>164.4</c:v>
                </c:pt>
                <c:pt idx="128">
                  <c:v>160.2</c:v>
                </c:pt>
                <c:pt idx="129">
                  <c:v>173.83</c:v>
                </c:pt>
                <c:pt idx="130">
                  <c:v>174.46</c:v>
                </c:pt>
                <c:pt idx="131">
                  <c:v>171.45</c:v>
                </c:pt>
                <c:pt idx="132">
                  <c:v>162.91</c:v>
                </c:pt>
                <c:pt idx="133">
                  <c:v>162.78</c:v>
                </c:pt>
                <c:pt idx="134">
                  <c:v>173.73</c:v>
                </c:pt>
                <c:pt idx="135">
                  <c:v>174.41</c:v>
                </c:pt>
                <c:pt idx="136">
                  <c:v>177.38</c:v>
                </c:pt>
                <c:pt idx="137">
                  <c:v>178</c:v>
                </c:pt>
                <c:pt idx="138">
                  <c:v>184.49</c:v>
                </c:pt>
                <c:pt idx="139">
                  <c:v>184.71</c:v>
                </c:pt>
                <c:pt idx="140">
                  <c:v>184.72</c:v>
                </c:pt>
                <c:pt idx="141">
                  <c:v>181.52</c:v>
                </c:pt>
                <c:pt idx="142">
                  <c:v>188.2</c:v>
                </c:pt>
                <c:pt idx="143">
                  <c:v>192.02</c:v>
                </c:pt>
                <c:pt idx="144">
                  <c:v>195.45</c:v>
                </c:pt>
                <c:pt idx="145">
                  <c:v>203.13</c:v>
                </c:pt>
                <c:pt idx="146">
                  <c:v>203.39</c:v>
                </c:pt>
                <c:pt idx="147">
                  <c:v>205.41</c:v>
                </c:pt>
                <c:pt idx="148">
                  <c:v>208.31</c:v>
                </c:pt>
                <c:pt idx="149">
                  <c:v>209.63</c:v>
                </c:pt>
                <c:pt idx="150">
                  <c:v>213.94</c:v>
                </c:pt>
                <c:pt idx="151">
                  <c:v>214.57</c:v>
                </c:pt>
                <c:pt idx="152">
                  <c:v>218.89</c:v>
                </c:pt>
                <c:pt idx="153">
                  <c:v>224.05</c:v>
                </c:pt>
                <c:pt idx="154">
                  <c:v>230.9</c:v>
                </c:pt>
                <c:pt idx="155">
                  <c:v>233.7</c:v>
                </c:pt>
                <c:pt idx="156">
                  <c:v>246.87</c:v>
                </c:pt>
                <c:pt idx="157">
                  <c:v>237.89</c:v>
                </c:pt>
                <c:pt idx="158">
                  <c:v>231.37</c:v>
                </c:pt>
                <c:pt idx="159">
                  <c:v>232.57</c:v>
                </c:pt>
                <c:pt idx="160">
                  <c:v>238.22</c:v>
                </c:pt>
                <c:pt idx="161">
                  <c:v>239.59</c:v>
                </c:pt>
                <c:pt idx="162">
                  <c:v>248.47</c:v>
                </c:pt>
                <c:pt idx="163">
                  <c:v>256.4</c:v>
                </c:pt>
                <c:pt idx="164">
                  <c:v>257.92</c:v>
                </c:pt>
                <c:pt idx="165">
                  <c:v>240.1</c:v>
                </c:pt>
                <c:pt idx="166">
                  <c:v>244.55</c:v>
                </c:pt>
                <c:pt idx="167">
                  <c:v>223.02</c:v>
                </c:pt>
                <c:pt idx="168">
                  <c:v>240.88</c:v>
                </c:pt>
                <c:pt idx="169">
                  <c:v>248.68</c:v>
                </c:pt>
                <c:pt idx="170">
                  <c:v>253.19</c:v>
                </c:pt>
                <c:pt idx="171">
                  <c:v>263.53</c:v>
                </c:pt>
                <c:pt idx="172">
                  <c:v>246.72</c:v>
                </c:pt>
                <c:pt idx="173">
                  <c:v>263.89</c:v>
                </c:pt>
                <c:pt idx="174">
                  <c:v>267.88</c:v>
                </c:pt>
                <c:pt idx="175">
                  <c:v>263.4</c:v>
                </c:pt>
                <c:pt idx="176">
                  <c:v>268.52</c:v>
                </c:pt>
                <c:pt idx="177">
                  <c:v>274.46</c:v>
                </c:pt>
                <c:pt idx="178">
                  <c:v>284.39</c:v>
                </c:pt>
                <c:pt idx="179">
                  <c:v>292.65</c:v>
                </c:pt>
                <c:pt idx="180">
                  <c:v>292.54</c:v>
                </c:pt>
                <c:pt idx="181">
                  <c:v>269.38</c:v>
                </c:pt>
                <c:pt idx="182">
                  <c:v>235.74</c:v>
                </c:pt>
                <c:pt idx="183">
                  <c:v>265.68</c:v>
                </c:pt>
                <c:pt idx="184">
                  <c:v>278.33</c:v>
                </c:pt>
                <c:pt idx="185">
                  <c:v>283.27</c:v>
                </c:pt>
                <c:pt idx="186">
                  <c:v>299.95</c:v>
                </c:pt>
                <c:pt idx="187">
                  <c:v>320.89</c:v>
                </c:pt>
                <c:pt idx="188">
                  <c:v>308.87</c:v>
                </c:pt>
                <c:pt idx="189">
                  <c:v>301.17</c:v>
                </c:pt>
                <c:pt idx="190">
                  <c:v>333.93</c:v>
                </c:pt>
                <c:pt idx="191">
                  <c:v>346.3</c:v>
                </c:pt>
                <c:pt idx="192">
                  <c:v>342.77</c:v>
                </c:pt>
                <c:pt idx="193">
                  <c:v>352.31</c:v>
                </c:pt>
                <c:pt idx="194">
                  <c:v>368.3</c:v>
                </c:pt>
                <c:pt idx="195">
                  <c:v>387.79</c:v>
                </c:pt>
                <c:pt idx="196">
                  <c:v>390.33</c:v>
                </c:pt>
                <c:pt idx="197">
                  <c:v>399.09</c:v>
                </c:pt>
                <c:pt idx="198">
                  <c:v>408.83</c:v>
                </c:pt>
                <c:pt idx="199">
                  <c:v>421</c:v>
                </c:pt>
                <c:pt idx="200">
                  <c:v>401.38</c:v>
                </c:pt>
                <c:pt idx="201">
                  <c:v>429.54</c:v>
                </c:pt>
                <c:pt idx="202">
                  <c:v>426.09</c:v>
                </c:pt>
                <c:pt idx="203">
                  <c:v>445.79</c:v>
                </c:pt>
                <c:pt idx="204">
                  <c:v>422.28</c:v>
                </c:pt>
                <c:pt idx="205">
                  <c:v>409.82</c:v>
                </c:pt>
                <c:pt idx="206">
                  <c:v>425.22</c:v>
                </c:pt>
                <c:pt idx="207">
                  <c:v>387.9</c:v>
                </c:pt>
                <c:pt idx="208">
                  <c:v>388.78</c:v>
                </c:pt>
                <c:pt idx="209">
                  <c:v>356.72</c:v>
                </c:pt>
                <c:pt idx="210">
                  <c:v>389.57</c:v>
                </c:pt>
                <c:pt idx="211">
                  <c:v>373.67</c:v>
                </c:pt>
                <c:pt idx="212">
                  <c:v>339.13</c:v>
                </c:pt>
                <c:pt idx="213">
                  <c:v>366.69</c:v>
                </c:pt>
                <c:pt idx="214">
                  <c:v>387.07</c:v>
                </c:pt>
                <c:pt idx="215">
                  <c:v>364.77</c:v>
                </c:pt>
                <c:pt idx="216">
                  <c:v>387.71</c:v>
                </c:pt>
                <c:pt idx="217">
                  <c:v>377.96</c:v>
                </c:pt>
                <c:pt idx="218">
                  <c:v>391.97</c:v>
                </c:pt>
                <c:pt idx="219">
                  <c:v>398.23</c:v>
                </c:pt>
                <c:pt idx="220">
                  <c:v>400.07</c:v>
                </c:pt>
                <c:pt idx="221">
                  <c:v>426</c:v>
                </c:pt>
                <c:pt idx="222">
                  <c:v>439.94</c:v>
                </c:pt>
                <c:pt idx="223">
                  <c:v>432.79</c:v>
                </c:pt>
                <c:pt idx="224">
                  <c:v>412.26</c:v>
                </c:pt>
                <c:pt idx="225">
                  <c:v>403.31</c:v>
                </c:pt>
                <c:pt idx="226">
                  <c:v>440.15</c:v>
                </c:pt>
                <c:pt idx="227">
                  <c:v>460.25</c:v>
                </c:pt>
                <c:pt idx="228">
                  <c:v>467.58</c:v>
                </c:pt>
                <c:pt idx="229">
                  <c:v>491.98</c:v>
                </c:pt>
                <c:pt idx="230">
                  <c:v>508.07</c:v>
                </c:pt>
                <c:pt idx="231">
                  <c:v>487.58</c:v>
                </c:pt>
                <c:pt idx="232">
                  <c:v>512.25</c:v>
                </c:pt>
                <c:pt idx="233">
                  <c:v>530.32</c:v>
                </c:pt>
                <c:pt idx="234">
                  <c:v>536.74</c:v>
                </c:pt>
                <c:pt idx="235">
                  <c:v>549.28</c:v>
                </c:pt>
                <c:pt idx="236">
                  <c:v>560.82</c:v>
                </c:pt>
                <c:pt idx="237">
                  <c:v>555.81</c:v>
                </c:pt>
                <c:pt idx="238">
                  <c:v>588.96</c:v>
                </c:pt>
                <c:pt idx="239">
                  <c:v>574.79</c:v>
                </c:pt>
              </c:numCache>
            </c:numRef>
          </c:val>
          <c:smooth val="0"/>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tickLblSkip val="36"/>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Correlation with the same measure 1–10 days earlier (autocorrelation)</a:t>
            </a:r>
          </a:p>
        </c:rich>
      </c:tx>
      <c:layout/>
      <c:overlay val="0"/>
    </c:title>
    <c:autoTitleDeleted val="0"/>
    <c:plotArea>
      <c:layout/>
      <c:barChart>
        <c:barDir val="col"/>
        <c:grouping val="clustered"/>
        <c:varyColors val="0"/>
        <c:ser>
          <c:idx val="0"/>
          <c:order val="0"/>
          <c:tx>
            <c:strRef>
              <c:f>Sheet1!$B$1</c:f>
              <c:strCache>
                <c:ptCount val="1"/>
                <c:pt idx="0">
                  <c:v>Direction: daily return</c:v>
                </c:pt>
              </c:strCache>
            </c:strRef>
          </c:tx>
          <c:spPr>
            <a:solidFill>
              <a:srgbClr val="2F5D9E"/>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-0.103</c:v>
                </c:pt>
                <c:pt idx="1">
                  <c:v>-0.019</c:v>
                </c:pt>
                <c:pt idx="2">
                  <c:v>0.014</c:v>
                </c:pt>
                <c:pt idx="3">
                  <c:v>-0.033</c:v>
                </c:pt>
                <c:pt idx="4">
                  <c:v>-0.017</c:v>
                </c:pt>
                <c:pt idx="5">
                  <c:v>-0.037</c:v>
                </c:pt>
                <c:pt idx="6">
                  <c:v>0.052</c:v>
                </c:pt>
                <c:pt idx="7">
                  <c:v>-0.041</c:v>
                </c:pt>
                <c:pt idx="8">
                  <c:v>0.039</c:v>
                </c:pt>
                <c:pt idx="9">
                  <c:v>-0.007</c:v>
                </c:pt>
              </c:numCache>
            </c:numRef>
          </c:val>
        </c:ser>
        <c:ser>
          <c:idx val="1"/>
          <c:order val="1"/>
          <c:tx>
            <c:strRef>
              <c:f>Sheet1!$C$1</c:f>
              <c:strCache>
                <c:ptCount val="1"/>
                <c:pt idx="0">
                  <c:v>Size: absolute daily return</c:v>
                </c:pt>
              </c:strCache>
            </c:strRef>
          </c:tx>
          <c:spPr>
            <a:solidFill>
              <a:srgbClr val="C8571B"/>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0.319</c:v>
                </c:pt>
                <c:pt idx="1">
                  <c:v>0.423</c:v>
                </c:pt>
                <c:pt idx="2">
                  <c:v>0.346</c:v>
                </c:pt>
                <c:pt idx="3">
                  <c:v>0.359</c:v>
                </c:pt>
                <c:pt idx="4">
                  <c:v>0.369</c:v>
                </c:pt>
                <c:pt idx="5">
                  <c:v>0.361</c:v>
                </c:pt>
                <c:pt idx="6">
                  <c:v>0.342</c:v>
                </c:pt>
                <c:pt idx="7">
                  <c:v>0.324</c:v>
                </c:pt>
                <c:pt idx="8">
                  <c:v>0.331</c:v>
                </c:pt>
                <c:pt idx="9">
                  <c:v>0.318</c:v>
                </c:pt>
              </c:numCache>
            </c:numRef>
          </c:val>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2"/>
        </c:scaling>
        <c:delete val="0"/>
        <c:axPos val="l"/>
        <c:majorGridlines>
          <c:spPr>
            <a:ln w="9525" cap="flat">
              <a:solidFill>
                <a:srgbClr val="E3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Share of 5-day outcomes in each class, by year</a:t>
            </a:r>
          </a:p>
        </c:rich>
      </c:tx>
      <c:layout/>
      <c:overlay val="0"/>
    </c:title>
    <c:autoTitleDeleted val="0"/>
    <c:plotArea>
      <c:layout/>
      <c:barChart>
        <c:barDir val="col"/>
        <c:grouping val="percentStacked"/>
        <c:varyColors val="0"/>
        <c:ser>
          <c:idx val="0"/>
          <c:order val="0"/>
          <c:tx>
            <c:strRef>
              <c:f>Sheet1!$B$1</c:f>
              <c:strCache>
                <c:ptCount val="1"/>
                <c:pt idx="0">
                  <c:v>Sell (&lt; −1%)</c:v>
                </c:pt>
              </c:strCache>
            </c:strRef>
          </c:tx>
          <c:spPr>
            <a:solidFill>
              <a:srgbClr val="2F5D9E"/>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Sheet1!$B$2:$B$16</c:f>
              <c:numCache>
                <c:formatCode>General</c:formatCode>
                <c:ptCount val="15"/>
                <c:pt idx="0">
                  <c:v>23.8</c:v>
                </c:pt>
                <c:pt idx="1">
                  <c:v>34.5</c:v>
                </c:pt>
                <c:pt idx="2">
                  <c:v>21.2</c:v>
                </c:pt>
                <c:pt idx="3">
                  <c:v>14.3</c:v>
                </c:pt>
                <c:pt idx="4">
                  <c:v>17.1</c:v>
                </c:pt>
                <c:pt idx="5">
                  <c:v>26.6</c:v>
                </c:pt>
                <c:pt idx="6">
                  <c:v>16.7</c:v>
                </c:pt>
                <c:pt idx="7">
                  <c:v>5.2</c:v>
                </c:pt>
                <c:pt idx="8">
                  <c:v>27.5</c:v>
                </c:pt>
                <c:pt idx="9">
                  <c:v>15.1</c:v>
                </c:pt>
                <c:pt idx="10">
                  <c:v>24.5</c:v>
                </c:pt>
                <c:pt idx="11">
                  <c:v>17.1</c:v>
                </c:pt>
                <c:pt idx="12">
                  <c:v>40.6</c:v>
                </c:pt>
                <c:pt idx="13">
                  <c:v>20.8</c:v>
                </c:pt>
                <c:pt idx="14">
                  <c:v>16.2</c:v>
                </c:pt>
              </c:numCache>
            </c:numRef>
          </c:val>
        </c:ser>
        <c:ser>
          <c:idx val="1"/>
          <c:order val="1"/>
          <c:tx>
            <c:strRef>
              <c:f>Sheet1!$C$1</c:f>
              <c:strCache>
                <c:ptCount val="1"/>
                <c:pt idx="0">
                  <c:v>Hold</c:v>
                </c:pt>
              </c:strCache>
            </c:strRef>
          </c:tx>
          <c:spPr>
            <a:solidFill>
              <a:srgbClr val="8A96A8"/>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Sheet1!$C$2:$C$16</c:f>
              <c:numCache>
                <c:formatCode>General</c:formatCode>
                <c:ptCount val="15"/>
                <c:pt idx="0">
                  <c:v>33.7</c:v>
                </c:pt>
                <c:pt idx="1">
                  <c:v>29</c:v>
                </c:pt>
                <c:pt idx="2">
                  <c:v>43.6</c:v>
                </c:pt>
                <c:pt idx="3">
                  <c:v>48.4</c:v>
                </c:pt>
                <c:pt idx="4">
                  <c:v>52</c:v>
                </c:pt>
                <c:pt idx="5">
                  <c:v>43.7</c:v>
                </c:pt>
                <c:pt idx="6">
                  <c:v>52</c:v>
                </c:pt>
                <c:pt idx="7">
                  <c:v>73.7</c:v>
                </c:pt>
                <c:pt idx="8">
                  <c:v>39</c:v>
                </c:pt>
                <c:pt idx="9">
                  <c:v>44.4</c:v>
                </c:pt>
                <c:pt idx="10">
                  <c:v>25.7</c:v>
                </c:pt>
                <c:pt idx="11">
                  <c:v>44</c:v>
                </c:pt>
                <c:pt idx="12">
                  <c:v>25.1</c:v>
                </c:pt>
                <c:pt idx="13">
                  <c:v>41.2</c:v>
                </c:pt>
                <c:pt idx="14">
                  <c:v>42.1</c:v>
                </c:pt>
              </c:numCache>
            </c:numRef>
          </c:val>
        </c:ser>
        <c:ser>
          <c:idx val="2"/>
          <c:order val="2"/>
          <c:tx>
            <c:strRef>
              <c:f>Sheet1!$D$1</c:f>
              <c:strCache>
                <c:ptCount val="1"/>
                <c:pt idx="0">
                  <c:v>Buy (&gt; +1%)</c:v>
                </c:pt>
              </c:strCache>
            </c:strRef>
          </c:tx>
          <c:spPr>
            <a:solidFill>
              <a:srgbClr val="C8571B"/>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Sheet1!$D$2:$D$16</c:f>
              <c:numCache>
                <c:formatCode>General</c:formatCode>
                <c:ptCount val="15"/>
                <c:pt idx="0">
                  <c:v>42.5</c:v>
                </c:pt>
                <c:pt idx="1">
                  <c:v>36.5</c:v>
                </c:pt>
                <c:pt idx="2">
                  <c:v>35.2</c:v>
                </c:pt>
                <c:pt idx="3">
                  <c:v>37.3</c:v>
                </c:pt>
                <c:pt idx="4">
                  <c:v>31</c:v>
                </c:pt>
                <c:pt idx="5">
                  <c:v>29.8</c:v>
                </c:pt>
                <c:pt idx="6">
                  <c:v>31.3</c:v>
                </c:pt>
                <c:pt idx="7">
                  <c:v>21.1</c:v>
                </c:pt>
                <c:pt idx="8">
                  <c:v>33.5</c:v>
                </c:pt>
                <c:pt idx="9">
                  <c:v>40.5</c:v>
                </c:pt>
                <c:pt idx="10">
                  <c:v>49.8</c:v>
                </c:pt>
                <c:pt idx="11">
                  <c:v>38.9</c:v>
                </c:pt>
                <c:pt idx="12">
                  <c:v>34.3</c:v>
                </c:pt>
                <c:pt idx="13">
                  <c:v>38</c:v>
                </c:pt>
                <c:pt idx="14">
                  <c:v>41.7</c:v>
                </c:pt>
              </c:numCache>
            </c:numRef>
          </c:val>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Baseline model selection: validation macro-F1 (2021–22)</a:t>
            </a:r>
          </a:p>
        </c:rich>
      </c:tx>
      <c:layout/>
      <c:overlay val="0"/>
    </c:title>
    <c:autoTitleDeleted val="0"/>
    <c:plotArea>
      <c:layout/>
      <c:barChart>
        <c:barDir val="bar"/>
        <c:grouping val="clustered"/>
        <c:varyColors val="0"/>
        <c:ser>
          <c:idx val="0"/>
          <c:order val="0"/>
          <c:tx>
            <c:strRef>
              <c:f>Sheet1!$B$1</c:f>
              <c:strCache>
                <c:ptCount val="1"/>
                <c:pt idx="0">
                  <c:v>Validation macro-F1</c:v>
                </c:pt>
              </c:strCache>
            </c:strRef>
          </c:tx>
          <c:spPr>
            <a:solidFill>
              <a:srgbClr val="C8571B"/>
            </a:solidFill>
            <a:effectLst/>
          </c:spPr>
          <c:invertIfNegative val="0"/>
          <c:dLbls>
            <c:numFmt formatCode="0.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3B4A63"/>
              </a:solidFill>
              <a:effectLst/>
            </c:spPr>
          </c:dPt>
          <c:dPt>
            <c:idx val="4"/>
            <c:invertIfNegative val="0"/>
            <c:bubble3D val="0"/>
            <c:spPr>
              <a:solidFill>
                <a:srgbClr val="8A96A8"/>
              </a:solidFill>
              <a:effectLst/>
            </c:spPr>
          </c:dPt>
          <c:cat>
            <c:multiLvlStrRef>
              <c:f>Sheet1!$A$2:$A$6</c:f>
              <c:multiLvlStrCache>
                <c:ptCount val="5"/>
                <c:lvl>
                  <c:pt idx="0">
                    <c:v>Random forest</c:v>
                  </c:pt>
                  <c:pt idx="1">
                    <c:v>Logistic regression + SMOTE</c:v>
                  </c:pt>
                  <c:pt idx="2">
                    <c:v>Logistic regression</c:v>
                  </c:pt>
                  <c:pt idx="3">
                    <c:v>Stratified random baseline</c:v>
                  </c:pt>
                  <c:pt idx="4">
                    <c:v>Gradient boosting</c:v>
                  </c:pt>
                </c:lvl>
              </c:multiLvlStrCache>
            </c:multiLvlStrRef>
          </c:cat>
          <c:val>
            <c:numRef>
              <c:f>Sheet1!$B$2:$B$6</c:f>
              <c:numCache>
                <c:formatCode>General</c:formatCode>
                <c:ptCount val="5"/>
                <c:pt idx="0">
                  <c:v>0.4036</c:v>
                </c:pt>
                <c:pt idx="1">
                  <c:v>0.364</c:v>
                </c:pt>
                <c:pt idx="2">
                  <c:v>0.3593</c:v>
                </c:pt>
                <c:pt idx="3">
                  <c:v>0.3328</c:v>
                </c:pt>
                <c:pt idx="4">
                  <c:v>0.322</c:v>
                </c:pt>
              </c:numCache>
            </c:numRef>
          </c:val>
        </c:ser>
        <c:dLbls>
          <c:numFmt formatCode="0.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$100,000, 2013–2024 walk-forward (retrained every January), after costs</a:t>
            </a:r>
          </a:p>
        </c:rich>
      </c:tx>
      <c:layout/>
      <c:overlay val="0"/>
    </c:title>
    <c:autoTitleDeleted val="0"/>
    <c:plotArea>
      <c:layout/>
      <c:lineChart>
        <c:varyColors val="0"/>
        <c:ser>
          <c:idx val="0"/>
          <c:order val="0"/>
          <c:tx>
            <c:strRef>
              <c:f>Sheet1!$B$1</c:f>
              <c:strCache>
                <c:ptCount val="1"/>
                <c:pt idx="0">
                  <c:v>Buy &amp; Hold</c:v>
                </c:pt>
              </c:strCache>
            </c:strRef>
          </c:tx>
          <c:spPr>
            <a:solidFill>
              <a:srgbClr val="14213D"/>
            </a:solidFill>
            <a:ln w="31750" cap="flat">
              <a:solidFill>
                <a:srgbClr val="14213D"/>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Sheet1!$B$2:$B$146</c:f>
              <c:numCache>
                <c:formatCode>General</c:formatCode>
                <c:ptCount val="145"/>
                <c:pt idx="0">
                  <c:v>100504</c:v>
                </c:pt>
                <c:pt idx="1">
                  <c:v>104068</c:v>
                </c:pt>
                <c:pt idx="2">
                  <c:v>106167</c:v>
                </c:pt>
                <c:pt idx="3">
                  <c:v>107724</c:v>
                </c:pt>
                <c:pt idx="4">
                  <c:v>111533</c:v>
                </c:pt>
                <c:pt idx="5">
                  <c:v>113046</c:v>
                </c:pt>
                <c:pt idx="6">
                  <c:v>112060</c:v>
                </c:pt>
                <c:pt idx="7">
                  <c:v>118779</c:v>
                </c:pt>
                <c:pt idx="8">
                  <c:v>114221</c:v>
                </c:pt>
                <c:pt idx="9">
                  <c:v>118122</c:v>
                </c:pt>
                <c:pt idx="10">
                  <c:v>122737</c:v>
                </c:pt>
                <c:pt idx="11">
                  <c:v>126047</c:v>
                </c:pt>
                <c:pt idx="12">
                  <c:v>128409</c:v>
                </c:pt>
                <c:pt idx="13">
                  <c:v>122266</c:v>
                </c:pt>
                <c:pt idx="14">
                  <c:v>131800</c:v>
                </c:pt>
                <c:pt idx="15">
                  <c:v>133002</c:v>
                </c:pt>
                <c:pt idx="16">
                  <c:v>132854</c:v>
                </c:pt>
                <c:pt idx="17">
                  <c:v>136217</c:v>
                </c:pt>
                <c:pt idx="18">
                  <c:v>140419</c:v>
                </c:pt>
                <c:pt idx="19">
                  <c:v>137366</c:v>
                </c:pt>
                <c:pt idx="20">
                  <c:v>142049</c:v>
                </c:pt>
                <c:pt idx="21">
                  <c:v>138357</c:v>
                </c:pt>
                <c:pt idx="22">
                  <c:v>143538</c:v>
                </c:pt>
                <c:pt idx="23">
                  <c:v>147403</c:v>
                </c:pt>
                <c:pt idx="24">
                  <c:v>147029</c:v>
                </c:pt>
                <c:pt idx="25">
                  <c:v>146606</c:v>
                </c:pt>
                <c:pt idx="26">
                  <c:v>150629</c:v>
                </c:pt>
                <c:pt idx="27">
                  <c:v>149410</c:v>
                </c:pt>
                <c:pt idx="28">
                  <c:v>150180</c:v>
                </c:pt>
                <c:pt idx="29">
                  <c:v>151064</c:v>
                </c:pt>
                <c:pt idx="30">
                  <c:v>149335</c:v>
                </c:pt>
                <c:pt idx="31">
                  <c:v>151257</c:v>
                </c:pt>
                <c:pt idx="32">
                  <c:v>141165</c:v>
                </c:pt>
                <c:pt idx="33">
                  <c:v>141601</c:v>
                </c:pt>
                <c:pt idx="34">
                  <c:v>152777</c:v>
                </c:pt>
                <c:pt idx="35">
                  <c:v>151426</c:v>
                </c:pt>
                <c:pt idx="36">
                  <c:v>146841</c:v>
                </c:pt>
                <c:pt idx="37">
                  <c:v>139741</c:v>
                </c:pt>
                <c:pt idx="38">
                  <c:v>146410</c:v>
                </c:pt>
                <c:pt idx="39">
                  <c:v>149926</c:v>
                </c:pt>
                <c:pt idx="40">
                  <c:v>150528</c:v>
                </c:pt>
                <c:pt idx="41">
                  <c:v>154398</c:v>
                </c:pt>
                <c:pt idx="42">
                  <c:v>153821</c:v>
                </c:pt>
                <c:pt idx="43">
                  <c:v>159555</c:v>
                </c:pt>
                <c:pt idx="44">
                  <c:v>160448</c:v>
                </c:pt>
                <c:pt idx="45">
                  <c:v>160065</c:v>
                </c:pt>
                <c:pt idx="46">
                  <c:v>156526</c:v>
                </c:pt>
                <c:pt idx="47">
                  <c:v>162876</c:v>
                </c:pt>
                <c:pt idx="48">
                  <c:v>168067</c:v>
                </c:pt>
                <c:pt idx="49">
                  <c:v>169955</c:v>
                </c:pt>
                <c:pt idx="50">
                  <c:v>177372</c:v>
                </c:pt>
                <c:pt idx="51">
                  <c:v>176472</c:v>
                </c:pt>
                <c:pt idx="52">
                  <c:v>178930</c:v>
                </c:pt>
                <c:pt idx="53">
                  <c:v>182849</c:v>
                </c:pt>
                <c:pt idx="54">
                  <c:v>182822</c:v>
                </c:pt>
                <c:pt idx="55">
                  <c:v>185978</c:v>
                </c:pt>
                <c:pt idx="56">
                  <c:v>186640</c:v>
                </c:pt>
                <c:pt idx="57">
                  <c:v>191366</c:v>
                </c:pt>
                <c:pt idx="58">
                  <c:v>194870</c:v>
                </c:pt>
                <c:pt idx="59">
                  <c:v>200145</c:v>
                </c:pt>
                <c:pt idx="60">
                  <c:v>205740</c:v>
                </c:pt>
                <c:pt idx="61">
                  <c:v>209528</c:v>
                </c:pt>
                <c:pt idx="62">
                  <c:v>207573</c:v>
                </c:pt>
                <c:pt idx="63">
                  <c:v>202875</c:v>
                </c:pt>
                <c:pt idx="64">
                  <c:v>203165</c:v>
                </c:pt>
                <c:pt idx="65">
                  <c:v>210099</c:v>
                </c:pt>
                <c:pt idx="66">
                  <c:v>209516</c:v>
                </c:pt>
                <c:pt idx="67">
                  <c:v>217564</c:v>
                </c:pt>
                <c:pt idx="68">
                  <c:v>222328</c:v>
                </c:pt>
                <c:pt idx="69">
                  <c:v>224806</c:v>
                </c:pt>
                <c:pt idx="70">
                  <c:v>210773</c:v>
                </c:pt>
                <c:pt idx="71">
                  <c:v>215235</c:v>
                </c:pt>
                <c:pt idx="72">
                  <c:v>195633</c:v>
                </c:pt>
                <c:pt idx="73">
                  <c:v>211686</c:v>
                </c:pt>
                <c:pt idx="74">
                  <c:v>213167</c:v>
                </c:pt>
                <c:pt idx="75">
                  <c:v>224662</c:v>
                </c:pt>
                <c:pt idx="76">
                  <c:v>224164</c:v>
                </c:pt>
                <c:pt idx="77">
                  <c:v>221727</c:v>
                </c:pt>
                <c:pt idx="78">
                  <c:v>232209</c:v>
                </c:pt>
                <c:pt idx="79">
                  <c:v>225153</c:v>
                </c:pt>
                <c:pt idx="80">
                  <c:v>232992</c:v>
                </c:pt>
                <c:pt idx="81">
                  <c:v>231340</c:v>
                </c:pt>
                <c:pt idx="82">
                  <c:v>241573</c:v>
                </c:pt>
                <c:pt idx="83">
                  <c:v>244788</c:v>
                </c:pt>
                <c:pt idx="84">
                  <c:v>255611</c:v>
                </c:pt>
                <c:pt idx="85">
                  <c:v>262893</c:v>
                </c:pt>
                <c:pt idx="86">
                  <c:v>234934</c:v>
                </c:pt>
                <c:pt idx="87">
                  <c:v>210417</c:v>
                </c:pt>
                <c:pt idx="88">
                  <c:v>225821</c:v>
                </c:pt>
                <c:pt idx="89">
                  <c:v>253698</c:v>
                </c:pt>
                <c:pt idx="90">
                  <c:v>250378</c:v>
                </c:pt>
                <c:pt idx="91">
                  <c:v>265004</c:v>
                </c:pt>
                <c:pt idx="92">
                  <c:v>275601</c:v>
                </c:pt>
                <c:pt idx="93">
                  <c:v>272194</c:v>
                </c:pt>
                <c:pt idx="94">
                  <c:v>269205</c:v>
                </c:pt>
                <c:pt idx="95">
                  <c:v>293768</c:v>
                </c:pt>
                <c:pt idx="96">
                  <c:v>298753</c:v>
                </c:pt>
                <c:pt idx="97">
                  <c:v>310709</c:v>
                </c:pt>
                <c:pt idx="98">
                  <c:v>307113</c:v>
                </c:pt>
                <c:pt idx="99">
                  <c:v>328193</c:v>
                </c:pt>
                <c:pt idx="100">
                  <c:v>338267</c:v>
                </c:pt>
                <c:pt idx="101">
                  <c:v>340785</c:v>
                </c:pt>
                <c:pt idx="102">
                  <c:v>351837</c:v>
                </c:pt>
                <c:pt idx="103">
                  <c:v>357749</c:v>
                </c:pt>
                <c:pt idx="104">
                  <c:v>366916</c:v>
                </c:pt>
                <c:pt idx="105">
                  <c:v>351859</c:v>
                </c:pt>
                <c:pt idx="106">
                  <c:v>377548</c:v>
                </c:pt>
                <c:pt idx="107">
                  <c:v>368368</c:v>
                </c:pt>
                <c:pt idx="108">
                  <c:v>389334</c:v>
                </c:pt>
                <c:pt idx="109">
                  <c:v>364102</c:v>
                </c:pt>
                <c:pt idx="110">
                  <c:v>341950</c:v>
                </c:pt>
                <c:pt idx="111">
                  <c:v>368856</c:v>
                </c:pt>
                <c:pt idx="112">
                  <c:v>338417</c:v>
                </c:pt>
                <c:pt idx="113">
                  <c:v>336765</c:v>
                </c:pt>
                <c:pt idx="114">
                  <c:v>319493</c:v>
                </c:pt>
                <c:pt idx="115">
                  <c:v>339599</c:v>
                </c:pt>
                <c:pt idx="116">
                  <c:v>320947</c:v>
                </c:pt>
                <c:pt idx="117">
                  <c:v>310991</c:v>
                </c:pt>
                <c:pt idx="118">
                  <c:v>305977</c:v>
                </c:pt>
                <c:pt idx="119">
                  <c:v>329547</c:v>
                </c:pt>
                <c:pt idx="120">
                  <c:v>314317</c:v>
                </c:pt>
                <c:pt idx="121">
                  <c:v>339544</c:v>
                </c:pt>
                <c:pt idx="122">
                  <c:v>330506</c:v>
                </c:pt>
                <c:pt idx="123">
                  <c:v>340308</c:v>
                </c:pt>
                <c:pt idx="124">
                  <c:v>343261</c:v>
                </c:pt>
                <c:pt idx="125">
                  <c:v>354746</c:v>
                </c:pt>
                <c:pt idx="126">
                  <c:v>367007</c:v>
                </c:pt>
                <c:pt idx="127">
                  <c:v>374595</c:v>
                </c:pt>
                <c:pt idx="128">
                  <c:v>371339</c:v>
                </c:pt>
                <c:pt idx="129">
                  <c:v>359824</c:v>
                </c:pt>
                <c:pt idx="130">
                  <c:v>364976</c:v>
                </c:pt>
                <c:pt idx="131">
                  <c:v>380951</c:v>
                </c:pt>
                <c:pt idx="132">
                  <c:v>399183</c:v>
                </c:pt>
                <c:pt idx="133">
                  <c:v>418948</c:v>
                </c:pt>
                <c:pt idx="134">
                  <c:v>430404</c:v>
                </c:pt>
                <c:pt idx="135">
                  <c:v>438154</c:v>
                </c:pt>
                <c:pt idx="136">
                  <c:v>436356</c:v>
                </c:pt>
                <c:pt idx="137">
                  <c:v>450548</c:v>
                </c:pt>
                <c:pt idx="138">
                  <c:v>475117</c:v>
                </c:pt>
                <c:pt idx="139">
                  <c:v>449157</c:v>
                </c:pt>
                <c:pt idx="140">
                  <c:v>462497</c:v>
                </c:pt>
                <c:pt idx="141">
                  <c:v>486635</c:v>
                </c:pt>
                <c:pt idx="142">
                  <c:v>501807</c:v>
                </c:pt>
                <c:pt idx="143">
                  <c:v>516046</c:v>
                </c:pt>
                <c:pt idx="144">
                  <c:v>499271</c:v>
                </c:pt>
              </c:numCache>
            </c:numRef>
          </c:val>
          <c:smooth val="0"/>
        </c:ser>
        <c:ser>
          <c:idx val="1"/>
          <c:order val="1"/>
          <c:tx>
            <c:strRef>
              <c:f>Sheet1!$C$1</c:f>
              <c:strCache>
                <c:ptCount val="1"/>
                <c:pt idx="0">
                  <c:v>Final</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Sheet1!$C$2:$C$146</c:f>
              <c:numCache>
                <c:formatCode>General</c:formatCode>
                <c:ptCount val="145"/>
                <c:pt idx="0">
                  <c:v>100504</c:v>
                </c:pt>
                <c:pt idx="1">
                  <c:v>104068</c:v>
                </c:pt>
                <c:pt idx="2">
                  <c:v>106167</c:v>
                </c:pt>
                <c:pt idx="3">
                  <c:v>107724</c:v>
                </c:pt>
                <c:pt idx="4">
                  <c:v>111533</c:v>
                </c:pt>
                <c:pt idx="5">
                  <c:v>113046</c:v>
                </c:pt>
                <c:pt idx="6">
                  <c:v>112060</c:v>
                </c:pt>
                <c:pt idx="7">
                  <c:v>118779</c:v>
                </c:pt>
                <c:pt idx="8">
                  <c:v>114221</c:v>
                </c:pt>
                <c:pt idx="9">
                  <c:v>118122</c:v>
                </c:pt>
                <c:pt idx="10">
                  <c:v>122737</c:v>
                </c:pt>
                <c:pt idx="11">
                  <c:v>126047</c:v>
                </c:pt>
                <c:pt idx="12">
                  <c:v>128409</c:v>
                </c:pt>
                <c:pt idx="13">
                  <c:v>122266</c:v>
                </c:pt>
                <c:pt idx="14">
                  <c:v>131800</c:v>
                </c:pt>
                <c:pt idx="15">
                  <c:v>133002</c:v>
                </c:pt>
                <c:pt idx="16">
                  <c:v>132854</c:v>
                </c:pt>
                <c:pt idx="17">
                  <c:v>136217</c:v>
                </c:pt>
                <c:pt idx="18">
                  <c:v>140419</c:v>
                </c:pt>
                <c:pt idx="19">
                  <c:v>137366</c:v>
                </c:pt>
                <c:pt idx="20">
                  <c:v>142049</c:v>
                </c:pt>
                <c:pt idx="21">
                  <c:v>138357</c:v>
                </c:pt>
                <c:pt idx="22">
                  <c:v>143538</c:v>
                </c:pt>
                <c:pt idx="23">
                  <c:v>147403</c:v>
                </c:pt>
                <c:pt idx="24">
                  <c:v>147029</c:v>
                </c:pt>
                <c:pt idx="25">
                  <c:v>146606</c:v>
                </c:pt>
                <c:pt idx="26">
                  <c:v>150629</c:v>
                </c:pt>
                <c:pt idx="27">
                  <c:v>149410</c:v>
                </c:pt>
                <c:pt idx="28">
                  <c:v>150180</c:v>
                </c:pt>
                <c:pt idx="29">
                  <c:v>151064</c:v>
                </c:pt>
                <c:pt idx="30">
                  <c:v>149335</c:v>
                </c:pt>
                <c:pt idx="31">
                  <c:v>151257</c:v>
                </c:pt>
                <c:pt idx="32">
                  <c:v>141165</c:v>
                </c:pt>
                <c:pt idx="33">
                  <c:v>141601</c:v>
                </c:pt>
                <c:pt idx="34">
                  <c:v>152777</c:v>
                </c:pt>
                <c:pt idx="35">
                  <c:v>151426</c:v>
                </c:pt>
                <c:pt idx="36">
                  <c:v>146841</c:v>
                </c:pt>
                <c:pt idx="37">
                  <c:v>139741</c:v>
                </c:pt>
                <c:pt idx="38">
                  <c:v>146410</c:v>
                </c:pt>
                <c:pt idx="39">
                  <c:v>149926</c:v>
                </c:pt>
                <c:pt idx="40">
                  <c:v>150528</c:v>
                </c:pt>
                <c:pt idx="41">
                  <c:v>154398</c:v>
                </c:pt>
                <c:pt idx="42">
                  <c:v>153821</c:v>
                </c:pt>
                <c:pt idx="43">
                  <c:v>159555</c:v>
                </c:pt>
                <c:pt idx="44">
                  <c:v>160448</c:v>
                </c:pt>
                <c:pt idx="45">
                  <c:v>160065</c:v>
                </c:pt>
                <c:pt idx="46">
                  <c:v>156526</c:v>
                </c:pt>
                <c:pt idx="47">
                  <c:v>162876</c:v>
                </c:pt>
                <c:pt idx="48">
                  <c:v>168067</c:v>
                </c:pt>
                <c:pt idx="49">
                  <c:v>169955</c:v>
                </c:pt>
                <c:pt idx="50">
                  <c:v>177372</c:v>
                </c:pt>
                <c:pt idx="51">
                  <c:v>176472</c:v>
                </c:pt>
                <c:pt idx="52">
                  <c:v>178930</c:v>
                </c:pt>
                <c:pt idx="53">
                  <c:v>182849</c:v>
                </c:pt>
                <c:pt idx="54">
                  <c:v>182822</c:v>
                </c:pt>
                <c:pt idx="55">
                  <c:v>185978</c:v>
                </c:pt>
                <c:pt idx="56">
                  <c:v>186640</c:v>
                </c:pt>
                <c:pt idx="57">
                  <c:v>191366</c:v>
                </c:pt>
                <c:pt idx="58">
                  <c:v>194870</c:v>
                </c:pt>
                <c:pt idx="59">
                  <c:v>200145</c:v>
                </c:pt>
                <c:pt idx="60">
                  <c:v>205740</c:v>
                </c:pt>
                <c:pt idx="61">
                  <c:v>209528</c:v>
                </c:pt>
                <c:pt idx="62">
                  <c:v>207573</c:v>
                </c:pt>
                <c:pt idx="63">
                  <c:v>202875</c:v>
                </c:pt>
                <c:pt idx="64">
                  <c:v>203165</c:v>
                </c:pt>
                <c:pt idx="65">
                  <c:v>210099</c:v>
                </c:pt>
                <c:pt idx="66">
                  <c:v>209516</c:v>
                </c:pt>
                <c:pt idx="67">
                  <c:v>217564</c:v>
                </c:pt>
                <c:pt idx="68">
                  <c:v>222328</c:v>
                </c:pt>
                <c:pt idx="69">
                  <c:v>224806</c:v>
                </c:pt>
                <c:pt idx="70">
                  <c:v>210773</c:v>
                </c:pt>
                <c:pt idx="71">
                  <c:v>215235</c:v>
                </c:pt>
                <c:pt idx="72">
                  <c:v>195633</c:v>
                </c:pt>
                <c:pt idx="73">
                  <c:v>211686</c:v>
                </c:pt>
                <c:pt idx="74">
                  <c:v>213167</c:v>
                </c:pt>
                <c:pt idx="75">
                  <c:v>224662</c:v>
                </c:pt>
                <c:pt idx="76">
                  <c:v>224164</c:v>
                </c:pt>
                <c:pt idx="77">
                  <c:v>221727</c:v>
                </c:pt>
                <c:pt idx="78">
                  <c:v>232209</c:v>
                </c:pt>
                <c:pt idx="79">
                  <c:v>225153</c:v>
                </c:pt>
                <c:pt idx="80">
                  <c:v>232992</c:v>
                </c:pt>
                <c:pt idx="81">
                  <c:v>231340</c:v>
                </c:pt>
                <c:pt idx="82">
                  <c:v>241573</c:v>
                </c:pt>
                <c:pt idx="83">
                  <c:v>244788</c:v>
                </c:pt>
                <c:pt idx="84">
                  <c:v>255611</c:v>
                </c:pt>
                <c:pt idx="85">
                  <c:v>262893</c:v>
                </c:pt>
                <c:pt idx="86">
                  <c:v>234934</c:v>
                </c:pt>
                <c:pt idx="87">
                  <c:v>210417</c:v>
                </c:pt>
                <c:pt idx="88">
                  <c:v>220793</c:v>
                </c:pt>
                <c:pt idx="89">
                  <c:v>248049</c:v>
                </c:pt>
                <c:pt idx="90">
                  <c:v>244803</c:v>
                </c:pt>
                <c:pt idx="91">
                  <c:v>259104</c:v>
                </c:pt>
                <c:pt idx="92">
                  <c:v>269464</c:v>
                </c:pt>
                <c:pt idx="93">
                  <c:v>266133</c:v>
                </c:pt>
                <c:pt idx="94">
                  <c:v>263211</c:v>
                </c:pt>
                <c:pt idx="95">
                  <c:v>287227</c:v>
                </c:pt>
                <c:pt idx="96">
                  <c:v>292102</c:v>
                </c:pt>
                <c:pt idx="97">
                  <c:v>303791</c:v>
                </c:pt>
                <c:pt idx="98">
                  <c:v>300275</c:v>
                </c:pt>
                <c:pt idx="99">
                  <c:v>320886</c:v>
                </c:pt>
                <c:pt idx="100">
                  <c:v>330735</c:v>
                </c:pt>
                <c:pt idx="101">
                  <c:v>333198</c:v>
                </c:pt>
                <c:pt idx="102">
                  <c:v>344003</c:v>
                </c:pt>
                <c:pt idx="103">
                  <c:v>349783</c:v>
                </c:pt>
                <c:pt idx="104">
                  <c:v>358746</c:v>
                </c:pt>
                <c:pt idx="105">
                  <c:v>344025</c:v>
                </c:pt>
                <c:pt idx="106">
                  <c:v>369142</c:v>
                </c:pt>
                <c:pt idx="107">
                  <c:v>360166</c:v>
                </c:pt>
                <c:pt idx="108">
                  <c:v>380665</c:v>
                </c:pt>
                <c:pt idx="109">
                  <c:v>355995</c:v>
                </c:pt>
                <c:pt idx="110">
                  <c:v>334337</c:v>
                </c:pt>
                <c:pt idx="111">
                  <c:v>360643</c:v>
                </c:pt>
                <c:pt idx="112">
                  <c:v>330882</c:v>
                </c:pt>
                <c:pt idx="113">
                  <c:v>329266</c:v>
                </c:pt>
                <c:pt idx="114">
                  <c:v>312379</c:v>
                </c:pt>
                <c:pt idx="115">
                  <c:v>332038</c:v>
                </c:pt>
                <c:pt idx="116">
                  <c:v>313801</c:v>
                </c:pt>
                <c:pt idx="117">
                  <c:v>304067</c:v>
                </c:pt>
                <c:pt idx="118">
                  <c:v>299164</c:v>
                </c:pt>
                <c:pt idx="119">
                  <c:v>322210</c:v>
                </c:pt>
                <c:pt idx="120">
                  <c:v>307318</c:v>
                </c:pt>
                <c:pt idx="121">
                  <c:v>331984</c:v>
                </c:pt>
                <c:pt idx="122">
                  <c:v>323147</c:v>
                </c:pt>
                <c:pt idx="123">
                  <c:v>332731</c:v>
                </c:pt>
                <c:pt idx="124">
                  <c:v>335618</c:v>
                </c:pt>
                <c:pt idx="125">
                  <c:v>346847</c:v>
                </c:pt>
                <c:pt idx="126">
                  <c:v>358835</c:v>
                </c:pt>
                <c:pt idx="127">
                  <c:v>366254</c:v>
                </c:pt>
                <c:pt idx="128">
                  <c:v>363071</c:v>
                </c:pt>
                <c:pt idx="129">
                  <c:v>351812</c:v>
                </c:pt>
                <c:pt idx="130">
                  <c:v>356850</c:v>
                </c:pt>
                <c:pt idx="131">
                  <c:v>372469</c:v>
                </c:pt>
                <c:pt idx="132">
                  <c:v>390295</c:v>
                </c:pt>
                <c:pt idx="133">
                  <c:v>409620</c:v>
                </c:pt>
                <c:pt idx="134">
                  <c:v>420821</c:v>
                </c:pt>
                <c:pt idx="135">
                  <c:v>428398</c:v>
                </c:pt>
                <c:pt idx="136">
                  <c:v>426641</c:v>
                </c:pt>
                <c:pt idx="137">
                  <c:v>440516</c:v>
                </c:pt>
                <c:pt idx="138">
                  <c:v>464538</c:v>
                </c:pt>
                <c:pt idx="139">
                  <c:v>439156</c:v>
                </c:pt>
                <c:pt idx="140">
                  <c:v>452199</c:v>
                </c:pt>
                <c:pt idx="141">
                  <c:v>475800</c:v>
                </c:pt>
                <c:pt idx="142">
                  <c:v>490634</c:v>
                </c:pt>
                <c:pt idx="143">
                  <c:v>504555</c:v>
                </c:pt>
                <c:pt idx="144">
                  <c:v>488154</c:v>
                </c:pt>
              </c:numCache>
            </c:numRef>
          </c:val>
          <c:smooth val="0"/>
        </c:ser>
        <c:ser>
          <c:idx val="2"/>
          <c:order val="2"/>
          <c:tx>
            <c:strRef>
              <c:f>Sheet1!$D$1</c:f>
              <c:strCache>
                <c:ptCount val="1"/>
                <c:pt idx="0">
                  <c:v>Baseline</c:v>
                </c:pt>
              </c:strCache>
            </c:strRef>
          </c:tx>
          <c:spPr>
            <a:solidFill>
              <a:srgbClr val="2F5D9E"/>
            </a:solidFill>
            <a:ln w="31750" cap="flat">
              <a:solidFill>
                <a:srgbClr val="2F5D9E"/>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2F5D9E"/>
              </a:solidFill>
              <a:ln w="9525" cap="flat">
                <a:solidFill>
                  <a:srgbClr val="2F5D9E"/>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Sheet1!$D$2:$D$146</c:f>
              <c:numCache>
                <c:formatCode>General</c:formatCode>
                <c:ptCount val="145"/>
                <c:pt idx="0">
                  <c:v>100000</c:v>
                </c:pt>
                <c:pt idx="1">
                  <c:v>100005</c:v>
                </c:pt>
                <c:pt idx="2">
                  <c:v>100013</c:v>
                </c:pt>
                <c:pt idx="3">
                  <c:v>100019</c:v>
                </c:pt>
                <c:pt idx="4">
                  <c:v>101904</c:v>
                </c:pt>
                <c:pt idx="5">
                  <c:v>101587</c:v>
                </c:pt>
                <c:pt idx="6">
                  <c:v>98317</c:v>
                </c:pt>
                <c:pt idx="7">
                  <c:v>104212</c:v>
                </c:pt>
                <c:pt idx="8">
                  <c:v>100213</c:v>
                </c:pt>
                <c:pt idx="9">
                  <c:v>103635</c:v>
                </c:pt>
                <c:pt idx="10">
                  <c:v>107685</c:v>
                </c:pt>
                <c:pt idx="11">
                  <c:v>110588</c:v>
                </c:pt>
                <c:pt idx="12">
                  <c:v>112660</c:v>
                </c:pt>
                <c:pt idx="13">
                  <c:v>107271</c:v>
                </c:pt>
                <c:pt idx="14">
                  <c:v>115635</c:v>
                </c:pt>
                <c:pt idx="15">
                  <c:v>116690</c:v>
                </c:pt>
                <c:pt idx="16">
                  <c:v>114024</c:v>
                </c:pt>
                <c:pt idx="17">
                  <c:v>116910</c:v>
                </c:pt>
                <c:pt idx="18">
                  <c:v>120517</c:v>
                </c:pt>
                <c:pt idx="19">
                  <c:v>117896</c:v>
                </c:pt>
                <c:pt idx="20">
                  <c:v>121915</c:v>
                </c:pt>
                <c:pt idx="21">
                  <c:v>118747</c:v>
                </c:pt>
                <c:pt idx="22">
                  <c:v>119518</c:v>
                </c:pt>
                <c:pt idx="23">
                  <c:v>122737</c:v>
                </c:pt>
                <c:pt idx="24">
                  <c:v>123027</c:v>
                </c:pt>
                <c:pt idx="25">
                  <c:v>118472</c:v>
                </c:pt>
                <c:pt idx="26">
                  <c:v>121582</c:v>
                </c:pt>
                <c:pt idx="27">
                  <c:v>120598</c:v>
                </c:pt>
                <c:pt idx="28">
                  <c:v>121219</c:v>
                </c:pt>
                <c:pt idx="29">
                  <c:v>121933</c:v>
                </c:pt>
                <c:pt idx="30">
                  <c:v>120538</c:v>
                </c:pt>
                <c:pt idx="31">
                  <c:v>122089</c:v>
                </c:pt>
                <c:pt idx="32">
                  <c:v>115344</c:v>
                </c:pt>
                <c:pt idx="33">
                  <c:v>115346</c:v>
                </c:pt>
                <c:pt idx="34">
                  <c:v>119661</c:v>
                </c:pt>
                <c:pt idx="35">
                  <c:v>118912</c:v>
                </c:pt>
                <c:pt idx="36">
                  <c:v>116525</c:v>
                </c:pt>
                <c:pt idx="37">
                  <c:v>111439</c:v>
                </c:pt>
                <c:pt idx="38">
                  <c:v>112921</c:v>
                </c:pt>
                <c:pt idx="39">
                  <c:v>116092</c:v>
                </c:pt>
                <c:pt idx="40">
                  <c:v>116558</c:v>
                </c:pt>
                <c:pt idx="41">
                  <c:v>119554</c:v>
                </c:pt>
                <c:pt idx="42">
                  <c:v>119237</c:v>
                </c:pt>
                <c:pt idx="43">
                  <c:v>119265</c:v>
                </c:pt>
                <c:pt idx="44">
                  <c:v>119083</c:v>
                </c:pt>
                <c:pt idx="45">
                  <c:v>118798</c:v>
                </c:pt>
                <c:pt idx="46">
                  <c:v>116172</c:v>
                </c:pt>
                <c:pt idx="47">
                  <c:v>120884</c:v>
                </c:pt>
                <c:pt idx="48">
                  <c:v>124737</c:v>
                </c:pt>
                <c:pt idx="49">
                  <c:v>126138</c:v>
                </c:pt>
                <c:pt idx="50">
                  <c:v>131643</c:v>
                </c:pt>
                <c:pt idx="51">
                  <c:v>130960</c:v>
                </c:pt>
                <c:pt idx="52">
                  <c:v>133967</c:v>
                </c:pt>
                <c:pt idx="53">
                  <c:v>136902</c:v>
                </c:pt>
                <c:pt idx="54">
                  <c:v>136881</c:v>
                </c:pt>
                <c:pt idx="55">
                  <c:v>136408</c:v>
                </c:pt>
                <c:pt idx="56">
                  <c:v>135828</c:v>
                </c:pt>
                <c:pt idx="57">
                  <c:v>135943</c:v>
                </c:pt>
                <c:pt idx="58">
                  <c:v>136063</c:v>
                </c:pt>
                <c:pt idx="59">
                  <c:v>136201</c:v>
                </c:pt>
                <c:pt idx="60">
                  <c:v>136349</c:v>
                </c:pt>
                <c:pt idx="61">
                  <c:v>136508</c:v>
                </c:pt>
                <c:pt idx="62">
                  <c:v>133737</c:v>
                </c:pt>
                <c:pt idx="63">
                  <c:v>129022</c:v>
                </c:pt>
                <c:pt idx="64">
                  <c:v>128416</c:v>
                </c:pt>
                <c:pt idx="65">
                  <c:v>130340</c:v>
                </c:pt>
                <c:pt idx="66">
                  <c:v>130124</c:v>
                </c:pt>
                <c:pt idx="67">
                  <c:v>135122</c:v>
                </c:pt>
                <c:pt idx="68">
                  <c:v>138080</c:v>
                </c:pt>
                <c:pt idx="69">
                  <c:v>139620</c:v>
                </c:pt>
                <c:pt idx="70">
                  <c:v>134554</c:v>
                </c:pt>
                <c:pt idx="71">
                  <c:v>136810</c:v>
                </c:pt>
                <c:pt idx="72">
                  <c:v>122806</c:v>
                </c:pt>
                <c:pt idx="73">
                  <c:v>127321</c:v>
                </c:pt>
                <c:pt idx="74">
                  <c:v>128212</c:v>
                </c:pt>
                <c:pt idx="75">
                  <c:v>133164</c:v>
                </c:pt>
                <c:pt idx="76">
                  <c:v>133427</c:v>
                </c:pt>
                <c:pt idx="77">
                  <c:v>129762</c:v>
                </c:pt>
                <c:pt idx="78">
                  <c:v>133574</c:v>
                </c:pt>
                <c:pt idx="79">
                  <c:v>129515</c:v>
                </c:pt>
                <c:pt idx="80">
                  <c:v>133494</c:v>
                </c:pt>
                <c:pt idx="81">
                  <c:v>132548</c:v>
                </c:pt>
                <c:pt idx="82">
                  <c:v>133186</c:v>
                </c:pt>
                <c:pt idx="83">
                  <c:v>133356</c:v>
                </c:pt>
                <c:pt idx="84">
                  <c:v>133524</c:v>
                </c:pt>
                <c:pt idx="85">
                  <c:v>137401</c:v>
                </c:pt>
                <c:pt idx="86">
                  <c:v>136089</c:v>
                </c:pt>
                <c:pt idx="87">
                  <c:v>110176</c:v>
                </c:pt>
                <c:pt idx="88">
                  <c:v>110187</c:v>
                </c:pt>
                <c:pt idx="89">
                  <c:v>110198</c:v>
                </c:pt>
                <c:pt idx="90">
                  <c:v>110211</c:v>
                </c:pt>
                <c:pt idx="91">
                  <c:v>112242</c:v>
                </c:pt>
                <c:pt idx="92">
                  <c:v>112250</c:v>
                </c:pt>
                <c:pt idx="93">
                  <c:v>113325</c:v>
                </c:pt>
                <c:pt idx="94">
                  <c:v>112081</c:v>
                </c:pt>
                <c:pt idx="95">
                  <c:v>122307</c:v>
                </c:pt>
                <c:pt idx="96">
                  <c:v>122778</c:v>
                </c:pt>
                <c:pt idx="97">
                  <c:v>120920</c:v>
                </c:pt>
                <c:pt idx="98">
                  <c:v>119875</c:v>
                </c:pt>
                <c:pt idx="99">
                  <c:v>122083</c:v>
                </c:pt>
                <c:pt idx="100">
                  <c:v>125750</c:v>
                </c:pt>
                <c:pt idx="101">
                  <c:v>125751</c:v>
                </c:pt>
                <c:pt idx="102">
                  <c:v>130883</c:v>
                </c:pt>
                <c:pt idx="103">
                  <c:v>133083</c:v>
                </c:pt>
                <c:pt idx="104">
                  <c:v>136493</c:v>
                </c:pt>
                <c:pt idx="105">
                  <c:v>130665</c:v>
                </c:pt>
                <c:pt idx="106">
                  <c:v>138696</c:v>
                </c:pt>
                <c:pt idx="107">
                  <c:v>135323</c:v>
                </c:pt>
                <c:pt idx="108">
                  <c:v>132785</c:v>
                </c:pt>
                <c:pt idx="109">
                  <c:v>129978</c:v>
                </c:pt>
                <c:pt idx="110">
                  <c:v>126504</c:v>
                </c:pt>
                <c:pt idx="111">
                  <c:v>133084</c:v>
                </c:pt>
                <c:pt idx="112">
                  <c:v>131258</c:v>
                </c:pt>
                <c:pt idx="113">
                  <c:v>124463</c:v>
                </c:pt>
                <c:pt idx="114">
                  <c:v>132653</c:v>
                </c:pt>
                <c:pt idx="115">
                  <c:v>131615</c:v>
                </c:pt>
                <c:pt idx="116">
                  <c:v>128241</c:v>
                </c:pt>
                <c:pt idx="117">
                  <c:v>132025</c:v>
                </c:pt>
                <c:pt idx="118">
                  <c:v>131573</c:v>
                </c:pt>
                <c:pt idx="119">
                  <c:v>137463</c:v>
                </c:pt>
                <c:pt idx="120">
                  <c:v>135739</c:v>
                </c:pt>
                <c:pt idx="121">
                  <c:v>139570</c:v>
                </c:pt>
                <c:pt idx="122">
                  <c:v>137341</c:v>
                </c:pt>
                <c:pt idx="123">
                  <c:v>137702</c:v>
                </c:pt>
                <c:pt idx="124">
                  <c:v>138766</c:v>
                </c:pt>
                <c:pt idx="125">
                  <c:v>139359</c:v>
                </c:pt>
                <c:pt idx="126">
                  <c:v>141070</c:v>
                </c:pt>
                <c:pt idx="127">
                  <c:v>141459</c:v>
                </c:pt>
                <c:pt idx="128">
                  <c:v>139402</c:v>
                </c:pt>
                <c:pt idx="129">
                  <c:v>133913</c:v>
                </c:pt>
                <c:pt idx="130">
                  <c:v>135831</c:v>
                </c:pt>
                <c:pt idx="131">
                  <c:v>141776</c:v>
                </c:pt>
                <c:pt idx="132">
                  <c:v>148561</c:v>
                </c:pt>
                <c:pt idx="133">
                  <c:v>155917</c:v>
                </c:pt>
                <c:pt idx="134">
                  <c:v>160181</c:v>
                </c:pt>
                <c:pt idx="135">
                  <c:v>161431</c:v>
                </c:pt>
                <c:pt idx="136">
                  <c:v>159311</c:v>
                </c:pt>
                <c:pt idx="137">
                  <c:v>162846</c:v>
                </c:pt>
                <c:pt idx="138">
                  <c:v>163557</c:v>
                </c:pt>
                <c:pt idx="139">
                  <c:v>156970</c:v>
                </c:pt>
                <c:pt idx="140">
                  <c:v>154610</c:v>
                </c:pt>
                <c:pt idx="141">
                  <c:v>158155</c:v>
                </c:pt>
                <c:pt idx="142">
                  <c:v>163086</c:v>
                </c:pt>
                <c:pt idx="143">
                  <c:v>165407</c:v>
                </c:pt>
                <c:pt idx="144">
                  <c:v>164406</c:v>
                </c:pt>
              </c:numCache>
            </c:numRef>
          </c:val>
          <c:smooth val="0"/>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tickLblSkip val="12"/>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Predicted probability of a Sell week vs reality (2013–22)</a:t>
            </a:r>
          </a:p>
        </c:rich>
      </c:tx>
      <c:layout/>
      <c:overlay val="0"/>
    </c:title>
    <c:autoTitleDeleted val="0"/>
    <c:plotArea>
      <c:layout/>
      <c:barChart>
        <c:barDir val="bar"/>
        <c:grouping val="clustered"/>
        <c:varyColors val="0"/>
        <c:ser>
          <c:idx val="0"/>
          <c:order val="0"/>
          <c:tx>
            <c:strRef>
              <c:f>Sheet1!$B$1</c:f>
              <c:strCache>
                <c:ptCount val="1"/>
                <c:pt idx="0">
                  <c:v>Average predicted P(Sell)</c:v>
                </c:pt>
              </c:strCache>
            </c:strRef>
          </c:tx>
          <c:spPr>
            <a:solidFill>
              <a:srgbClr val="8A96A8"/>
            </a:solidFill>
            <a:effectLst/>
          </c:spPr>
          <c:invertIfNegative val="0"/>
          <c:dLbls>
            <c:numFmt formatCode="0.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Class weights (raw)</c:v>
                  </c:pt>
                  <c:pt idx="1">
                    <c:v>No weights</c:v>
                  </c:pt>
                  <c:pt idx="2">
                    <c:v>Weights + correction</c:v>
                  </c:pt>
                  <c:pt idx="3">
                    <c:v>Sigmoid calibration</c:v>
                  </c:pt>
                  <c:pt idx="4">
                    <c:v>Actual share of Sell weeks</c:v>
                  </c:pt>
                </c:lvl>
              </c:multiLvlStrCache>
            </c:multiLvlStrRef>
          </c:cat>
          <c:val>
            <c:numRef>
              <c:f>Sheet1!$B$2:$B$6</c:f>
              <c:numCache>
                <c:formatCode>General</c:formatCode>
                <c:ptCount val="5"/>
                <c:pt idx="0">
                  <c:v>30.5</c:v>
                </c:pt>
                <c:pt idx="1">
                  <c:v>21.7</c:v>
                </c:pt>
                <c:pt idx="2">
                  <c:v>21.6</c:v>
                </c:pt>
                <c:pt idx="3">
                  <c:v>24.1</c:v>
                </c:pt>
                <c:pt idx="4">
                  <c:v>20.7</c:v>
                </c:pt>
              </c:numCache>
            </c:numRef>
          </c:val>
        </c:ser>
        <c:dLbls>
          <c:numFmt formatCode="0.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4600" b="1" dirty="0">
                <a:solidFill>
                  <a:schemeClr val="bg1"/>
                </a:solidFill>
                <a:latin typeface="Cambria" pitchFamily="34" charset="0"/>
                <a:ea typeface="Cambria" pitchFamily="34" charset="-122"/>
                <a:cs typeface="Cambria" pitchFamily="34" charset="-120"/>
              </a:defRPr>
            </a:lvl1pPr>
          </a:lstStyle>
          <a:p>
            <a:pPr indent="0" marL="0">
              <a:buNone/>
            </a:pPr>
            <a:endParaRPr lang="en-US" sz="46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SPY weekly Buy / Hold / Sell model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4600" b="1" dirty="0">
                <a:solidFill>
                  <a:schemeClr val="bg1"/>
                </a:solidFill>
                <a:latin typeface="Cambria" pitchFamily="34" charset="0"/>
                <a:ea typeface="Cambria" pitchFamily="34" charset="-122"/>
                <a:cs typeface="Cambria" pitchFamily="34" charset="-120"/>
              </a:rPr>
              <a:t>Predicting weekly Buy / Hold / Sell decisions for SPY</a:t>
            </a:r>
            <a:endParaRPr lang="en-US" sz="46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000" dirty="0">
                <a:solidFill>
                  <a:schemeClr val="bg2"/>
                </a:solidFill>
              </a:rPr>
              <a:t>A machine-learning trading strategy, tested against buy-and-hold</a:t>
            </a:r>
            <a:endParaRPr lang="en-US" sz="2000" dirty="0"/>
          </a:p>
          <a:p>
            <a:pPr indent="0" marL="0">
              <a:buNone/>
            </a:pPr>
            <a:r>
              <a:rPr lang="en-US" sz="1600" dirty="0">
                <a:solidFill>
                  <a:schemeClr val="accent3"/>
                </a:solidFill>
              </a:rPr>
              <a:t>[Presenter names] · [Date]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Objective and deliverables</a:t>
            </a:r>
            <a:endParaRPr lang="en-US" sz="3000" dirty="0"/>
          </a:p>
        </p:txBody>
      </p:sp>
      <p:sp>
        <p:nvSpPr>
          <p:cNvPr id="3" name="Text 1"/>
          <p:cNvSpPr txBox="1"/>
          <p:nvPr/>
        </p:nvSpPr>
        <p:spPr>
          <a:xfrm>
            <a:off x="548640" y="1325880"/>
            <a:ext cx="11094415" cy="822960"/>
          </a:xfrm>
          <a:prstGeom prst="rect">
            <a:avLst/>
          </a:prstGeom>
          <a:noFill/>
          <a:ln/>
        </p:spPr>
        <p:txBody>
          <a:bodyPr wrap="square" lIns="0" tIns="0" rIns="0" bIns="0" rtlCol="0" anchor="t"/>
          <a:lstStyle/>
          <a:p>
            <a:pPr indent="0" marL="0">
              <a:buNone/>
            </a:pPr>
            <a:r>
              <a:rPr lang="en-US" sz="1600" b="1" dirty="0">
                <a:solidFill>
                  <a:schemeClr val="tx1"/>
                </a:solidFill>
              </a:rPr>
              <a:t>Objective. </a:t>
            </a:r>
            <a:pPr indent="0" marL="0">
              <a:buNone/>
            </a:pPr>
            <a:r>
              <a:rPr lang="en-US" sz="1600" dirty="0">
                <a:solidFill>
                  <a:schemeClr val="tx2"/>
                </a:solidFill>
              </a:rPr>
              <a:t>Predict the best action for SPY (the S&amp;P 500 ETF) over the next 5 trading days — Buy, Hold or Sell — and test whether trading on it beats buying and holding, after costs and on risk. The emphasis is on sound validation, not profit.</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2377440"/>
                <a:gridCol w="4023360"/>
                <a:gridCol w="4690872"/>
              </a:tblGrid>
              <a:tr h="502920">
                <a:tc>
                  <a:txBody>
                    <a:bodyPr/>
                    <a:lstStyle/>
                    <a:p>
                      <a:pPr indent="0" marL="0">
                        <a:buNone/>
                      </a:pPr>
                      <a:r>
                        <a:rPr lang="en-US" sz="1500" b="1" dirty="0">
                          <a:solidFill>
                            <a:schemeClr val="bg1"/>
                          </a:solidFill>
                        </a:rPr>
                        <a:t>Deliverable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Where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Content</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02920">
                <a:tc>
                  <a:txBody>
                    <a:bodyPr/>
                    <a:lstStyle/>
                    <a:p>
                      <a:pPr indent="0" marL="0">
                        <a:buNone/>
                      </a:pPr>
                      <a:r>
                        <a:rPr lang="en-US" sz="1500" dirty="0">
                          <a:solidFill>
                            <a:schemeClr val="tx2"/>
                          </a:solidFill>
                        </a:rPr>
                        <a:t>Exploratory analysis</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notebooks/01_eda</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Feature distributions, indicator correlations, class balance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Modelling</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notebooks/02_modeling, weekly_v1, v4_drawdown_aware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Lagged features, time-ordered splits, tuning, model selection</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Backtest</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notebooks/03_backtest, scorecard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Costs, comparison with buy-and-hold, risk metrics</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Lessons learned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outputs/SUMMARY.md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Why the strategies performed as they did; limits of prediction</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Text 2"/>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Code, data snapshots and 51 automated tests: github.com/TKCH121/spy</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Approach</a:t>
            </a:r>
            <a:endParaRPr lang="en-US" sz="3000" dirty="0"/>
          </a:p>
        </p:txBody>
      </p:sp>
      <p:sp>
        <p:nvSpPr>
          <p:cNvPr id="3" name="Shape 1"/>
          <p:cNvSpPr/>
          <p:nvPr/>
        </p:nvSpPr>
        <p:spPr>
          <a:xfrm>
            <a:off x="548640" y="1463040"/>
            <a:ext cx="1627632" cy="2468880"/>
          </a:xfrm>
          <a:prstGeom prst="roundRect">
            <a:avLst>
              <a:gd name="adj" fmla="val 5618"/>
            </a:avLst>
          </a:prstGeom>
          <a:solidFill>
            <a:schemeClr val="bg2"/>
          </a:solidFill>
          <a:ln w="12700">
            <a:solidFill>
              <a:schemeClr val="bg2"/>
            </a:solidFill>
            <a:prstDash val="solid"/>
          </a:ln>
        </p:spPr>
      </p:sp>
      <p:sp>
        <p:nvSpPr>
          <p:cNvPr id="4" name="Text 2"/>
          <p:cNvSpPr txBox="1"/>
          <p:nvPr/>
        </p:nvSpPr>
        <p:spPr>
          <a:xfrm>
            <a:off x="777240"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Data</a:t>
            </a:r>
            <a:endParaRPr lang="en-US" sz="1600" dirty="0"/>
          </a:p>
        </p:txBody>
      </p:sp>
      <p:sp>
        <p:nvSpPr>
          <p:cNvPr id="5" name="Text 3"/>
          <p:cNvSpPr txBox="1"/>
          <p:nvPr/>
        </p:nvSpPr>
        <p:spPr>
          <a:xfrm>
            <a:off x="777240"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SPY daily prices and volume, 2005–2026</a:t>
            </a:r>
            <a:endParaRPr lang="en-US" sz="1300" dirty="0"/>
          </a:p>
        </p:txBody>
      </p:sp>
      <p:sp>
        <p:nvSpPr>
          <p:cNvPr id="6" name="Shape 4"/>
          <p:cNvSpPr/>
          <p:nvPr/>
        </p:nvSpPr>
        <p:spPr>
          <a:xfrm>
            <a:off x="2199406" y="2560320"/>
            <a:ext cx="219456" cy="256032"/>
          </a:xfrm>
          <a:prstGeom prst="rightArrow">
            <a:avLst/>
          </a:prstGeom>
          <a:solidFill>
            <a:schemeClr val="accent1"/>
          </a:solidFill>
          <a:ln w="12700">
            <a:solidFill>
              <a:schemeClr val="accent1"/>
            </a:solidFill>
            <a:prstDash val="solid"/>
          </a:ln>
        </p:spPr>
      </p:sp>
      <p:sp>
        <p:nvSpPr>
          <p:cNvPr id="7" name="Shape 5"/>
          <p:cNvSpPr/>
          <p:nvPr/>
        </p:nvSpPr>
        <p:spPr>
          <a:xfrm>
            <a:off x="2441997" y="1463040"/>
            <a:ext cx="1627632" cy="2468880"/>
          </a:xfrm>
          <a:prstGeom prst="roundRect">
            <a:avLst>
              <a:gd name="adj" fmla="val 5618"/>
            </a:avLst>
          </a:prstGeom>
          <a:solidFill>
            <a:schemeClr val="bg2"/>
          </a:solidFill>
          <a:ln w="12700">
            <a:solidFill>
              <a:schemeClr val="bg2"/>
            </a:solidFill>
            <a:prstDash val="solid"/>
          </a:ln>
        </p:spPr>
      </p:sp>
      <p:sp>
        <p:nvSpPr>
          <p:cNvPr id="8" name="Text 6"/>
          <p:cNvSpPr txBox="1"/>
          <p:nvPr/>
        </p:nvSpPr>
        <p:spPr>
          <a:xfrm>
            <a:off x="2670597"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Features</a:t>
            </a:r>
            <a:endParaRPr lang="en-US" sz="1600" dirty="0"/>
          </a:p>
        </p:txBody>
      </p:sp>
      <p:sp>
        <p:nvSpPr>
          <p:cNvPr id="9" name="Text 7"/>
          <p:cNvSpPr txBox="1"/>
          <p:nvPr/>
        </p:nvSpPr>
        <p:spPr>
          <a:xfrm>
            <a:off x="2670597"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15 indicators, each using data up to the decision date only</a:t>
            </a:r>
            <a:endParaRPr lang="en-US" sz="1300" dirty="0"/>
          </a:p>
        </p:txBody>
      </p:sp>
      <p:sp>
        <p:nvSpPr>
          <p:cNvPr id="10" name="Shape 8"/>
          <p:cNvSpPr/>
          <p:nvPr/>
        </p:nvSpPr>
        <p:spPr>
          <a:xfrm>
            <a:off x="4092763" y="2560320"/>
            <a:ext cx="219456" cy="256032"/>
          </a:xfrm>
          <a:prstGeom prst="rightArrow">
            <a:avLst/>
          </a:prstGeom>
          <a:solidFill>
            <a:schemeClr val="accent1"/>
          </a:solidFill>
          <a:ln w="12700">
            <a:solidFill>
              <a:schemeClr val="accent1"/>
            </a:solidFill>
            <a:prstDash val="solid"/>
          </a:ln>
        </p:spPr>
      </p:sp>
      <p:sp>
        <p:nvSpPr>
          <p:cNvPr id="11" name="Shape 9"/>
          <p:cNvSpPr/>
          <p:nvPr/>
        </p:nvSpPr>
        <p:spPr>
          <a:xfrm>
            <a:off x="4335353" y="1463040"/>
            <a:ext cx="1627632" cy="2468880"/>
          </a:xfrm>
          <a:prstGeom prst="roundRect">
            <a:avLst>
              <a:gd name="adj" fmla="val 5618"/>
            </a:avLst>
          </a:prstGeom>
          <a:solidFill>
            <a:schemeClr val="bg2"/>
          </a:solidFill>
          <a:ln w="12700">
            <a:solidFill>
              <a:schemeClr val="bg2"/>
            </a:solidFill>
            <a:prstDash val="solid"/>
          </a:ln>
        </p:spPr>
      </p:sp>
      <p:sp>
        <p:nvSpPr>
          <p:cNvPr id="12" name="Text 10"/>
          <p:cNvSpPr txBox="1"/>
          <p:nvPr/>
        </p:nvSpPr>
        <p:spPr>
          <a:xfrm>
            <a:off x="4563953"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Target</a:t>
            </a:r>
            <a:endParaRPr lang="en-US" sz="1600" dirty="0"/>
          </a:p>
        </p:txBody>
      </p:sp>
      <p:sp>
        <p:nvSpPr>
          <p:cNvPr id="13" name="Text 11"/>
          <p:cNvSpPr txBox="1"/>
          <p:nvPr/>
        </p:nvSpPr>
        <p:spPr>
          <a:xfrm>
            <a:off x="4563953"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Buy / Hold / Sell for the next 5 trading days</a:t>
            </a:r>
            <a:endParaRPr lang="en-US" sz="1300" dirty="0"/>
          </a:p>
        </p:txBody>
      </p:sp>
      <p:sp>
        <p:nvSpPr>
          <p:cNvPr id="14" name="Shape 12"/>
          <p:cNvSpPr/>
          <p:nvPr/>
        </p:nvSpPr>
        <p:spPr>
          <a:xfrm>
            <a:off x="5986120" y="2560320"/>
            <a:ext cx="219456" cy="256032"/>
          </a:xfrm>
          <a:prstGeom prst="rightArrow">
            <a:avLst/>
          </a:prstGeom>
          <a:solidFill>
            <a:schemeClr val="accent1"/>
          </a:solidFill>
          <a:ln w="12700">
            <a:solidFill>
              <a:schemeClr val="accent1"/>
            </a:solidFill>
            <a:prstDash val="solid"/>
          </a:ln>
        </p:spPr>
      </p:sp>
      <p:sp>
        <p:nvSpPr>
          <p:cNvPr id="15" name="Shape 13"/>
          <p:cNvSpPr/>
          <p:nvPr/>
        </p:nvSpPr>
        <p:spPr>
          <a:xfrm>
            <a:off x="6228710" y="1463040"/>
            <a:ext cx="1627632" cy="2468880"/>
          </a:xfrm>
          <a:prstGeom prst="roundRect">
            <a:avLst>
              <a:gd name="adj" fmla="val 5618"/>
            </a:avLst>
          </a:prstGeom>
          <a:solidFill>
            <a:schemeClr val="bg2"/>
          </a:solidFill>
          <a:ln w="12700">
            <a:solidFill>
              <a:schemeClr val="bg2"/>
            </a:solidFill>
            <a:prstDash val="solid"/>
          </a:ln>
        </p:spPr>
      </p:sp>
      <p:sp>
        <p:nvSpPr>
          <p:cNvPr id="16" name="Text 14"/>
          <p:cNvSpPr txBox="1"/>
          <p:nvPr/>
        </p:nvSpPr>
        <p:spPr>
          <a:xfrm>
            <a:off x="6457310"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Model</a:t>
            </a:r>
            <a:endParaRPr lang="en-US" sz="1600" dirty="0"/>
          </a:p>
        </p:txBody>
      </p:sp>
      <p:sp>
        <p:nvSpPr>
          <p:cNvPr id="17" name="Text 15"/>
          <p:cNvSpPr txBox="1"/>
          <p:nvPr/>
        </p:nvSpPr>
        <p:spPr>
          <a:xfrm>
            <a:off x="6457310"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Classifier tuned with time-series cross-validation</a:t>
            </a:r>
            <a:endParaRPr lang="en-US" sz="1300" dirty="0"/>
          </a:p>
        </p:txBody>
      </p:sp>
      <p:sp>
        <p:nvSpPr>
          <p:cNvPr id="18" name="Shape 16"/>
          <p:cNvSpPr/>
          <p:nvPr/>
        </p:nvSpPr>
        <p:spPr>
          <a:xfrm>
            <a:off x="7879476" y="2560320"/>
            <a:ext cx="219456" cy="256032"/>
          </a:xfrm>
          <a:prstGeom prst="rightArrow">
            <a:avLst/>
          </a:prstGeom>
          <a:solidFill>
            <a:schemeClr val="accent1"/>
          </a:solidFill>
          <a:ln w="12700">
            <a:solidFill>
              <a:schemeClr val="accent1"/>
            </a:solidFill>
            <a:prstDash val="solid"/>
          </a:ln>
        </p:spPr>
      </p:sp>
      <p:sp>
        <p:nvSpPr>
          <p:cNvPr id="19" name="Shape 17"/>
          <p:cNvSpPr/>
          <p:nvPr/>
        </p:nvSpPr>
        <p:spPr>
          <a:xfrm>
            <a:off x="8122067" y="1463040"/>
            <a:ext cx="1627632" cy="2468880"/>
          </a:xfrm>
          <a:prstGeom prst="roundRect">
            <a:avLst>
              <a:gd name="adj" fmla="val 5618"/>
            </a:avLst>
          </a:prstGeom>
          <a:solidFill>
            <a:schemeClr val="bg2"/>
          </a:solidFill>
          <a:ln w="12700">
            <a:solidFill>
              <a:schemeClr val="bg2"/>
            </a:solidFill>
            <a:prstDash val="solid"/>
          </a:ln>
        </p:spPr>
      </p:sp>
      <p:sp>
        <p:nvSpPr>
          <p:cNvPr id="20" name="Text 18"/>
          <p:cNvSpPr txBox="1"/>
          <p:nvPr/>
        </p:nvSpPr>
        <p:spPr>
          <a:xfrm>
            <a:off x="8350667"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Decision</a:t>
            </a:r>
            <a:endParaRPr lang="en-US" sz="1600" dirty="0"/>
          </a:p>
        </p:txBody>
      </p:sp>
      <p:sp>
        <p:nvSpPr>
          <p:cNvPr id="21" name="Text 19"/>
          <p:cNvSpPr txBox="1"/>
          <p:nvPr/>
        </p:nvSpPr>
        <p:spPr>
          <a:xfrm>
            <a:off x="8350667"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Weekly: after Friday’s close; trade at Monday’s open</a:t>
            </a:r>
            <a:endParaRPr lang="en-US" sz="1300" dirty="0"/>
          </a:p>
        </p:txBody>
      </p:sp>
      <p:sp>
        <p:nvSpPr>
          <p:cNvPr id="22" name="Shape 20"/>
          <p:cNvSpPr/>
          <p:nvPr/>
        </p:nvSpPr>
        <p:spPr>
          <a:xfrm>
            <a:off x="9772833" y="2560320"/>
            <a:ext cx="219456" cy="256032"/>
          </a:xfrm>
          <a:prstGeom prst="rightArrow">
            <a:avLst/>
          </a:prstGeom>
          <a:solidFill>
            <a:schemeClr val="accent1"/>
          </a:solidFill>
          <a:ln w="12700">
            <a:solidFill>
              <a:schemeClr val="accent1"/>
            </a:solidFill>
            <a:prstDash val="solid"/>
          </a:ln>
        </p:spPr>
      </p:sp>
      <p:sp>
        <p:nvSpPr>
          <p:cNvPr id="23" name="Shape 21"/>
          <p:cNvSpPr/>
          <p:nvPr/>
        </p:nvSpPr>
        <p:spPr>
          <a:xfrm>
            <a:off x="10015423" y="1463040"/>
            <a:ext cx="1627632" cy="2468880"/>
          </a:xfrm>
          <a:prstGeom prst="roundRect">
            <a:avLst>
              <a:gd name="adj" fmla="val 5618"/>
            </a:avLst>
          </a:prstGeom>
          <a:solidFill>
            <a:schemeClr val="bg2"/>
          </a:solidFill>
          <a:ln w="12700">
            <a:solidFill>
              <a:schemeClr val="bg2"/>
            </a:solidFill>
            <a:prstDash val="solid"/>
          </a:ln>
        </p:spPr>
      </p:sp>
      <p:sp>
        <p:nvSpPr>
          <p:cNvPr id="24" name="Text 22"/>
          <p:cNvSpPr txBox="1"/>
          <p:nvPr/>
        </p:nvSpPr>
        <p:spPr>
          <a:xfrm>
            <a:off x="10244023"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Backtest</a:t>
            </a:r>
            <a:endParaRPr lang="en-US" sz="1600" dirty="0"/>
          </a:p>
        </p:txBody>
      </p:sp>
      <p:sp>
        <p:nvSpPr>
          <p:cNvPr id="25" name="Text 23"/>
          <p:cNvSpPr txBox="1"/>
          <p:nvPr/>
        </p:nvSpPr>
        <p:spPr>
          <a:xfrm>
            <a:off x="10244023"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0.15% cost per trade, cash earns T-bills, vs buy-and-hold</a:t>
            </a:r>
            <a:endParaRPr lang="en-US" sz="1300" dirty="0"/>
          </a:p>
        </p:txBody>
      </p:sp>
      <p:sp>
        <p:nvSpPr>
          <p:cNvPr id="26" name="Text 24"/>
          <p:cNvSpPr txBox="1"/>
          <p:nvPr/>
        </p:nvSpPr>
        <p:spPr>
          <a:xfrm>
            <a:off x="548640" y="4297680"/>
            <a:ext cx="11094415" cy="822960"/>
          </a:xfrm>
          <a:prstGeom prst="rect">
            <a:avLst/>
          </a:prstGeom>
          <a:noFill/>
          <a:ln/>
        </p:spPr>
        <p:txBody>
          <a:bodyPr wrap="square" lIns="0" tIns="0" rIns="0" bIns="0" rtlCol="0" anchor="t"/>
          <a:lstStyle/>
          <a:p>
            <a:pPr indent="0" marL="0">
              <a:buNone/>
            </a:pPr>
            <a:r>
              <a:rPr lang="en-US" sz="1500" b="1" dirty="0">
                <a:solidFill>
                  <a:schemeClr val="tx1"/>
                </a:solidFill>
              </a:rPr>
              <a:t>Two models are compared. </a:t>
            </a:r>
            <a:pPr indent="0" marL="0">
              <a:buNone/>
            </a:pPr>
            <a:r>
              <a:rPr lang="en-US" sz="1500" dirty="0">
                <a:solidFill>
                  <a:schemeClr val="tx2"/>
                </a:solidFill>
              </a:rPr>
              <a:t>The baseline asks the brief’s question as written: which way will SPY move? The final model asks the investor’s question: can we keep most of the market’s return while avoiding large losses?</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EDA: size is predictable, direction is not</a:t>
            </a:r>
            <a:endParaRPr lang="en-US" sz="3000" dirty="0"/>
          </a:p>
        </p:txBody>
      </p:sp>
      <p:graphicFrame>
        <p:nvGraphicFramePr>
          <p:cNvPr id="3" name="Chart 0" descr=""/>
          <p:cNvGraphicFramePr/>
          <p:nvPr/>
        </p:nvGraphicFramePr>
        <p:xfrm>
          <a:off x="548640" y="1280160"/>
          <a:ext cx="53949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26480" y="1280160"/>
          <a:ext cx="5513832" cy="310896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4526280"/>
            <a:ext cx="3593592" cy="1417320"/>
          </a:xfrm>
          <a:prstGeom prst="roundRect">
            <a:avLst>
              <a:gd name="adj" fmla="val 6452"/>
            </a:avLst>
          </a:prstGeom>
          <a:solidFill>
            <a:srgbClr val="FBEDE4"/>
          </a:solidFill>
          <a:ln w="12700">
            <a:solidFill>
              <a:srgbClr val="FBEDE4"/>
            </a:solidFill>
            <a:prstDash val="solid"/>
          </a:ln>
        </p:spPr>
      </p:sp>
      <p:sp>
        <p:nvSpPr>
          <p:cNvPr id="6" name="Text 2"/>
          <p:cNvSpPr txBox="1"/>
          <p:nvPr/>
        </p:nvSpPr>
        <p:spPr>
          <a:xfrm>
            <a:off x="77724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Direction has no memory</a:t>
            </a:r>
            <a:endParaRPr lang="en-US" sz="1500" dirty="0"/>
          </a:p>
        </p:txBody>
      </p:sp>
      <p:sp>
        <p:nvSpPr>
          <p:cNvPr id="7" name="Text 3"/>
          <p:cNvSpPr txBox="1"/>
          <p:nvPr/>
        </p:nvSpPr>
        <p:spPr>
          <a:xfrm>
            <a:off x="77724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Today’s return barely predicts the next days’: correlations -0.10 to +0.05.</a:t>
            </a:r>
            <a:endParaRPr lang="en-US" sz="1300" dirty="0"/>
          </a:p>
        </p:txBody>
      </p:sp>
      <p:sp>
        <p:nvSpPr>
          <p:cNvPr id="8" name="Shape 4"/>
          <p:cNvSpPr/>
          <p:nvPr/>
        </p:nvSpPr>
        <p:spPr>
          <a:xfrm>
            <a:off x="4297680" y="4526280"/>
            <a:ext cx="3593592" cy="1417320"/>
          </a:xfrm>
          <a:prstGeom prst="roundRect">
            <a:avLst>
              <a:gd name="adj" fmla="val 6452"/>
            </a:avLst>
          </a:prstGeom>
          <a:solidFill>
            <a:schemeClr val="bg2"/>
          </a:solidFill>
          <a:ln w="12700">
            <a:solidFill>
              <a:schemeClr val="bg2"/>
            </a:solidFill>
            <a:prstDash val="solid"/>
          </a:ln>
        </p:spPr>
      </p:sp>
      <p:sp>
        <p:nvSpPr>
          <p:cNvPr id="9" name="Text 5"/>
          <p:cNvSpPr txBox="1"/>
          <p:nvPr/>
        </p:nvSpPr>
        <p:spPr>
          <a:xfrm>
            <a:off x="452628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Size has memory</a:t>
            </a:r>
            <a:endParaRPr lang="en-US" sz="1500" dirty="0"/>
          </a:p>
        </p:txBody>
      </p:sp>
      <p:sp>
        <p:nvSpPr>
          <p:cNvPr id="10" name="Text 6"/>
          <p:cNvSpPr txBox="1"/>
          <p:nvPr/>
        </p:nvSpPr>
        <p:spPr>
          <a:xfrm>
            <a:off x="452628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Large moves cluster: correlation 0.32–0.42 with the next days’ size.</a:t>
            </a:r>
            <a:endParaRPr lang="en-US" sz="1300" dirty="0"/>
          </a:p>
        </p:txBody>
      </p:sp>
      <p:sp>
        <p:nvSpPr>
          <p:cNvPr id="11" name="Shape 7"/>
          <p:cNvSpPr/>
          <p:nvPr/>
        </p:nvSpPr>
        <p:spPr>
          <a:xfrm>
            <a:off x="8046720" y="4526280"/>
            <a:ext cx="3593592" cy="1417320"/>
          </a:xfrm>
          <a:prstGeom prst="roundRect">
            <a:avLst>
              <a:gd name="adj" fmla="val 6452"/>
            </a:avLst>
          </a:prstGeom>
          <a:solidFill>
            <a:schemeClr val="bg2"/>
          </a:solidFill>
          <a:ln w="12700">
            <a:solidFill>
              <a:schemeClr val="bg2"/>
            </a:solidFill>
            <a:prstDash val="solid"/>
          </a:ln>
        </p:spPr>
      </p:sp>
      <p:sp>
        <p:nvSpPr>
          <p:cNvPr id="12" name="Text 8"/>
          <p:cNvSpPr txBox="1"/>
          <p:nvPr/>
        </p:nvSpPr>
        <p:spPr>
          <a:xfrm>
            <a:off x="827532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Extreme days are common</a:t>
            </a:r>
            <a:endParaRPr lang="en-US" sz="1500" dirty="0"/>
          </a:p>
        </p:txBody>
      </p:sp>
      <p:sp>
        <p:nvSpPr>
          <p:cNvPr id="13" name="Text 9"/>
          <p:cNvSpPr txBox="1"/>
          <p:nvPr/>
        </p:nvSpPr>
        <p:spPr>
          <a:xfrm>
            <a:off x="827532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80 days beyond 3 standard deviations vs about 14 if returns were normal.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EDA: the class mix shifts year to year</a:t>
            </a:r>
            <a:endParaRPr lang="en-US" sz="3000" dirty="0"/>
          </a:p>
        </p:txBody>
      </p:sp>
      <p:graphicFrame>
        <p:nvGraphicFramePr>
          <p:cNvPr id="3" name="Chart 0" descr=""/>
          <p:cNvGraphicFramePr/>
          <p:nvPr/>
        </p:nvGraphicFramePr>
        <p:xfrm>
          <a:off x="548640" y="128016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321040" y="1371600"/>
            <a:ext cx="3319272" cy="2103120"/>
          </a:xfrm>
          <a:prstGeom prst="roundRect">
            <a:avLst>
              <a:gd name="adj" fmla="val 4348"/>
            </a:avLst>
          </a:prstGeom>
          <a:solidFill>
            <a:schemeClr val="bg2"/>
          </a:solidFill>
          <a:ln w="12700">
            <a:solidFill>
              <a:schemeClr val="bg2"/>
            </a:solidFill>
            <a:prstDash val="solid"/>
          </a:ln>
        </p:spPr>
      </p:sp>
      <p:sp>
        <p:nvSpPr>
          <p:cNvPr id="5" name="Text 2"/>
          <p:cNvSpPr txBox="1"/>
          <p:nvPr/>
        </p:nvSpPr>
        <p:spPr>
          <a:xfrm>
            <a:off x="8549640" y="1554480"/>
            <a:ext cx="28620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Imbalanced</a:t>
            </a:r>
            <a:endParaRPr lang="en-US" sz="1700" dirty="0"/>
          </a:p>
        </p:txBody>
      </p:sp>
      <p:sp>
        <p:nvSpPr>
          <p:cNvPr id="6" name="Text 3"/>
          <p:cNvSpPr txBox="1"/>
          <p:nvPr/>
        </p:nvSpPr>
        <p:spPr>
          <a:xfrm>
            <a:off x="8549640" y="2057400"/>
            <a:ext cx="2862072" cy="1280160"/>
          </a:xfrm>
          <a:prstGeom prst="rect">
            <a:avLst/>
          </a:prstGeom>
          <a:noFill/>
          <a:ln/>
        </p:spPr>
        <p:txBody>
          <a:bodyPr wrap="square" lIns="0" tIns="0" rIns="0" bIns="0" rtlCol="0" anchor="t"/>
          <a:lstStyle/>
          <a:p>
            <a:pPr indent="0" marL="0">
              <a:buNone/>
            </a:pPr>
            <a:r>
              <a:rPr lang="en-US" sz="1300" dirty="0">
                <a:solidFill>
                  <a:schemeClr val="tx2"/>
                </a:solidFill>
              </a:rPr>
              <a:t>Sell is the minority class in almost every year, about one week in five on average.</a:t>
            </a:r>
            <a:endParaRPr lang="en-US" sz="1300" dirty="0"/>
          </a:p>
        </p:txBody>
      </p:sp>
      <p:sp>
        <p:nvSpPr>
          <p:cNvPr id="7" name="Shape 4"/>
          <p:cNvSpPr/>
          <p:nvPr/>
        </p:nvSpPr>
        <p:spPr>
          <a:xfrm>
            <a:off x="8321040" y="3657600"/>
            <a:ext cx="3319272" cy="2194560"/>
          </a:xfrm>
          <a:prstGeom prst="roundRect">
            <a:avLst>
              <a:gd name="adj" fmla="val 4167"/>
            </a:avLst>
          </a:prstGeom>
          <a:solidFill>
            <a:srgbClr val="FBEDE4"/>
          </a:solidFill>
          <a:ln w="12700">
            <a:solidFill>
              <a:srgbClr val="FBEDE4"/>
            </a:solidFill>
            <a:prstDash val="solid"/>
          </a:ln>
        </p:spPr>
      </p:sp>
      <p:sp>
        <p:nvSpPr>
          <p:cNvPr id="8" name="Text 5"/>
          <p:cNvSpPr txBox="1"/>
          <p:nvPr/>
        </p:nvSpPr>
        <p:spPr>
          <a:xfrm>
            <a:off x="8549640" y="3840480"/>
            <a:ext cx="28620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Unstable</a:t>
            </a:r>
            <a:endParaRPr lang="en-US" sz="1700" dirty="0"/>
          </a:p>
        </p:txBody>
      </p:sp>
      <p:sp>
        <p:nvSpPr>
          <p:cNvPr id="9" name="Text 6"/>
          <p:cNvSpPr txBox="1"/>
          <p:nvPr/>
        </p:nvSpPr>
        <p:spPr>
          <a:xfrm>
            <a:off x="8549640" y="4343400"/>
            <a:ext cx="2862072" cy="1371600"/>
          </a:xfrm>
          <a:prstGeom prst="rect">
            <a:avLst/>
          </a:prstGeom>
          <a:noFill/>
          <a:ln/>
        </p:spPr>
        <p:txBody>
          <a:bodyPr wrap="square" lIns="0" tIns="0" rIns="0" bIns="0" rtlCol="0" anchor="t"/>
          <a:lstStyle/>
          <a:p>
            <a:pPr indent="0" marL="0">
              <a:buNone/>
            </a:pPr>
            <a:r>
              <a:rPr lang="en-US" sz="1300" dirty="0">
                <a:solidFill>
                  <a:schemeClr val="tx2"/>
                </a:solidFill>
              </a:rPr>
              <a:t>Sell weeks were 5% of 2017 and 41% of 2022. A model trained on one period meets a different mix in the next.</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Features and target</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194560"/>
                <a:gridCol w="3657600"/>
              </a:tblGrid>
              <a:tr h="457200">
                <a:tc>
                  <a:txBody>
                    <a:bodyPr/>
                    <a:lstStyle/>
                    <a:p>
                      <a:pPr indent="0" marL="0">
                        <a:buNone/>
                      </a:pPr>
                      <a:r>
                        <a:rPr lang="en-US" sz="1400" b="1" dirty="0">
                          <a:solidFill>
                            <a:schemeClr val="bg1"/>
                          </a:solidFill>
                        </a:rPr>
                        <a:t>Feature group</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Indicators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tx2"/>
                          </a:solidFill>
                        </a:rPr>
                        <a:t>Momentum</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1, 5, 10, 20-day returns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Trend</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Price vs 20/50/200-day averages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Overbought / oversold</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RSI-14, MACD histogram, Bollinger %B</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Volatility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20-day volatility, ATR, band width</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Activity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Volume relative to its 20-day norm</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2039112"/>
                <a:gridCol w="1371600"/>
                <a:gridCol w="1554480"/>
              </a:tblGrid>
              <a:tr h="438912">
                <a:tc>
                  <a:txBody>
                    <a:bodyPr/>
                    <a:lstStyle/>
                    <a:p>
                      <a:pPr indent="0" marL="0">
                        <a:buNone/>
                      </a:pPr>
                      <a:r>
                        <a:rPr lang="en-US" sz="1300" b="1" dirty="0">
                          <a:solidFill>
                            <a:schemeClr val="bg1"/>
                          </a:solidFill>
                        </a:rPr>
                        <a:t>Target: next 5 trading days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Baseline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38912">
                <a:tc>
                  <a:txBody>
                    <a:bodyPr/>
                    <a:lstStyle/>
                    <a:p>
                      <a:pPr indent="0" marL="0">
                        <a:buNone/>
                      </a:pPr>
                      <a:r>
                        <a:rPr lang="en-US" sz="1300" dirty="0">
                          <a:solidFill>
                            <a:schemeClr val="tx2"/>
                          </a:solidFill>
                        </a:rPr>
                        <a:t>Buy</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300" dirty="0">
                          <a:solidFill>
                            <a:schemeClr val="tx2"/>
                          </a:solidFill>
                        </a:rPr>
                        <a:t>Hold</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 to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 to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300" dirty="0">
                          <a:solidFill>
                            <a:schemeClr val="tx2"/>
                          </a:solidFill>
                        </a:rPr>
                        <a:t>Sell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&lt;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&lt; −2% (a large loss)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1"/>
          <p:cNvSpPr/>
          <p:nvPr/>
        </p:nvSpPr>
        <p:spPr>
          <a:xfrm>
            <a:off x="6675120" y="3337560"/>
            <a:ext cx="4965192" cy="2514600"/>
          </a:xfrm>
          <a:prstGeom prst="roundRect">
            <a:avLst>
              <a:gd name="adj" fmla="val 3636"/>
            </a:avLst>
          </a:prstGeom>
          <a:solidFill>
            <a:schemeClr val="bg2"/>
          </a:solidFill>
          <a:ln w="12700">
            <a:solidFill>
              <a:schemeClr val="bg2"/>
            </a:solidFill>
            <a:prstDash val="solid"/>
          </a:ln>
        </p:spPr>
      </p:sp>
      <p:sp>
        <p:nvSpPr>
          <p:cNvPr id="6" name="Text 2"/>
          <p:cNvSpPr txBox="1"/>
          <p:nvPr/>
        </p:nvSpPr>
        <p:spPr>
          <a:xfrm>
            <a:off x="6903720" y="3520440"/>
            <a:ext cx="450799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Class imbalance</a:t>
            </a:r>
            <a:endParaRPr lang="en-US" sz="1700" dirty="0"/>
          </a:p>
        </p:txBody>
      </p:sp>
      <p:sp>
        <p:nvSpPr>
          <p:cNvPr id="7" name="Text 3"/>
          <p:cNvSpPr txBox="1"/>
          <p:nvPr/>
        </p:nvSpPr>
        <p:spPr>
          <a:xfrm>
            <a:off x="6903720" y="4023360"/>
            <a:ext cx="4507992" cy="1691640"/>
          </a:xfrm>
          <a:prstGeom prst="rect">
            <a:avLst/>
          </a:prstGeom>
          <a:noFill/>
          <a:ln/>
        </p:spPr>
        <p:txBody>
          <a:bodyPr wrap="square" lIns="0" tIns="0" rIns="0" bIns="0" rtlCol="0" anchor="t"/>
          <a:lstStyle/>
          <a:p>
            <a:pPr indent="0" marL="0">
              <a:buNone/>
            </a:pPr>
            <a:r>
              <a:rPr lang="en-US" sz="1300" dirty="0">
                <a:solidFill>
                  <a:schemeClr val="tx2"/>
                </a:solidFill>
              </a:rPr>
              <a:t>Sell is the minority class. Class weights were used (SMOTE and no weighting were tested and scored lower). Weighting inflates the predicted Sell probability, so the final model corrects it before use (slide 15).</a:t>
            </a:r>
            <a:endParaRPr lang="en-US" sz="1300" dirty="0"/>
          </a:p>
        </p:txBody>
      </p:sp>
      <p:sp>
        <p:nvSpPr>
          <p:cNvPr id="8" name="Text 4"/>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All features are strictly lagged; tests confirm that changing future prices never changes a past feature.</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Validation design</a:t>
            </a:r>
            <a:endParaRPr lang="en-US" sz="3000" dirty="0"/>
          </a:p>
        </p:txBody>
      </p:sp>
      <p:sp>
        <p:nvSpPr>
          <p:cNvPr id="3" name="Shape 1"/>
          <p:cNvSpPr/>
          <p:nvPr/>
        </p:nvSpPr>
        <p:spPr>
          <a:xfrm>
            <a:off x="548640" y="1417320"/>
            <a:ext cx="8001792" cy="685800"/>
          </a:xfrm>
          <a:prstGeom prst="rect">
            <a:avLst/>
          </a:prstGeom>
          <a:solidFill>
            <a:schemeClr val="tx1"/>
          </a:solidFill>
          <a:ln w="12700">
            <a:solidFill>
              <a:schemeClr val="tx1"/>
            </a:solidFill>
            <a:prstDash val="solid"/>
          </a:ln>
        </p:spPr>
      </p:sp>
      <p:sp>
        <p:nvSpPr>
          <p:cNvPr id="4" name="Text 2"/>
          <p:cNvSpPr txBox="1"/>
          <p:nvPr/>
        </p:nvSpPr>
        <p:spPr>
          <a:xfrm>
            <a:off x="594360" y="1417320"/>
            <a:ext cx="7910352" cy="685800"/>
          </a:xfrm>
          <a:prstGeom prst="rect">
            <a:avLst/>
          </a:prstGeom>
          <a:noFill/>
          <a:ln/>
        </p:spPr>
        <p:txBody>
          <a:bodyPr wrap="square" lIns="0" tIns="0" rIns="0" bIns="0" rtlCol="0" anchor="ctr"/>
          <a:lstStyle/>
          <a:p>
            <a:pPr algn="ctr" indent="0" marL="0">
              <a:buNone/>
            </a:pPr>
            <a:r>
              <a:rPr lang="en-US" sz="1600" b="1" dirty="0">
                <a:solidFill>
                  <a:schemeClr val="bg1"/>
                </a:solidFill>
              </a:rPr>
              <a:t>Train 2010–2020</a:t>
            </a:r>
            <a:endParaRPr lang="en-US" sz="1600" dirty="0"/>
          </a:p>
        </p:txBody>
      </p:sp>
      <p:sp>
        <p:nvSpPr>
          <p:cNvPr id="5" name="Shape 3"/>
          <p:cNvSpPr/>
          <p:nvPr/>
        </p:nvSpPr>
        <p:spPr>
          <a:xfrm>
            <a:off x="8641872" y="1417320"/>
            <a:ext cx="1454871" cy="685800"/>
          </a:xfrm>
          <a:prstGeom prst="rect">
            <a:avLst/>
          </a:prstGeom>
          <a:solidFill>
            <a:schemeClr val="accent2"/>
          </a:solidFill>
          <a:ln w="12700">
            <a:solidFill>
              <a:schemeClr val="accent2"/>
            </a:solidFill>
            <a:prstDash val="solid"/>
          </a:ln>
        </p:spPr>
      </p:sp>
      <p:sp>
        <p:nvSpPr>
          <p:cNvPr id="6" name="Text 4"/>
          <p:cNvSpPr txBox="1"/>
          <p:nvPr/>
        </p:nvSpPr>
        <p:spPr>
          <a:xfrm>
            <a:off x="8687592" y="1417320"/>
            <a:ext cx="1363431" cy="685800"/>
          </a:xfrm>
          <a:prstGeom prst="rect">
            <a:avLst/>
          </a:prstGeom>
          <a:noFill/>
          <a:ln/>
        </p:spPr>
        <p:txBody>
          <a:bodyPr wrap="square" lIns="0" tIns="0" rIns="0" bIns="0" rtlCol="0" anchor="ctr"/>
          <a:lstStyle/>
          <a:p>
            <a:pPr algn="ctr" indent="0" marL="0">
              <a:buNone/>
            </a:pPr>
            <a:r>
              <a:rPr lang="en-US" sz="1200" b="1" dirty="0">
                <a:solidFill>
                  <a:schemeClr val="bg1"/>
                </a:solidFill>
              </a:rPr>
              <a:t>Validation 2021–22</a:t>
            </a:r>
            <a:endParaRPr lang="en-US" sz="1200" dirty="0"/>
          </a:p>
        </p:txBody>
      </p:sp>
      <p:sp>
        <p:nvSpPr>
          <p:cNvPr id="7" name="Shape 5"/>
          <p:cNvSpPr/>
          <p:nvPr/>
        </p:nvSpPr>
        <p:spPr>
          <a:xfrm>
            <a:off x="10188184" y="1417320"/>
            <a:ext cx="1454871" cy="685800"/>
          </a:xfrm>
          <a:prstGeom prst="rect">
            <a:avLst/>
          </a:prstGeom>
          <a:solidFill>
            <a:schemeClr val="accent1"/>
          </a:solidFill>
          <a:ln w="12700">
            <a:solidFill>
              <a:schemeClr val="accent1"/>
            </a:solidFill>
            <a:prstDash val="solid"/>
          </a:ln>
        </p:spPr>
      </p:sp>
      <p:sp>
        <p:nvSpPr>
          <p:cNvPr id="8" name="Text 6"/>
          <p:cNvSpPr txBox="1"/>
          <p:nvPr/>
        </p:nvSpPr>
        <p:spPr>
          <a:xfrm>
            <a:off x="10233904" y="1417320"/>
            <a:ext cx="1363431" cy="685800"/>
          </a:xfrm>
          <a:prstGeom prst="rect">
            <a:avLst/>
          </a:prstGeom>
          <a:noFill/>
          <a:ln/>
        </p:spPr>
        <p:txBody>
          <a:bodyPr wrap="square" lIns="0" tIns="0" rIns="0" bIns="0" rtlCol="0" anchor="ctr"/>
          <a:lstStyle/>
          <a:p>
            <a:pPr algn="ctr" indent="0" marL="0">
              <a:buNone/>
            </a:pPr>
            <a:r>
              <a:rPr lang="en-US" sz="1200" b="1" dirty="0">
                <a:solidFill>
                  <a:schemeClr val="bg1"/>
                </a:solidFill>
              </a:rPr>
              <a:t>Test 2023–24</a:t>
            </a:r>
            <a:endParaRPr lang="en-US" sz="1200" dirty="0"/>
          </a:p>
        </p:txBody>
      </p:sp>
      <p:sp>
        <p:nvSpPr>
          <p:cNvPr id="9" name="Text 7"/>
          <p:cNvSpPr txBox="1"/>
          <p:nvPr/>
        </p:nvSpPr>
        <p:spPr>
          <a:xfrm>
            <a:off x="548640" y="219456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Chronological, never shuffled; a buffer of 5–6 trading days at each boundary so no 5-day label overlaps the next period.</a:t>
            </a:r>
            <a:endParaRPr lang="en-US" sz="1200" dirty="0"/>
          </a:p>
        </p:txBody>
      </p:sp>
      <p:sp>
        <p:nvSpPr>
          <p:cNvPr id="10" name="Shape 8"/>
          <p:cNvSpPr/>
          <p:nvPr/>
        </p:nvSpPr>
        <p:spPr>
          <a:xfrm>
            <a:off x="548640" y="2743200"/>
            <a:ext cx="5468112" cy="1463040"/>
          </a:xfrm>
          <a:prstGeom prst="roundRect">
            <a:avLst>
              <a:gd name="adj" fmla="val 6250"/>
            </a:avLst>
          </a:prstGeom>
          <a:solidFill>
            <a:schemeClr val="bg2"/>
          </a:solidFill>
          <a:ln w="12700">
            <a:solidFill>
              <a:schemeClr val="bg2"/>
            </a:solidFill>
            <a:prstDash val="solid"/>
          </a:ln>
        </p:spPr>
      </p:sp>
      <p:sp>
        <p:nvSpPr>
          <p:cNvPr id="11" name="Text 9"/>
          <p:cNvSpPr txBox="1"/>
          <p:nvPr/>
        </p:nvSpPr>
        <p:spPr>
          <a:xfrm>
            <a:off x="777240" y="29260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Selection before testing</a:t>
            </a:r>
            <a:endParaRPr lang="en-US" sz="1700" dirty="0"/>
          </a:p>
        </p:txBody>
      </p:sp>
      <p:sp>
        <p:nvSpPr>
          <p:cNvPr id="12" name="Text 10"/>
          <p:cNvSpPr txBox="1"/>
          <p:nvPr/>
        </p:nvSpPr>
        <p:spPr>
          <a:xfrm>
            <a:off x="777240" y="3429000"/>
            <a:ext cx="5010912" cy="640080"/>
          </a:xfrm>
          <a:prstGeom prst="rect">
            <a:avLst/>
          </a:prstGeom>
          <a:noFill/>
          <a:ln/>
        </p:spPr>
        <p:txBody>
          <a:bodyPr wrap="square" lIns="0" tIns="0" rIns="0" bIns="0" rtlCol="0" anchor="t"/>
          <a:lstStyle/>
          <a:p>
            <a:pPr indent="0" marL="0">
              <a:buNone/>
            </a:pPr>
            <a:r>
              <a:rPr lang="en-US" sz="1400" dirty="0">
                <a:solidFill>
                  <a:schemeClr val="tx2"/>
                </a:solidFill>
              </a:rPr>
              <a:t>Model and decision rule chosen on earlier data by rules fixed in advance; the test period is scored once, after freezing.</a:t>
            </a:r>
            <a:endParaRPr lang="en-US" sz="1400" dirty="0"/>
          </a:p>
        </p:txBody>
      </p:sp>
      <p:sp>
        <p:nvSpPr>
          <p:cNvPr id="13" name="Shape 11"/>
          <p:cNvSpPr/>
          <p:nvPr/>
        </p:nvSpPr>
        <p:spPr>
          <a:xfrm>
            <a:off x="6172200" y="2743200"/>
            <a:ext cx="5468112" cy="1463040"/>
          </a:xfrm>
          <a:prstGeom prst="roundRect">
            <a:avLst>
              <a:gd name="adj" fmla="val 6250"/>
            </a:avLst>
          </a:prstGeom>
          <a:solidFill>
            <a:schemeClr val="bg2"/>
          </a:solidFill>
          <a:ln w="12700">
            <a:solidFill>
              <a:schemeClr val="bg2"/>
            </a:solidFill>
            <a:prstDash val="solid"/>
          </a:ln>
        </p:spPr>
      </p:sp>
      <p:sp>
        <p:nvSpPr>
          <p:cNvPr id="14" name="Text 12"/>
          <p:cNvSpPr txBox="1"/>
          <p:nvPr/>
        </p:nvSpPr>
        <p:spPr>
          <a:xfrm>
            <a:off x="6400800" y="29260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Out-of-sample checks</a:t>
            </a:r>
            <a:endParaRPr lang="en-US" sz="1700" dirty="0"/>
          </a:p>
        </p:txBody>
      </p:sp>
      <p:sp>
        <p:nvSpPr>
          <p:cNvPr id="15" name="Text 13"/>
          <p:cNvSpPr txBox="1"/>
          <p:nvPr/>
        </p:nvSpPr>
        <p:spPr>
          <a:xfrm>
            <a:off x="6400800" y="3429000"/>
            <a:ext cx="5010912" cy="640080"/>
          </a:xfrm>
          <a:prstGeom prst="rect">
            <a:avLst/>
          </a:prstGeom>
          <a:noFill/>
          <a:ln/>
        </p:spPr>
        <p:txBody>
          <a:bodyPr wrap="square" lIns="0" tIns="0" rIns="0" bIns="0" rtlCol="0" anchor="t"/>
          <a:lstStyle/>
          <a:p>
            <a:pPr indent="0" marL="0">
              <a:buNone/>
            </a:pPr>
            <a:r>
              <a:rPr lang="en-US" sz="1400" dirty="0">
                <a:solidFill>
                  <a:schemeClr val="tx2"/>
                </a:solidFill>
              </a:rPr>
              <a:t>12-year walk-forward (yearly refits, 2013–2024) and a 2025–26 holdout.</a:t>
            </a:r>
            <a:endParaRPr lang="en-US" sz="1400" dirty="0"/>
          </a:p>
        </p:txBody>
      </p:sp>
      <p:sp>
        <p:nvSpPr>
          <p:cNvPr id="16" name="Shape 14"/>
          <p:cNvSpPr/>
          <p:nvPr/>
        </p:nvSpPr>
        <p:spPr>
          <a:xfrm>
            <a:off x="548640" y="4343400"/>
            <a:ext cx="5468112" cy="1463040"/>
          </a:xfrm>
          <a:prstGeom prst="roundRect">
            <a:avLst>
              <a:gd name="adj" fmla="val 6250"/>
            </a:avLst>
          </a:prstGeom>
          <a:solidFill>
            <a:schemeClr val="bg2"/>
          </a:solidFill>
          <a:ln w="12700">
            <a:solidFill>
              <a:schemeClr val="bg2"/>
            </a:solidFill>
            <a:prstDash val="solid"/>
          </a:ln>
        </p:spPr>
      </p:sp>
      <p:sp>
        <p:nvSpPr>
          <p:cNvPr id="17" name="Text 15"/>
          <p:cNvSpPr txBox="1"/>
          <p:nvPr/>
        </p:nvSpPr>
        <p:spPr>
          <a:xfrm>
            <a:off x="777240" y="45262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Leakage tests</a:t>
            </a:r>
            <a:endParaRPr lang="en-US" sz="1700" dirty="0"/>
          </a:p>
        </p:txBody>
      </p:sp>
      <p:sp>
        <p:nvSpPr>
          <p:cNvPr id="18" name="Text 16"/>
          <p:cNvSpPr txBox="1"/>
          <p:nvPr/>
        </p:nvSpPr>
        <p:spPr>
          <a:xfrm>
            <a:off x="777240" y="5029200"/>
            <a:ext cx="5010912" cy="640080"/>
          </a:xfrm>
          <a:prstGeom prst="rect">
            <a:avLst/>
          </a:prstGeom>
          <a:noFill/>
          <a:ln/>
        </p:spPr>
        <p:txBody>
          <a:bodyPr wrap="square" lIns="0" tIns="0" rIns="0" bIns="0" rtlCol="0" anchor="t"/>
          <a:lstStyle/>
          <a:p>
            <a:pPr indent="0" marL="0">
              <a:buNone/>
            </a:pPr>
            <a:r>
              <a:rPr lang="en-US" sz="1400" dirty="0">
                <a:solidFill>
                  <a:schemeClr val="tx2"/>
                </a:solidFill>
              </a:rPr>
              <a:t>51 automated tests: features, labels, splits and every refit are checked for use of future data.</a:t>
            </a:r>
            <a:endParaRPr lang="en-US" sz="1400" dirty="0"/>
          </a:p>
        </p:txBody>
      </p:sp>
      <p:sp>
        <p:nvSpPr>
          <p:cNvPr id="19" name="Shape 17"/>
          <p:cNvSpPr/>
          <p:nvPr/>
        </p:nvSpPr>
        <p:spPr>
          <a:xfrm>
            <a:off x="6172200" y="4343400"/>
            <a:ext cx="5468112" cy="1463040"/>
          </a:xfrm>
          <a:prstGeom prst="roundRect">
            <a:avLst>
              <a:gd name="adj" fmla="val 6250"/>
            </a:avLst>
          </a:prstGeom>
          <a:solidFill>
            <a:schemeClr val="bg2"/>
          </a:solidFill>
          <a:ln w="12700">
            <a:solidFill>
              <a:schemeClr val="bg2"/>
            </a:solidFill>
            <a:prstDash val="solid"/>
          </a:ln>
        </p:spPr>
      </p:sp>
      <p:sp>
        <p:nvSpPr>
          <p:cNvPr id="20" name="Text 18"/>
          <p:cNvSpPr txBox="1"/>
          <p:nvPr/>
        </p:nvSpPr>
        <p:spPr>
          <a:xfrm>
            <a:off x="6400800" y="45262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Written-down designs</a:t>
            </a:r>
            <a:endParaRPr lang="en-US" sz="1700" dirty="0"/>
          </a:p>
        </p:txBody>
      </p:sp>
      <p:sp>
        <p:nvSpPr>
          <p:cNvPr id="21" name="Text 19"/>
          <p:cNvSpPr txBox="1"/>
          <p:nvPr/>
        </p:nvSpPr>
        <p:spPr>
          <a:xfrm>
            <a:off x="6400800" y="5029200"/>
            <a:ext cx="5010912" cy="640080"/>
          </a:xfrm>
          <a:prstGeom prst="rect">
            <a:avLst/>
          </a:prstGeom>
          <a:noFill/>
          <a:ln/>
        </p:spPr>
        <p:txBody>
          <a:bodyPr wrap="square" lIns="0" tIns="0" rIns="0" bIns="0" rtlCol="0" anchor="t"/>
          <a:lstStyle/>
          <a:p>
            <a:pPr indent="0" marL="0">
              <a:buNone/>
            </a:pPr>
            <a:r>
              <a:rPr lang="en-US" sz="1400" dirty="0">
                <a:solidFill>
                  <a:schemeClr val="tx2"/>
                </a:solidFill>
              </a:rPr>
              <a:t>Each design was documented before it was run; later ones fingerprinted (SHA-256).</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 kept the results honest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1828800"/>
                <a:gridCol w="1737360"/>
                <a:gridCol w="3566160"/>
                <a:gridCol w="2130552"/>
              </a:tblGrid>
              <a:tr h="347472">
                <a:tc>
                  <a:txBody>
                    <a:bodyPr/>
                    <a:lstStyle/>
                    <a:p>
                      <a:pPr indent="0" marL="0">
                        <a:buNone/>
                      </a:pPr>
                      <a:r>
                        <a:rPr lang="en-US" sz="1200" b="1" dirty="0">
                          <a:solidFill>
                            <a:schemeClr val="bg1"/>
                          </a:solidFill>
                        </a:rPr>
                        <a:t>Data</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Period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Size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Used for</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Used to choose anything?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47472">
                <a:tc>
                  <a:txBody>
                    <a:bodyPr/>
                    <a:lstStyle/>
                    <a:p>
                      <a:pPr indent="0" marL="0">
                        <a:buNone/>
                      </a:pPr>
                      <a:r>
                        <a:rPr lang="en-US" sz="1200" dirty="0">
                          <a:solidFill>
                            <a:schemeClr val="tx2"/>
                          </a:solidFill>
                        </a:rPr>
                        <a:t>Training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2010 – 2020</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2,764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Fitting and tuning (5-fold time-series cross-validation)</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Yes — model settings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Validation / development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2021–22 · 2013–22</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498 days · 10 years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Choosing the decision rule (baseline · final)</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Yes — then frozen</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Test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2023 – 2024</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497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Scored once, after freezing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Walk-forward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2013 – 2024</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 yearly refits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Robustness across market conditions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 — reporting only</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Holdout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Jan 2025 – Oct 2026</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439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Later out-of-sample check</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Paper-trade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From 13 Oct 2026</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Live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The only fully blind test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94415" cy="914400"/>
        </p:xfrm>
        <a:graphic>
          <a:graphicData uri="http://schemas.openxmlformats.org/drawingml/2006/table">
            <a:tbl>
              <a:tblPr/>
              <a:tblGrid>
                <a:gridCol w="2468880"/>
                <a:gridCol w="4937760"/>
                <a:gridCol w="3685032"/>
              </a:tblGrid>
              <a:tr h="384048">
                <a:tc>
                  <a:txBody>
                    <a:bodyPr/>
                    <a:lstStyle/>
                    <a:p>
                      <a:pPr indent="0" marL="0">
                        <a:buNone/>
                      </a:pPr>
                      <a:r>
                        <a:rPr lang="en-US" sz="1200" b="1" dirty="0">
                          <a:solidFill>
                            <a:schemeClr val="bg1"/>
                          </a:solidFill>
                        </a:rPr>
                        <a:t>Model</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Key settings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Tuning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84048">
                <a:tc>
                  <a:txBody>
                    <a:bodyPr/>
                    <a:lstStyle/>
                    <a:p>
                      <a:pPr indent="0" marL="0">
                        <a:buNone/>
                      </a:pPr>
                      <a:r>
                        <a:rPr lang="en-US" sz="1200" dirty="0">
                          <a:solidFill>
                            <a:schemeClr val="tx2"/>
                          </a:solidFill>
                        </a:rPr>
                        <a:t>Baseline: random forest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300 trees · at least 68 days per leaf · balanced class weights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 random settings · 5-fold time-series CV · macro-F1</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200" dirty="0">
                          <a:solidFill>
                            <a:schemeClr val="tx2"/>
                          </a:solidFill>
                        </a:rPr>
                        <a:t>Final: gradient boosting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Depth 3 · 51 trees · at least 153 days per leaf · balanced weights, then probabilities corrected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 random settings · 5-fold time-series CV · log loss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Text 1"/>
          <p:cNvSpPr txBox="1"/>
          <p:nvPr/>
        </p:nvSpPr>
        <p:spPr>
          <a:xfrm>
            <a:off x="548640" y="5166360"/>
            <a:ext cx="11094415" cy="777240"/>
          </a:xfrm>
          <a:prstGeom prst="rect">
            <a:avLst/>
          </a:prstGeom>
          <a:noFill/>
          <a:ln/>
        </p:spPr>
        <p:txBody>
          <a:bodyPr wrap="square" lIns="0" tIns="0" rIns="0" bIns="0" rtlCol="0" anchor="t"/>
          <a:lstStyle/>
          <a:p>
            <a:pPr indent="0" marL="0">
              <a:buNone/>
            </a:pPr>
            <a:r>
              <a:rPr lang="en-US" sz="1300" b="1" dirty="0">
                <a:solidFill>
                  <a:schemeClr val="tx1"/>
                </a:solidFill>
              </a:rPr>
              <a:t>Safeguards: </a:t>
            </a:r>
            <a:pPr indent="0" marL="0">
              <a:buNone/>
            </a:pPr>
            <a:r>
              <a:rPr lang="en-US" sz="1300" dirty="0">
                <a:solidFill>
                  <a:schemeClr val="tx2"/>
                </a:solidFill>
              </a:rPr>
              <a:t>periods never overlap (5–6 day buffer at each boundary, also inside cross-validation); scaling and resampling fit on training folds only; selection rules written down before results; 51 automated tests check for any use of future data.</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Two models: baseline and final</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206240"/>
                <a:gridCol w="4873752"/>
              </a:tblGrid>
              <a:tr h="640080">
                <a:tc>
                  <a:txBody>
                    <a:bodyPr/>
                    <a:lstStyle/>
                    <a:p>
                      <a:pPr indent="0" marL="0">
                        <a:buNone/>
                      </a:pP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Baseline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2"/>
                          </a:solidFill>
                        </a:rPr>
                        <a:t>Question</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Which way will SPY move next week?</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Can we keep most of the market’s return while avoiding large losses?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Sell means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Next 5 days below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Next 5 days below −2% (a large loss)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Weekly decision</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 invested · Sell → cash · Hold → no change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Invested by default; cash for the week if P(large loss) ≥ 0.40</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Model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Random forest</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Gradient boosting, probabilities corrected for class weighting</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Chosen by</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Highest return per unit of risk (Sharpe) on 2021–22</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Target: ≥ 85% of the market’s return with the smallest drawdown, on a 2013–22 walk-forward</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44068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The baseline is v1 (by Peter Li), rebuilt for weekly decisions. Two intermediate versions are summarised on slide 15 and in the appendix.</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Classification performance</a:t>
            </a:r>
            <a:endParaRPr lang="en-US" sz="3000" dirty="0"/>
          </a:p>
        </p:txBody>
      </p:sp>
      <p:graphicFrame>
        <p:nvGraphicFramePr>
          <p:cNvPr id="3" name="Chart 0" descr=""/>
          <p:cNvGraphicFramePr/>
          <p:nvPr/>
        </p:nvGraphicFramePr>
        <p:xfrm>
          <a:off x="548640" y="1280160"/>
          <a:ext cx="566928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1371600"/>
          <a:ext cx="5148072" cy="914400"/>
        </p:xfrm>
        <a:graphic>
          <a:graphicData uri="http://schemas.openxmlformats.org/drawingml/2006/table">
            <a:tbl>
              <a:tblPr/>
              <a:tblGrid>
                <a:gridCol w="2404872"/>
                <a:gridCol w="1371600"/>
                <a:gridCol w="1371600"/>
              </a:tblGrid>
              <a:tr h="438912">
                <a:tc>
                  <a:txBody>
                    <a:bodyPr/>
                    <a:lstStyle/>
                    <a:p>
                      <a:pPr indent="0" marL="0">
                        <a:buNone/>
                      </a:pPr>
                      <a:r>
                        <a:rPr lang="en-US" sz="1400" b="1" dirty="0">
                          <a:solidFill>
                            <a:schemeClr val="bg1"/>
                          </a:solidFill>
                        </a:rPr>
                        <a:t>Test 2023–24</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Accuracy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Macro-F1</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38912">
                <a:tc>
                  <a:txBody>
                    <a:bodyPr/>
                    <a:lstStyle/>
                    <a:p>
                      <a:pPr indent="0" marL="0">
                        <a:buNone/>
                      </a:pPr>
                      <a:r>
                        <a:rPr lang="en-US" sz="1400" dirty="0">
                          <a:solidFill>
                            <a:schemeClr val="tx2"/>
                          </a:solidFill>
                        </a:rPr>
                        <a:t>Baseline · random forest</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44.9%</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0.41</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400" dirty="0">
                          <a:solidFill>
                            <a:schemeClr val="tx2"/>
                          </a:solidFill>
                        </a:rPr>
                        <a:t>Final · gradient boosting</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56.5%</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0.34</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400" dirty="0">
                          <a:solidFill>
                            <a:schemeClr val="tx2"/>
                          </a:solidFill>
                        </a:rPr>
                        <a:t>Random guess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 33%</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 0.32</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1"/>
          <p:cNvSpPr/>
          <p:nvPr/>
        </p:nvSpPr>
        <p:spPr>
          <a:xfrm>
            <a:off x="6492240" y="3337560"/>
            <a:ext cx="5148072" cy="2423160"/>
          </a:xfrm>
          <a:prstGeom prst="roundRect">
            <a:avLst>
              <a:gd name="adj" fmla="val 3774"/>
            </a:avLst>
          </a:prstGeom>
          <a:solidFill>
            <a:schemeClr val="bg2"/>
          </a:solidFill>
          <a:ln w="12700">
            <a:solidFill>
              <a:schemeClr val="bg2"/>
            </a:solidFill>
            <a:prstDash val="solid"/>
          </a:ln>
        </p:spPr>
      </p:sp>
      <p:sp>
        <p:nvSpPr>
          <p:cNvPr id="6" name="Text 2"/>
          <p:cNvSpPr txBox="1"/>
          <p:nvPr/>
        </p:nvSpPr>
        <p:spPr>
          <a:xfrm>
            <a:off x="6720840" y="3520440"/>
            <a:ext cx="46908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Skill is in the size of the move</a:t>
            </a:r>
            <a:endParaRPr lang="en-US" sz="1700" dirty="0"/>
          </a:p>
        </p:txBody>
      </p:sp>
      <p:sp>
        <p:nvSpPr>
          <p:cNvPr id="7" name="Text 3"/>
          <p:cNvSpPr txBox="1"/>
          <p:nvPr/>
        </p:nvSpPr>
        <p:spPr>
          <a:xfrm>
            <a:off x="6720840" y="4023360"/>
            <a:ext cx="4690872" cy="1600200"/>
          </a:xfrm>
          <a:prstGeom prst="rect">
            <a:avLst/>
          </a:prstGeom>
          <a:noFill/>
          <a:ln/>
        </p:spPr>
        <p:txBody>
          <a:bodyPr wrap="square" lIns="0" tIns="0" rIns="0" bIns="0" rtlCol="0" anchor="t"/>
          <a:lstStyle/>
          <a:p>
            <a:pPr indent="0" marL="0">
              <a:buNone/>
            </a:pPr>
            <a:r>
              <a:rPr lang="en-US" sz="1300" dirty="0">
                <a:solidFill>
                  <a:schemeClr val="tx2"/>
                </a:solidFill>
              </a:rPr>
              <a:t>Both models recognise quiet weeks better than chance but not direction. The final model’s accuracy is higher because large losses are rare; it rarely predicts Sell outright — its signal is the probability, which rises after turbulent weeks.</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Result: final tracks the market, baseline falls behind</a:t>
            </a:r>
            <a:endParaRPr lang="en-US" sz="3000" dirty="0"/>
          </a:p>
        </p:txBody>
      </p:sp>
      <p:graphicFrame>
        <p:nvGraphicFramePr>
          <p:cNvPr id="3" name="Chart 0" descr=""/>
          <p:cNvGraphicFramePr/>
          <p:nvPr/>
        </p:nvGraphicFramePr>
        <p:xfrm>
          <a:off x="548640" y="1280160"/>
          <a:ext cx="76809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554480"/>
            <a:ext cx="3136392" cy="54864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$499,271</a:t>
            </a:r>
            <a:endParaRPr lang="en-US" sz="2800" dirty="0"/>
          </a:p>
        </p:txBody>
      </p:sp>
      <p:sp>
        <p:nvSpPr>
          <p:cNvPr id="5" name="Text 2"/>
          <p:cNvSpPr txBox="1"/>
          <p:nvPr/>
        </p:nvSpPr>
        <p:spPr>
          <a:xfrm>
            <a:off x="8503920" y="2121408"/>
            <a:ext cx="3136392" cy="411480"/>
          </a:xfrm>
          <a:prstGeom prst="rect">
            <a:avLst/>
          </a:prstGeom>
          <a:noFill/>
          <a:ln/>
        </p:spPr>
        <p:txBody>
          <a:bodyPr wrap="square" lIns="0" tIns="0" rIns="0" bIns="0" rtlCol="0" anchor="t"/>
          <a:lstStyle/>
          <a:p>
            <a:pPr indent="0" marL="0">
              <a:buNone/>
            </a:pPr>
            <a:r>
              <a:rPr lang="en-US" sz="1300" dirty="0">
                <a:solidFill>
                  <a:schemeClr val="tx2"/>
                </a:solidFill>
              </a:rPr>
              <a:t>Buy &amp; Hold</a:t>
            </a:r>
            <a:endParaRPr lang="en-US" sz="1300" dirty="0"/>
          </a:p>
        </p:txBody>
      </p:sp>
      <p:sp>
        <p:nvSpPr>
          <p:cNvPr id="6" name="Text 3"/>
          <p:cNvSpPr txBox="1"/>
          <p:nvPr/>
        </p:nvSpPr>
        <p:spPr>
          <a:xfrm>
            <a:off x="8503920" y="2926080"/>
            <a:ext cx="3136392"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$488,154</a:t>
            </a:r>
            <a:endParaRPr lang="en-US" sz="2800" dirty="0"/>
          </a:p>
        </p:txBody>
      </p:sp>
      <p:sp>
        <p:nvSpPr>
          <p:cNvPr id="7" name="Text 4"/>
          <p:cNvSpPr txBox="1"/>
          <p:nvPr/>
        </p:nvSpPr>
        <p:spPr>
          <a:xfrm>
            <a:off x="8503920" y="3493008"/>
            <a:ext cx="3136392" cy="411480"/>
          </a:xfrm>
          <a:prstGeom prst="rect">
            <a:avLst/>
          </a:prstGeom>
          <a:noFill/>
          <a:ln/>
        </p:spPr>
        <p:txBody>
          <a:bodyPr wrap="square" lIns="0" tIns="0" rIns="0" bIns="0" rtlCol="0" anchor="t"/>
          <a:lstStyle/>
          <a:p>
            <a:pPr indent="0" marL="0">
              <a:buNone/>
            </a:pPr>
            <a:r>
              <a:rPr lang="en-US" sz="1300" dirty="0">
                <a:solidFill>
                  <a:schemeClr val="tx2"/>
                </a:solidFill>
              </a:rPr>
              <a:t>Final — 2 exits in 12 years</a:t>
            </a:r>
            <a:endParaRPr lang="en-US" sz="1300" dirty="0"/>
          </a:p>
        </p:txBody>
      </p:sp>
      <p:sp>
        <p:nvSpPr>
          <p:cNvPr id="8" name="Text 5"/>
          <p:cNvSpPr txBox="1"/>
          <p:nvPr/>
        </p:nvSpPr>
        <p:spPr>
          <a:xfrm>
            <a:off x="8503920" y="4297680"/>
            <a:ext cx="3136392" cy="548640"/>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$164,406</a:t>
            </a:r>
            <a:endParaRPr lang="en-US" sz="2800" dirty="0"/>
          </a:p>
        </p:txBody>
      </p:sp>
      <p:sp>
        <p:nvSpPr>
          <p:cNvPr id="9" name="Text 6"/>
          <p:cNvSpPr txBox="1"/>
          <p:nvPr/>
        </p:nvSpPr>
        <p:spPr>
          <a:xfrm>
            <a:off x="8503920" y="4864608"/>
            <a:ext cx="3136392" cy="411480"/>
          </a:xfrm>
          <a:prstGeom prst="rect">
            <a:avLst/>
          </a:prstGeom>
          <a:noFill/>
          <a:ln/>
        </p:spPr>
        <p:txBody>
          <a:bodyPr wrap="square" lIns="0" tIns="0" rIns="0" bIns="0" rtlCol="0" anchor="t"/>
          <a:lstStyle/>
          <a:p>
            <a:pPr indent="0" marL="0">
              <a:buNone/>
            </a:pPr>
            <a:r>
              <a:rPr lang="en-US" sz="1300" dirty="0">
                <a:solidFill>
                  <a:schemeClr val="tx2"/>
                </a:solidFill>
              </a:rPr>
              <a:t>Baseline — invested 62%</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Return and risk in every period</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286000"/>
                <a:gridCol w="1554480"/>
                <a:gridCol w="1554480"/>
                <a:gridCol w="1463040"/>
                <a:gridCol w="1463040"/>
                <a:gridCol w="1097280"/>
                <a:gridCol w="1673352"/>
              </a:tblGrid>
              <a:tr h="365760">
                <a:tc>
                  <a:txBody>
                    <a:bodyPr/>
                    <a:lstStyle/>
                    <a:p>
                      <a:pPr indent="0" marL="0">
                        <a:buNone/>
                      </a:pPr>
                      <a:r>
                        <a:rPr lang="en-US" sz="1300" b="1" dirty="0">
                          <a:solidFill>
                            <a:schemeClr val="bg1"/>
                          </a:solidFill>
                        </a:rPr>
                        <a:t>Period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Strategy</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 value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Annual return</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Max drawdown</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Sharpe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Time invested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2"/>
                          </a:solidFill>
                        </a:rPr>
                        <a:t>Test 2023–24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25.2%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$126,864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0.76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60%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25.2%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Walk-forward 2013–24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-33.7%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$164,406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-23.9%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0.28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62%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$488,154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-33.7%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0.79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Holdout 2025–26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$134,410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$129,743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74%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$139,986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21.0%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0.99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$100,000; 0.10% fee + 0.05% slippage per side; cash earns the 13-week T-bill rate; Sharpe measured above the T-bill rate.</a:t>
            </a:r>
            <a:endParaRPr lang="en-US" sz="1200" dirty="0"/>
          </a:p>
        </p:txBody>
      </p:sp>
      <p:sp>
        <p:nvSpPr>
          <p:cNvPr id="5" name="Text 2"/>
          <p:cNvSpPr txBox="1"/>
          <p:nvPr/>
        </p:nvSpPr>
        <p:spPr>
          <a:xfrm>
            <a:off x="548640" y="5440680"/>
            <a:ext cx="11094415" cy="457200"/>
          </a:xfrm>
          <a:prstGeom prst="rect">
            <a:avLst/>
          </a:prstGeom>
          <a:noFill/>
          <a:ln/>
        </p:spPr>
        <p:txBody>
          <a:bodyPr wrap="square" lIns="0" tIns="0" rIns="0" bIns="0" rtlCol="0" anchor="t"/>
          <a:lstStyle/>
          <a:p>
            <a:pPr indent="0" marL="0">
              <a:buNone/>
            </a:pPr>
            <a:r>
              <a:rPr lang="en-US" sz="1300" dirty="0">
                <a:solidFill>
                  <a:schemeClr val="tx1"/>
                </a:solidFill>
              </a:rPr>
              <a:t>Baseline vs 1,000 random-timing strategies with the same exposure: beat 27% (2023–24), 6% (2013–24), 75% (2025–26) — no consistent timing skill.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Final model: less drawdown costs return</a:t>
            </a:r>
            <a:endParaRPr lang="en-US" sz="3000" dirty="0"/>
          </a:p>
        </p:txBody>
      </p:sp>
      <p:sp>
        <p:nvSpPr>
          <p:cNvPr id="3" name="Text 1"/>
          <p:cNvSpPr txBox="1"/>
          <p:nvPr/>
        </p:nvSpPr>
        <p:spPr>
          <a:xfrm>
            <a:off x="548640" y="1280160"/>
            <a:ext cx="6583680" cy="320040"/>
          </a:xfrm>
          <a:prstGeom prst="rect">
            <a:avLst/>
          </a:prstGeom>
          <a:noFill/>
          <a:ln/>
        </p:spPr>
        <p:txBody>
          <a:bodyPr wrap="square" lIns="0" tIns="0" rIns="0" bIns="0" rtlCol="0" anchor="t"/>
          <a:lstStyle/>
          <a:p>
            <a:pPr indent="0" marL="0">
              <a:buNone/>
            </a:pPr>
            <a:r>
              <a:rPr lang="en-US" sz="1400" b="1" dirty="0">
                <a:solidFill>
                  <a:schemeClr val="tx1"/>
                </a:solidFill>
              </a:rPr>
              <a:t>Development walk-forward 2013–2022: candidate decision thresholds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583680" cy="914400"/>
        </p:xfrm>
        <a:graphic>
          <a:graphicData uri="http://schemas.openxmlformats.org/drawingml/2006/table">
            <a:tbl>
              <a:tblPr/>
              <a:tblGrid>
                <a:gridCol w="3291840"/>
                <a:gridCol w="1097280"/>
                <a:gridCol w="1097280"/>
                <a:gridCol w="1097280"/>
              </a:tblGrid>
              <a:tr h="411480">
                <a:tc>
                  <a:txBody>
                    <a:bodyPr/>
                    <a:lstStyle/>
                    <a:p>
                      <a:pPr indent="0" marL="0">
                        <a:buNone/>
                      </a:pPr>
                      <a:r>
                        <a:rPr lang="en-US" sz="1200" b="1" dirty="0">
                          <a:solidFill>
                            <a:schemeClr val="bg1"/>
                          </a:solidFill>
                        </a:rPr>
                        <a:t>Candidate</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Annual return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Share of market</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Max drawdown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11480">
                <a:tc>
                  <a:txBody>
                    <a:bodyPr/>
                    <a:lstStyle/>
                    <a:p>
                      <a:pPr indent="0" marL="0">
                        <a:buNone/>
                      </a:pPr>
                      <a:r>
                        <a:rPr lang="en-US" sz="1200" dirty="0">
                          <a:solidFill>
                            <a:schemeClr val="tx2"/>
                          </a:solidFill>
                        </a:rPr>
                        <a:t>Buy &amp; Hold</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12.2%</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100%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-33.7%</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Random forest, exit at P ≥ 0.20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8.9%</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72%</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-21.5%</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Gradient boosting, exit at P ≥ 0.30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9.8%</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80%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-29.5%</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Gradient boosting, exit at P ≥ 0.40 (chosen)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98%</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-33.7%</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2"/>
          <p:cNvSpPr/>
          <p:nvPr/>
        </p:nvSpPr>
        <p:spPr>
          <a:xfrm>
            <a:off x="7406640" y="1325880"/>
            <a:ext cx="4233672" cy="2377440"/>
          </a:xfrm>
          <a:prstGeom prst="roundRect">
            <a:avLst>
              <a:gd name="adj" fmla="val 3846"/>
            </a:avLst>
          </a:prstGeom>
          <a:solidFill>
            <a:srgbClr val="FBEDE4"/>
          </a:solidFill>
          <a:ln w="12700">
            <a:solidFill>
              <a:srgbClr val="FBEDE4"/>
            </a:solidFill>
            <a:prstDash val="solid"/>
          </a:ln>
        </p:spPr>
      </p:sp>
      <p:sp>
        <p:nvSpPr>
          <p:cNvPr id="6" name="Text 3"/>
          <p:cNvSpPr txBox="1"/>
          <p:nvPr/>
        </p:nvSpPr>
        <p:spPr>
          <a:xfrm>
            <a:off x="7635240" y="1508760"/>
            <a:ext cx="37764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trade-off</a:t>
            </a:r>
            <a:endParaRPr lang="en-US" sz="1700" dirty="0"/>
          </a:p>
        </p:txBody>
      </p:sp>
      <p:sp>
        <p:nvSpPr>
          <p:cNvPr id="7" name="Text 4"/>
          <p:cNvSpPr txBox="1"/>
          <p:nvPr/>
        </p:nvSpPr>
        <p:spPr>
          <a:xfrm>
            <a:off x="7635240" y="2011680"/>
            <a:ext cx="3776472" cy="1554480"/>
          </a:xfrm>
          <a:prstGeom prst="rect">
            <a:avLst/>
          </a:prstGeom>
          <a:noFill/>
          <a:ln/>
        </p:spPr>
        <p:txBody>
          <a:bodyPr wrap="square" lIns="0" tIns="0" rIns="0" bIns="0" rtlCol="0" anchor="t"/>
          <a:lstStyle/>
          <a:p>
            <a:pPr indent="0" marL="0">
              <a:buNone/>
            </a:pPr>
            <a:r>
              <a:rPr lang="en-US" sz="1300" dirty="0">
                <a:solidFill>
                  <a:schemeClr val="tx2"/>
                </a:solidFill>
              </a:rPr>
              <a:t>Cutting the worst fall by about a third (−34% → −21%) cost about 28% of the return. No candidate met both targets, so the rule chose the one that kept most of the return.</a:t>
            </a:r>
            <a:endParaRPr lang="en-US" sz="1300" dirty="0"/>
          </a:p>
        </p:txBody>
      </p:sp>
      <p:sp>
        <p:nvSpPr>
          <p:cNvPr id="8" name="Shape 5"/>
          <p:cNvSpPr/>
          <p:nvPr/>
        </p:nvSpPr>
        <p:spPr>
          <a:xfrm>
            <a:off x="7406640" y="3886200"/>
            <a:ext cx="4233672" cy="2011680"/>
          </a:xfrm>
          <a:prstGeom prst="roundRect">
            <a:avLst>
              <a:gd name="adj" fmla="val 4545"/>
            </a:avLst>
          </a:prstGeom>
          <a:solidFill>
            <a:schemeClr val="bg2"/>
          </a:solidFill>
          <a:ln w="12700">
            <a:solidFill>
              <a:schemeClr val="bg2"/>
            </a:solidFill>
            <a:prstDash val="solid"/>
          </a:ln>
        </p:spPr>
      </p:sp>
      <p:sp>
        <p:nvSpPr>
          <p:cNvPr id="9" name="Text 6"/>
          <p:cNvSpPr txBox="1"/>
          <p:nvPr/>
        </p:nvSpPr>
        <p:spPr>
          <a:xfrm>
            <a:off x="7635240" y="4069080"/>
            <a:ext cx="37764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Exits after crashes only</a:t>
            </a:r>
            <a:endParaRPr lang="en-US" sz="1700" dirty="0"/>
          </a:p>
        </p:txBody>
      </p:sp>
      <p:sp>
        <p:nvSpPr>
          <p:cNvPr id="10" name="Text 7"/>
          <p:cNvSpPr txBox="1"/>
          <p:nvPr/>
        </p:nvSpPr>
        <p:spPr>
          <a:xfrm>
            <a:off x="7635240" y="4572000"/>
            <a:ext cx="3776472" cy="1188720"/>
          </a:xfrm>
          <a:prstGeom prst="rect">
            <a:avLst/>
          </a:prstGeom>
          <a:noFill/>
          <a:ln/>
        </p:spPr>
        <p:txBody>
          <a:bodyPr wrap="square" lIns="0" tIns="0" rIns="0" bIns="0" rtlCol="0" anchor="t"/>
          <a:lstStyle/>
          <a:p>
            <a:pPr indent="0" marL="0">
              <a:buNone/>
            </a:pPr>
            <a:r>
              <a:rPr lang="en-US" sz="1300" dirty="0">
                <a:solidFill>
                  <a:schemeClr val="tx2"/>
                </a:solidFill>
              </a:rPr>
              <a:t>April 2020: out for a week that rose 2.0%. April 2025: out for a week that fell 4.2% (holdout gain). It reacts to volatility, not direction.</a:t>
            </a:r>
            <a:endParaRPr lang="en-US" sz="1300" dirty="0"/>
          </a:p>
        </p:txBody>
      </p:sp>
      <p:sp>
        <p:nvSpPr>
          <p:cNvPr id="11" name="Text 8"/>
          <p:cNvSpPr txBox="1"/>
          <p:nvPr/>
        </p:nvSpPr>
        <p:spPr>
          <a:xfrm>
            <a:off x="548640" y="420624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Lower-threshold variants exit more often and cut drawdown further, but give up more return.</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the baseline underperformed</a:t>
            </a:r>
            <a:endParaRPr lang="en-US" sz="3000" dirty="0"/>
          </a:p>
        </p:txBody>
      </p:sp>
      <p:sp>
        <p:nvSpPr>
          <p:cNvPr id="3" name="Shape 1"/>
          <p:cNvSpPr/>
          <p:nvPr/>
        </p:nvSpPr>
        <p:spPr>
          <a:xfrm>
            <a:off x="548640" y="1371600"/>
            <a:ext cx="5468112"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77724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directional skill</a:t>
            </a:r>
            <a:endParaRPr lang="en-US" sz="1800" dirty="0"/>
          </a:p>
        </p:txBody>
      </p:sp>
      <p:sp>
        <p:nvSpPr>
          <p:cNvPr id="5" name="Text 3"/>
          <p:cNvSpPr txBox="1"/>
          <p:nvPr/>
        </p:nvSpPr>
        <p:spPr>
          <a:xfrm>
            <a:off x="777240" y="2057400"/>
            <a:ext cx="5010912" cy="1280160"/>
          </a:xfrm>
          <a:prstGeom prst="rect">
            <a:avLst/>
          </a:prstGeom>
          <a:noFill/>
          <a:ln/>
        </p:spPr>
        <p:txBody>
          <a:bodyPr wrap="square" lIns="0" tIns="0" rIns="0" bIns="0" rtlCol="0" anchor="t"/>
          <a:lstStyle/>
          <a:p>
            <a:pPr indent="0" marL="0">
              <a:buNone/>
            </a:pPr>
            <a:r>
              <a:rPr lang="en-US" sz="1400" dirty="0">
                <a:solidFill>
                  <a:schemeClr val="tx2"/>
                </a:solidFill>
              </a:rPr>
              <a:t>Days spent in cash returned as much as days invested (original v1: +0.10% vs +0.09% per day). Leaving the market gave up the upward drift.</a:t>
            </a:r>
            <a:endParaRPr lang="en-US" sz="1400" dirty="0"/>
          </a:p>
        </p:txBody>
      </p:sp>
      <p:sp>
        <p:nvSpPr>
          <p:cNvPr id="6" name="Shape 4"/>
          <p:cNvSpPr/>
          <p:nvPr/>
        </p:nvSpPr>
        <p:spPr>
          <a:xfrm>
            <a:off x="6172200" y="1371600"/>
            <a:ext cx="5468112"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Selection on a short, unusual period</a:t>
            </a:r>
            <a:endParaRPr lang="en-US" sz="1800" dirty="0"/>
          </a:p>
        </p:txBody>
      </p:sp>
      <p:sp>
        <p:nvSpPr>
          <p:cNvPr id="8" name="Text 6"/>
          <p:cNvSpPr txBox="1"/>
          <p:nvPr/>
        </p:nvSpPr>
        <p:spPr>
          <a:xfrm>
            <a:off x="6400800" y="2057400"/>
            <a:ext cx="5010912" cy="1280160"/>
          </a:xfrm>
          <a:prstGeom prst="rect">
            <a:avLst/>
          </a:prstGeom>
          <a:noFill/>
          <a:ln/>
        </p:spPr>
        <p:txBody>
          <a:bodyPr wrap="square" lIns="0" tIns="0" rIns="0" bIns="0" rtlCol="0" anchor="t"/>
          <a:lstStyle/>
          <a:p>
            <a:pPr indent="0" marL="0">
              <a:buNone/>
            </a:pPr>
            <a:r>
              <a:rPr lang="en-US" sz="1400" dirty="0">
                <a:solidFill>
                  <a:schemeClr val="tx2"/>
                </a:solidFill>
              </a:rPr>
              <a:t>2021–22 included a bear market; the rule chosen there was defensive and missed much of the 2023–24 rally.</a:t>
            </a:r>
            <a:endParaRPr lang="en-US" sz="1400" dirty="0"/>
          </a:p>
        </p:txBody>
      </p:sp>
      <p:sp>
        <p:nvSpPr>
          <p:cNvPr id="9" name="Shape 7"/>
          <p:cNvSpPr/>
          <p:nvPr/>
        </p:nvSpPr>
        <p:spPr>
          <a:xfrm>
            <a:off x="548640" y="3657600"/>
            <a:ext cx="5468112"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77724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Out of the market too often</a:t>
            </a:r>
            <a:endParaRPr lang="en-US" sz="1800" dirty="0"/>
          </a:p>
        </p:txBody>
      </p:sp>
      <p:sp>
        <p:nvSpPr>
          <p:cNvPr id="11" name="Text 9"/>
          <p:cNvSpPr txBox="1"/>
          <p:nvPr/>
        </p:nvSpPr>
        <p:spPr>
          <a:xfrm>
            <a:off x="777240" y="4343400"/>
            <a:ext cx="5010912" cy="1280160"/>
          </a:xfrm>
          <a:prstGeom prst="rect">
            <a:avLst/>
          </a:prstGeom>
          <a:noFill/>
          <a:ln/>
        </p:spPr>
        <p:txBody>
          <a:bodyPr wrap="square" lIns="0" tIns="0" rIns="0" bIns="0" rtlCol="0" anchor="t"/>
          <a:lstStyle/>
          <a:p>
            <a:pPr indent="0" marL="0">
              <a:buNone/>
            </a:pPr>
            <a:r>
              <a:rPr lang="en-US" sz="1400" dirty="0">
                <a:solidFill>
                  <a:schemeClr val="tx2"/>
                </a:solidFill>
              </a:rPr>
              <a:t>Invested 62% of the time over 12 years, without better timing than chance.</a:t>
            </a:r>
            <a:endParaRPr lang="en-US" sz="1400" dirty="0"/>
          </a:p>
        </p:txBody>
      </p:sp>
      <p:sp>
        <p:nvSpPr>
          <p:cNvPr id="12" name="Shape 10"/>
          <p:cNvSpPr/>
          <p:nvPr/>
        </p:nvSpPr>
        <p:spPr>
          <a:xfrm>
            <a:off x="6172200" y="3657600"/>
            <a:ext cx="5468112" cy="2103120"/>
          </a:xfrm>
          <a:prstGeom prst="roundRect">
            <a:avLst>
              <a:gd name="adj" fmla="val 4348"/>
            </a:avLst>
          </a:prstGeom>
          <a:solidFill>
            <a:schemeClr val="bg2"/>
          </a:solidFill>
          <a:ln w="12700">
            <a:solidFill>
              <a:schemeClr val="bg2"/>
            </a:solidFill>
            <a:prstDash val="solid"/>
          </a:ln>
        </p:spPr>
      </p:sp>
      <p:sp>
        <p:nvSpPr>
          <p:cNvPr id="13" name="Text 11"/>
          <p:cNvSpPr txBox="1"/>
          <p:nvPr/>
        </p:nvSpPr>
        <p:spPr>
          <a:xfrm>
            <a:off x="640080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Costs — secondary</a:t>
            </a:r>
            <a:endParaRPr lang="en-US" sz="1800" dirty="0"/>
          </a:p>
        </p:txBody>
      </p:sp>
      <p:sp>
        <p:nvSpPr>
          <p:cNvPr id="14" name="Text 12"/>
          <p:cNvSpPr txBox="1"/>
          <p:nvPr/>
        </p:nvSpPr>
        <p:spPr>
          <a:xfrm>
            <a:off x="6400800" y="4343400"/>
            <a:ext cx="5010912" cy="1280160"/>
          </a:xfrm>
          <a:prstGeom prst="rect">
            <a:avLst/>
          </a:prstGeom>
          <a:noFill/>
          <a:ln/>
        </p:spPr>
        <p:txBody>
          <a:bodyPr wrap="square" lIns="0" tIns="0" rIns="0" bIns="0" rtlCol="0" anchor="t"/>
          <a:lstStyle/>
          <a:p>
            <a:pPr indent="0" marL="0">
              <a:buNone/>
            </a:pPr>
            <a:r>
              <a:rPr lang="en-US" sz="1400" dirty="0">
                <a:solidFill>
                  <a:schemeClr val="tx2"/>
                </a:solidFill>
              </a:rPr>
              <a:t>Weekly decisions kept costs to about $2,554 over 2023–24; the shortfall was mainly timing.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Along the way: two intermediate versions</a:t>
            </a:r>
            <a:endParaRPr lang="en-US" sz="3000" dirty="0"/>
          </a:p>
        </p:txBody>
      </p:sp>
      <p:graphicFrame>
        <p:nvGraphicFramePr>
          <p:cNvPr id="3" name="Chart 0" descr=""/>
          <p:cNvGraphicFramePr/>
          <p:nvPr/>
        </p:nvGraphicFramePr>
        <p:xfrm>
          <a:off x="548640" y="128016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371600"/>
            <a:ext cx="4782312" cy="2148840"/>
          </a:xfrm>
          <a:prstGeom prst="roundRect">
            <a:avLst>
              <a:gd name="adj" fmla="val 4255"/>
            </a:avLst>
          </a:prstGeom>
          <a:solidFill>
            <a:schemeClr val="bg2"/>
          </a:solidFill>
          <a:ln w="12700">
            <a:solidFill>
              <a:schemeClr val="bg2"/>
            </a:solidFill>
            <a:prstDash val="solid"/>
          </a:ln>
        </p:spPr>
      </p:sp>
      <p:sp>
        <p:nvSpPr>
          <p:cNvPr id="5" name="Text 2"/>
          <p:cNvSpPr txBox="1"/>
          <p:nvPr/>
        </p:nvSpPr>
        <p:spPr>
          <a:xfrm>
            <a:off x="7086600" y="1554480"/>
            <a:ext cx="432511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Intermediate 1: use all three probabilities</a:t>
            </a:r>
            <a:endParaRPr lang="en-US" sz="1700" dirty="0"/>
          </a:p>
        </p:txBody>
      </p:sp>
      <p:sp>
        <p:nvSpPr>
          <p:cNvPr id="6" name="Text 3"/>
          <p:cNvSpPr txBox="1"/>
          <p:nvPr/>
        </p:nvSpPr>
        <p:spPr>
          <a:xfrm>
            <a:off x="7086600" y="2209800"/>
            <a:ext cx="4325112" cy="1173480"/>
          </a:xfrm>
          <a:prstGeom prst="rect">
            <a:avLst/>
          </a:prstGeom>
          <a:noFill/>
          <a:ln/>
        </p:spPr>
        <p:txBody>
          <a:bodyPr wrap="square" lIns="0" tIns="0" rIns="0" bIns="0" rtlCol="0" anchor="t"/>
          <a:lstStyle/>
          <a:p>
            <a:pPr indent="0" marL="0">
              <a:buNone/>
            </a:pPr>
            <a:r>
              <a:rPr lang="en-US" sz="1300" dirty="0">
                <a:solidFill>
                  <a:schemeClr val="tx2"/>
                </a:solidFill>
              </a:rPr>
              <a:t>An expected-return rule that trades only when the expected gain beats costs. It sold too often: class weighting had inflated the Sell probability (30% vs 21%).</a:t>
            </a:r>
            <a:endParaRPr lang="en-US" sz="1300" dirty="0"/>
          </a:p>
        </p:txBody>
      </p:sp>
      <p:sp>
        <p:nvSpPr>
          <p:cNvPr id="7" name="Shape 4"/>
          <p:cNvSpPr/>
          <p:nvPr/>
        </p:nvSpPr>
        <p:spPr>
          <a:xfrm>
            <a:off x="6858000" y="3703320"/>
            <a:ext cx="4782312" cy="2148840"/>
          </a:xfrm>
          <a:prstGeom prst="roundRect">
            <a:avLst>
              <a:gd name="adj" fmla="val 4255"/>
            </a:avLst>
          </a:prstGeom>
          <a:solidFill>
            <a:srgbClr val="FBEDE4"/>
          </a:solidFill>
          <a:ln w="12700">
            <a:solidFill>
              <a:srgbClr val="FBEDE4"/>
            </a:solidFill>
            <a:prstDash val="solid"/>
          </a:ln>
        </p:spPr>
      </p:sp>
      <p:sp>
        <p:nvSpPr>
          <p:cNvPr id="8" name="Text 5"/>
          <p:cNvSpPr txBox="1"/>
          <p:nvPr/>
        </p:nvSpPr>
        <p:spPr>
          <a:xfrm>
            <a:off x="7086600" y="3886200"/>
            <a:ext cx="432511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Intermediate 2: correct the probabilities</a:t>
            </a:r>
            <a:endParaRPr lang="en-US" sz="1700" dirty="0"/>
          </a:p>
        </p:txBody>
      </p:sp>
      <p:sp>
        <p:nvSpPr>
          <p:cNvPr id="9" name="Text 6"/>
          <p:cNvSpPr txBox="1"/>
          <p:nvPr/>
        </p:nvSpPr>
        <p:spPr>
          <a:xfrm>
            <a:off x="7086600" y="4541520"/>
            <a:ext cx="4325112" cy="1173480"/>
          </a:xfrm>
          <a:prstGeom prst="rect">
            <a:avLst/>
          </a:prstGeom>
          <a:noFill/>
          <a:ln/>
        </p:spPr>
        <p:txBody>
          <a:bodyPr wrap="square" lIns="0" tIns="0" rIns="0" bIns="0" rtlCol="0" anchor="t"/>
          <a:lstStyle/>
          <a:p>
            <a:pPr indent="0" marL="0">
              <a:buNone/>
            </a:pPr>
            <a:r>
              <a:rPr lang="en-US" sz="1300" dirty="0">
                <a:solidFill>
                  <a:schemeClr val="tx2"/>
                </a:solidFill>
              </a:rPr>
              <a:t>Fixed on average, not year by year. With honest odds the expected gain never justified a trade — leading to the final model’s different question.</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 limitation of machine learning, or of the question?</a:t>
            </a:r>
            <a:endParaRPr lang="en-US" sz="3000" dirty="0"/>
          </a:p>
        </p:txBody>
      </p:sp>
      <p:sp>
        <p:nvSpPr>
          <p:cNvPr id="3" name="Shape 1"/>
          <p:cNvSpPr/>
          <p:nvPr/>
        </p:nvSpPr>
        <p:spPr>
          <a:xfrm>
            <a:off x="548640" y="1371600"/>
            <a:ext cx="11094415" cy="987552"/>
          </a:xfrm>
          <a:prstGeom prst="roundRect">
            <a:avLst>
              <a:gd name="adj" fmla="val 9259"/>
            </a:avLst>
          </a:prstGeom>
          <a:solidFill>
            <a:srgbClr val="FBEDE4"/>
          </a:solidFill>
          <a:ln w="12700">
            <a:solidFill>
              <a:srgbClr val="FBEDE4"/>
            </a:solidFill>
            <a:prstDash val="solid"/>
          </a:ln>
        </p:spPr>
      </p:sp>
      <p:sp>
        <p:nvSpPr>
          <p:cNvPr id="4" name="Text 2"/>
          <p:cNvSpPr txBox="1"/>
          <p:nvPr/>
        </p:nvSpPr>
        <p:spPr>
          <a:xfrm>
            <a:off x="822960" y="1371600"/>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Mainly the question</a:t>
            </a:r>
            <a:endParaRPr lang="en-US" sz="1700" dirty="0"/>
          </a:p>
        </p:txBody>
      </p:sp>
      <p:sp>
        <p:nvSpPr>
          <p:cNvPr id="5" name="Text 3"/>
          <p:cNvSpPr txBox="1"/>
          <p:nvPr/>
        </p:nvSpPr>
        <p:spPr>
          <a:xfrm>
            <a:off x="4114800" y="1371600"/>
            <a:ext cx="7299655" cy="987552"/>
          </a:xfrm>
          <a:prstGeom prst="rect">
            <a:avLst/>
          </a:prstGeom>
          <a:noFill/>
          <a:ln/>
        </p:spPr>
        <p:txBody>
          <a:bodyPr wrap="square" lIns="0" tIns="0" rIns="0" bIns="0" rtlCol="0" anchor="ctr"/>
          <a:lstStyle/>
          <a:p>
            <a:pPr indent="0" marL="0">
              <a:buNone/>
            </a:pPr>
            <a:r>
              <a:rPr lang="en-US" sz="1400" dirty="0">
                <a:solidFill>
                  <a:schemeClr val="tx2"/>
                </a:solidFill>
              </a:rPr>
              <a:t>Next week’s direction for the most-traded fund in the world, from its own public price history. Persistent patterns there are competed away.</a:t>
            </a:r>
            <a:endParaRPr lang="en-US" sz="1400" dirty="0"/>
          </a:p>
        </p:txBody>
      </p:sp>
      <p:sp>
        <p:nvSpPr>
          <p:cNvPr id="6" name="Shape 4"/>
          <p:cNvSpPr/>
          <p:nvPr/>
        </p:nvSpPr>
        <p:spPr>
          <a:xfrm>
            <a:off x="548640" y="2487168"/>
            <a:ext cx="11094415" cy="987552"/>
          </a:xfrm>
          <a:prstGeom prst="roundRect">
            <a:avLst>
              <a:gd name="adj" fmla="val 9259"/>
            </a:avLst>
          </a:prstGeom>
          <a:solidFill>
            <a:schemeClr val="bg2"/>
          </a:solidFill>
          <a:ln w="12700">
            <a:solidFill>
              <a:schemeClr val="bg2"/>
            </a:solidFill>
            <a:prstDash val="solid"/>
          </a:ln>
        </p:spPr>
      </p:sp>
      <p:sp>
        <p:nvSpPr>
          <p:cNvPr id="7" name="Text 5"/>
          <p:cNvSpPr txBox="1"/>
          <p:nvPr/>
        </p:nvSpPr>
        <p:spPr>
          <a:xfrm>
            <a:off x="822960" y="2487168"/>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Asking a better one helps</a:t>
            </a:r>
            <a:endParaRPr lang="en-US" sz="1700" dirty="0"/>
          </a:p>
        </p:txBody>
      </p:sp>
      <p:sp>
        <p:nvSpPr>
          <p:cNvPr id="8" name="Text 6"/>
          <p:cNvSpPr txBox="1"/>
          <p:nvPr/>
        </p:nvSpPr>
        <p:spPr>
          <a:xfrm>
            <a:off x="4114800" y="2487168"/>
            <a:ext cx="7299655" cy="987552"/>
          </a:xfrm>
          <a:prstGeom prst="rect">
            <a:avLst/>
          </a:prstGeom>
          <a:noFill/>
          <a:ln/>
        </p:spPr>
        <p:txBody>
          <a:bodyPr wrap="square" lIns="0" tIns="0" rIns="0" bIns="0" rtlCol="0" anchor="ctr"/>
          <a:lstStyle/>
          <a:p>
            <a:pPr indent="0" marL="0">
              <a:buNone/>
            </a:pPr>
            <a:r>
              <a:rPr lang="en-US" sz="1400" dirty="0">
                <a:solidFill>
                  <a:schemeClr val="tx2"/>
                </a:solidFill>
              </a:rPr>
              <a:t>The final model’s question — avoid large losses — fits what the data can predict, and it tracked the market. But less drawdown still cost return.</a:t>
            </a:r>
            <a:endParaRPr lang="en-US" sz="1400" dirty="0"/>
          </a:p>
        </p:txBody>
      </p:sp>
      <p:sp>
        <p:nvSpPr>
          <p:cNvPr id="9" name="Shape 7"/>
          <p:cNvSpPr/>
          <p:nvPr/>
        </p:nvSpPr>
        <p:spPr>
          <a:xfrm>
            <a:off x="548640" y="3602736"/>
            <a:ext cx="11094415" cy="987552"/>
          </a:xfrm>
          <a:prstGeom prst="roundRect">
            <a:avLst>
              <a:gd name="adj" fmla="val 9259"/>
            </a:avLst>
          </a:prstGeom>
          <a:solidFill>
            <a:schemeClr val="bg2"/>
          </a:solidFill>
          <a:ln w="12700">
            <a:solidFill>
              <a:schemeClr val="bg2"/>
            </a:solidFill>
            <a:prstDash val="solid"/>
          </a:ln>
        </p:spPr>
      </p:sp>
      <p:sp>
        <p:nvSpPr>
          <p:cNvPr id="10" name="Text 8"/>
          <p:cNvSpPr txBox="1"/>
          <p:nvPr/>
        </p:nvSpPr>
        <p:spPr>
          <a:xfrm>
            <a:off x="822960" y="3602736"/>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Where ML adds value</a:t>
            </a:r>
            <a:endParaRPr lang="en-US" sz="1700" dirty="0"/>
          </a:p>
        </p:txBody>
      </p:sp>
      <p:sp>
        <p:nvSpPr>
          <p:cNvPr id="11" name="Text 9"/>
          <p:cNvSpPr txBox="1"/>
          <p:nvPr/>
        </p:nvSpPr>
        <p:spPr>
          <a:xfrm>
            <a:off x="4114800" y="3602736"/>
            <a:ext cx="7299655" cy="987552"/>
          </a:xfrm>
          <a:prstGeom prst="rect">
            <a:avLst/>
          </a:prstGeom>
          <a:noFill/>
          <a:ln/>
        </p:spPr>
        <p:txBody>
          <a:bodyPr wrap="square" lIns="0" tIns="0" rIns="0" bIns="0" rtlCol="0" anchor="ctr"/>
          <a:lstStyle/>
          <a:p>
            <a:pPr indent="0" marL="0">
              <a:buNone/>
            </a:pPr>
            <a:r>
              <a:rPr lang="en-US" sz="1400" dirty="0">
                <a:solidFill>
                  <a:schemeClr val="tx2"/>
                </a:solidFill>
              </a:rPr>
              <a:t>Ranking many assets, forecasting risk for position sizing, and using non-public data — usually with small edges after costs.</a:t>
            </a:r>
            <a:endParaRPr lang="en-US" sz="1400" dirty="0"/>
          </a:p>
        </p:txBody>
      </p:sp>
      <p:sp>
        <p:nvSpPr>
          <p:cNvPr id="12" name="Shape 10"/>
          <p:cNvSpPr/>
          <p:nvPr/>
        </p:nvSpPr>
        <p:spPr>
          <a:xfrm>
            <a:off x="548640" y="4718304"/>
            <a:ext cx="11094415" cy="987552"/>
          </a:xfrm>
          <a:prstGeom prst="roundRect">
            <a:avLst>
              <a:gd name="adj" fmla="val 9259"/>
            </a:avLst>
          </a:prstGeom>
          <a:solidFill>
            <a:schemeClr val="bg2"/>
          </a:solidFill>
          <a:ln w="12700">
            <a:solidFill>
              <a:schemeClr val="bg2"/>
            </a:solidFill>
            <a:prstDash val="solid"/>
          </a:ln>
        </p:spPr>
      </p:sp>
      <p:sp>
        <p:nvSpPr>
          <p:cNvPr id="13" name="Text 11"/>
          <p:cNvSpPr txBox="1"/>
          <p:nvPr/>
        </p:nvSpPr>
        <p:spPr>
          <a:xfrm>
            <a:off x="822960" y="4718304"/>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right benchmark</a:t>
            </a:r>
            <a:endParaRPr lang="en-US" sz="1700" dirty="0"/>
          </a:p>
        </p:txBody>
      </p:sp>
      <p:sp>
        <p:nvSpPr>
          <p:cNvPr id="14" name="Text 12"/>
          <p:cNvSpPr txBox="1"/>
          <p:nvPr/>
        </p:nvSpPr>
        <p:spPr>
          <a:xfrm>
            <a:off x="4114800" y="4718304"/>
            <a:ext cx="7299655" cy="987552"/>
          </a:xfrm>
          <a:prstGeom prst="rect">
            <a:avLst/>
          </a:prstGeom>
          <a:noFill/>
          <a:ln/>
        </p:spPr>
        <p:txBody>
          <a:bodyPr wrap="square" lIns="0" tIns="0" rIns="0" bIns="0" rtlCol="0" anchor="ctr"/>
          <a:lstStyle/>
          <a:p>
            <a:pPr indent="0" marL="0">
              <a:buNone/>
            </a:pPr>
            <a:r>
              <a:rPr lang="en-US" sz="1400" dirty="0">
                <a:solidFill>
                  <a:schemeClr val="tx2"/>
                </a:solidFill>
              </a:rPr>
              <a:t>Return per unit of risk, drawdown, and performance against random timing — not only final value.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Safeguards and limitations</a:t>
            </a:r>
            <a:endParaRPr lang="en-US" sz="3000" dirty="0"/>
          </a:p>
        </p:txBody>
      </p:sp>
      <p:sp>
        <p:nvSpPr>
          <p:cNvPr id="3" name="Shape 1"/>
          <p:cNvSpPr/>
          <p:nvPr/>
        </p:nvSpPr>
        <p:spPr>
          <a:xfrm>
            <a:off x="548640" y="1371600"/>
            <a:ext cx="5468112" cy="4480560"/>
          </a:xfrm>
          <a:prstGeom prst="roundRect">
            <a:avLst>
              <a:gd name="adj" fmla="val 2041"/>
            </a:avLst>
          </a:prstGeom>
          <a:solidFill>
            <a:schemeClr val="bg2"/>
          </a:solidFill>
          <a:ln w="12700">
            <a:solidFill>
              <a:schemeClr val="bg2"/>
            </a:solidFill>
            <a:prstDash val="solid"/>
          </a:ln>
        </p:spPr>
      </p:sp>
      <p:sp>
        <p:nvSpPr>
          <p:cNvPr id="4" name="Text 2"/>
          <p:cNvSpPr txBox="1"/>
          <p:nvPr/>
        </p:nvSpPr>
        <p:spPr>
          <a:xfrm>
            <a:off x="77724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Safeguards</a:t>
            </a:r>
            <a:endParaRPr lang="en-US" sz="1800" dirty="0"/>
          </a:p>
        </p:txBody>
      </p:sp>
      <p:sp>
        <p:nvSpPr>
          <p:cNvPr id="5" name="Text 3"/>
          <p:cNvSpPr txBox="1"/>
          <p:nvPr/>
        </p:nvSpPr>
        <p:spPr>
          <a:xfrm>
            <a:off x="777240" y="2057400"/>
            <a:ext cx="5010912" cy="3657600"/>
          </a:xfrm>
          <a:prstGeom prst="rect">
            <a:avLst/>
          </a:prstGeom>
          <a:noFill/>
          <a:ln/>
        </p:spPr>
        <p:txBody>
          <a:bodyPr wrap="square" lIns="0" tIns="0" rIns="0" bIns="0" rtlCol="0" anchor="t"/>
          <a:lstStyle/>
          <a:p>
            <a:pPr indent="0" marL="0">
              <a:buNone/>
            </a:pPr>
            <a:r>
              <a:rPr lang="en-US" sz="1400" dirty="0">
                <a:solidFill>
                  <a:schemeClr val="tx2"/>
                </a:solidFill>
              </a:rPr>
              <a:t>• Chronological splits with label-length buffers</a:t>
            </a:r>
            <a:endParaRPr lang="en-US" sz="1400" dirty="0"/>
          </a:p>
          <a:p>
            <a:pPr indent="0" marL="0">
              <a:buNone/>
            </a:pPr>
            <a:r>
              <a:rPr lang="en-US" sz="1400" dirty="0">
                <a:solidFill>
                  <a:schemeClr val="tx2"/>
                </a:solidFill>
              </a:rPr>
              <a:t>• Selection rules fixed before results; tests scored once per design</a:t>
            </a:r>
            <a:endParaRPr lang="en-US" sz="1400" dirty="0"/>
          </a:p>
          <a:p>
            <a:pPr indent="0" marL="0">
              <a:buNone/>
            </a:pPr>
            <a:r>
              <a:rPr lang="en-US" sz="1400" dirty="0">
                <a:solidFill>
                  <a:schemeClr val="tx2"/>
                </a:solidFill>
              </a:rPr>
              <a:t>• 51 automated leakage tests, run on every change</a:t>
            </a:r>
            <a:endParaRPr lang="en-US" sz="1400" dirty="0"/>
          </a:p>
          <a:p>
            <a:pPr indent="0" marL="0">
              <a:buNone/>
            </a:pPr>
            <a:r>
              <a:rPr lang="en-US" sz="1400" dirty="0">
                <a:solidFill>
                  <a:schemeClr val="tx2"/>
                </a:solidFill>
              </a:rPr>
              <a:t>• Costs, slippage and interest on cash included</a:t>
            </a:r>
            <a:endParaRPr lang="en-US" sz="1400" dirty="0"/>
          </a:p>
          <a:p>
            <a:pPr indent="0" marL="0">
              <a:buNone/>
            </a:pPr>
            <a:r>
              <a:rPr lang="en-US" sz="1400" dirty="0">
                <a:solidFill>
                  <a:schemeClr val="tx2"/>
                </a:solidFill>
              </a:rPr>
              <a:t>• Risk metrics and a random-timing benchmark, not only final value</a:t>
            </a:r>
            <a:endParaRPr lang="en-US" sz="1400" dirty="0"/>
          </a:p>
        </p:txBody>
      </p:sp>
      <p:sp>
        <p:nvSpPr>
          <p:cNvPr id="6" name="Shape 4"/>
          <p:cNvSpPr/>
          <p:nvPr/>
        </p:nvSpPr>
        <p:spPr>
          <a:xfrm>
            <a:off x="6172200" y="1371600"/>
            <a:ext cx="5468112" cy="4480560"/>
          </a:xfrm>
          <a:prstGeom prst="roundRect">
            <a:avLst>
              <a:gd name="adj" fmla="val 2041"/>
            </a:avLst>
          </a:prstGeom>
          <a:solidFill>
            <a:srgbClr val="FBEDE4"/>
          </a:solidFill>
          <a:ln w="12700">
            <a:solidFill>
              <a:srgbClr val="FBEDE4"/>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Limitations</a:t>
            </a:r>
            <a:endParaRPr lang="en-US" sz="1800" dirty="0"/>
          </a:p>
        </p:txBody>
      </p:sp>
      <p:sp>
        <p:nvSpPr>
          <p:cNvPr id="8" name="Text 6"/>
          <p:cNvSpPr txBox="1"/>
          <p:nvPr/>
        </p:nvSpPr>
        <p:spPr>
          <a:xfrm>
            <a:off x="6400800" y="2057400"/>
            <a:ext cx="5010912" cy="3657600"/>
          </a:xfrm>
          <a:prstGeom prst="rect">
            <a:avLst/>
          </a:prstGeom>
          <a:noFill/>
          <a:ln/>
        </p:spPr>
        <p:txBody>
          <a:bodyPr wrap="square" lIns="0" tIns="0" rIns="0" bIns="0" rtlCol="0" anchor="t"/>
          <a:lstStyle/>
          <a:p>
            <a:pPr indent="0" marL="0">
              <a:buNone/>
            </a:pPr>
            <a:r>
              <a:rPr lang="en-US" sz="1400" dirty="0">
                <a:solidFill>
                  <a:schemeClr val="tx2"/>
                </a:solidFill>
              </a:rPr>
              <a:t>• One asset and price-based features only</a:t>
            </a:r>
            <a:endParaRPr lang="en-US" sz="1400" dirty="0"/>
          </a:p>
          <a:p>
            <a:pPr indent="0" marL="0">
              <a:buNone/>
            </a:pPr>
            <a:r>
              <a:rPr lang="en-US" sz="1400" dirty="0">
                <a:solidFill>
                  <a:schemeClr val="tx2"/>
                </a:solidFill>
              </a:rPr>
              <a:t>• All-in or all-out positions</a:t>
            </a:r>
            <a:endParaRPr lang="en-US" sz="1400" dirty="0"/>
          </a:p>
          <a:p>
            <a:pPr indent="0" marL="0">
              <a:buNone/>
            </a:pPr>
            <a:r>
              <a:rPr lang="en-US" sz="1400" dirty="0">
                <a:solidFill>
                  <a:schemeClr val="tx2"/>
                </a:solidFill>
              </a:rPr>
              <a:t>• The final model and the 2025–26 holdout came after earlier test results were known; a forward paper-trade from 13 Oct 2026 is the only blind test</a:t>
            </a:r>
            <a:endParaRPr lang="en-US" sz="1400" dirty="0"/>
          </a:p>
          <a:p>
            <a:pPr indent="0" marL="0">
              <a:buNone/>
            </a:pPr>
            <a:r>
              <a:rPr lang="en-US" sz="1400" dirty="0">
                <a:solidFill>
                  <a:schemeClr val="tx2"/>
                </a:solidFill>
              </a:rPr>
              <a:t>• The final model exited only twice, too few to separate skill from luck</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Conclusions</a:t>
            </a:r>
            <a:endParaRPr lang="en-US" sz="3000" dirty="0"/>
          </a:p>
        </p:txBody>
      </p:sp>
      <p:sp>
        <p:nvSpPr>
          <p:cNvPr id="3" name="Shape 1"/>
          <p:cNvSpPr/>
          <p:nvPr/>
        </p:nvSpPr>
        <p:spPr>
          <a:xfrm>
            <a:off x="548640" y="1371600"/>
            <a:ext cx="5468112"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777240" y="1554480"/>
            <a:ext cx="501091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Predictable size, unpredictable direction</a:t>
            </a:r>
            <a:endParaRPr lang="en-US" sz="1800" dirty="0"/>
          </a:p>
        </p:txBody>
      </p:sp>
      <p:sp>
        <p:nvSpPr>
          <p:cNvPr id="5" name="Text 3"/>
          <p:cNvSpPr txBox="1"/>
          <p:nvPr/>
        </p:nvSpPr>
        <p:spPr>
          <a:xfrm>
            <a:off x="777240" y="2240280"/>
            <a:ext cx="5010912" cy="1097280"/>
          </a:xfrm>
          <a:prstGeom prst="rect">
            <a:avLst/>
          </a:prstGeom>
          <a:noFill/>
          <a:ln/>
        </p:spPr>
        <p:txBody>
          <a:bodyPr wrap="square" lIns="0" tIns="0" rIns="0" bIns="0" rtlCol="0" anchor="t"/>
          <a:lstStyle/>
          <a:p>
            <a:pPr indent="0" marL="0">
              <a:buNone/>
            </a:pPr>
            <a:r>
              <a:rPr lang="en-US" sz="1500" dirty="0">
                <a:solidFill>
                  <a:schemeClr val="tx2"/>
                </a:solidFill>
              </a:rPr>
              <a:t>The models beat chance as classifiers, but their skill is in recognising turbulent or quiet weeks.</a:t>
            </a:r>
            <a:endParaRPr lang="en-US" sz="1500" dirty="0"/>
          </a:p>
        </p:txBody>
      </p:sp>
      <p:sp>
        <p:nvSpPr>
          <p:cNvPr id="6" name="Shape 4"/>
          <p:cNvSpPr/>
          <p:nvPr/>
        </p:nvSpPr>
        <p:spPr>
          <a:xfrm>
            <a:off x="6172200" y="1371600"/>
            <a:ext cx="5468112"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question matters</a:t>
            </a:r>
            <a:endParaRPr lang="en-US" sz="1800" dirty="0"/>
          </a:p>
        </p:txBody>
      </p:sp>
      <p:sp>
        <p:nvSpPr>
          <p:cNvPr id="8" name="Text 6"/>
          <p:cNvSpPr txBox="1"/>
          <p:nvPr/>
        </p:nvSpPr>
        <p:spPr>
          <a:xfrm>
            <a:off x="6400800" y="2057400"/>
            <a:ext cx="5010912" cy="1280160"/>
          </a:xfrm>
          <a:prstGeom prst="rect">
            <a:avLst/>
          </a:prstGeom>
          <a:noFill/>
          <a:ln/>
        </p:spPr>
        <p:txBody>
          <a:bodyPr wrap="square" lIns="0" tIns="0" rIns="0" bIns="0" rtlCol="0" anchor="t"/>
          <a:lstStyle/>
          <a:p>
            <a:pPr indent="0" marL="0">
              <a:buNone/>
            </a:pPr>
            <a:r>
              <a:rPr lang="en-US" sz="1500" dirty="0">
                <a:solidFill>
                  <a:schemeClr val="tx2"/>
                </a:solidFill>
              </a:rPr>
              <a:t>Timing direction (baseline) lost to buy-and-hold. Avoiding large losses (final) stayed close to it.</a:t>
            </a:r>
            <a:endParaRPr lang="en-US" sz="1500" dirty="0"/>
          </a:p>
        </p:txBody>
      </p:sp>
      <p:sp>
        <p:nvSpPr>
          <p:cNvPr id="9" name="Shape 7"/>
          <p:cNvSpPr/>
          <p:nvPr/>
        </p:nvSpPr>
        <p:spPr>
          <a:xfrm>
            <a:off x="548640" y="3657600"/>
            <a:ext cx="5468112"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77724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Less risk is not free</a:t>
            </a:r>
            <a:endParaRPr lang="en-US" sz="1800" dirty="0"/>
          </a:p>
        </p:txBody>
      </p:sp>
      <p:sp>
        <p:nvSpPr>
          <p:cNvPr id="11" name="Text 9"/>
          <p:cNvSpPr txBox="1"/>
          <p:nvPr/>
        </p:nvSpPr>
        <p:spPr>
          <a:xfrm>
            <a:off x="777240" y="4343400"/>
            <a:ext cx="5010912" cy="1280160"/>
          </a:xfrm>
          <a:prstGeom prst="rect">
            <a:avLst/>
          </a:prstGeom>
          <a:noFill/>
          <a:ln/>
        </p:spPr>
        <p:txBody>
          <a:bodyPr wrap="square" lIns="0" tIns="0" rIns="0" bIns="0" rtlCol="0" anchor="t"/>
          <a:lstStyle/>
          <a:p>
            <a:pPr indent="0" marL="0">
              <a:buNone/>
            </a:pPr>
            <a:r>
              <a:rPr lang="en-US" sz="1500" dirty="0">
                <a:solidFill>
                  <a:schemeClr val="tx2"/>
                </a:solidFill>
              </a:rPr>
              <a:t>Cutting the worst fall by a third cost about a quarter of the return with this model.</a:t>
            </a:r>
            <a:endParaRPr lang="en-US" sz="1500" dirty="0"/>
          </a:p>
        </p:txBody>
      </p:sp>
      <p:sp>
        <p:nvSpPr>
          <p:cNvPr id="12" name="Shape 10"/>
          <p:cNvSpPr/>
          <p:nvPr/>
        </p:nvSpPr>
        <p:spPr>
          <a:xfrm>
            <a:off x="6172200" y="3657600"/>
            <a:ext cx="5468112" cy="2103120"/>
          </a:xfrm>
          <a:prstGeom prst="roundRect">
            <a:avLst>
              <a:gd name="adj" fmla="val 4348"/>
            </a:avLst>
          </a:prstGeom>
          <a:solidFill>
            <a:schemeClr val="bg2"/>
          </a:solidFill>
          <a:ln w="12700">
            <a:solidFill>
              <a:schemeClr val="bg2"/>
            </a:solidFill>
            <a:prstDash val="solid"/>
          </a:ln>
        </p:spPr>
      </p:sp>
      <p:sp>
        <p:nvSpPr>
          <p:cNvPr id="13" name="Text 11"/>
          <p:cNvSpPr txBox="1"/>
          <p:nvPr/>
        </p:nvSpPr>
        <p:spPr>
          <a:xfrm>
            <a:off x="640080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Short validation periods mislead</a:t>
            </a:r>
            <a:endParaRPr lang="en-US" sz="1800" dirty="0"/>
          </a:p>
        </p:txBody>
      </p:sp>
      <p:sp>
        <p:nvSpPr>
          <p:cNvPr id="14" name="Text 12"/>
          <p:cNvSpPr txBox="1"/>
          <p:nvPr/>
        </p:nvSpPr>
        <p:spPr>
          <a:xfrm>
            <a:off x="6400800" y="4343400"/>
            <a:ext cx="5010912" cy="1280160"/>
          </a:xfrm>
          <a:prstGeom prst="rect">
            <a:avLst/>
          </a:prstGeom>
          <a:noFill/>
          <a:ln/>
        </p:spPr>
        <p:txBody>
          <a:bodyPr wrap="square" lIns="0" tIns="0" rIns="0" bIns="0" rtlCol="0" anchor="t"/>
          <a:lstStyle/>
          <a:p>
            <a:pPr indent="0" marL="0">
              <a:buNone/>
            </a:pPr>
            <a:r>
              <a:rPr lang="en-US" sz="1500" dirty="0">
                <a:solidFill>
                  <a:schemeClr val="tx2"/>
                </a:solidFill>
              </a:rPr>
              <a:t>A rule chosen on 2021–22 failed on 2023–24; the final model was chosen over ten years.</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4600" b="1" dirty="0">
                <a:solidFill>
                  <a:schemeClr val="bg1"/>
                </a:solidFill>
                <a:latin typeface="Cambria" pitchFamily="34" charset="0"/>
                <a:ea typeface="Cambria" pitchFamily="34" charset="-122"/>
                <a:cs typeface="Cambria" pitchFamily="34" charset="-120"/>
              </a:rPr>
              <a:t>Questions</a:t>
            </a:r>
            <a:endParaRPr lang="en-US" sz="46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000" dirty="0">
                <a:solidFill>
                  <a:schemeClr val="accent4"/>
                </a:solidFill>
              </a:rPr>
              <a:t>Code, notebooks, reports and tests: github.com/TKCH121/spy</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A · Every version tested (2023–24 and 2013–24)</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1280160"/>
                <a:gridCol w="2011680"/>
                <a:gridCol w="1645920"/>
                <a:gridCol w="2130552"/>
              </a:tblGrid>
              <a:tr h="411480">
                <a:tc>
                  <a:txBody>
                    <a:bodyPr/>
                    <a:lstStyle/>
                    <a:p>
                      <a:pPr indent="0" marL="0">
                        <a:buNone/>
                      </a:pPr>
                      <a:r>
                        <a:rPr lang="en-US" sz="1300" b="1" dirty="0">
                          <a:solidFill>
                            <a:schemeClr val="bg1"/>
                          </a:solidFill>
                        </a:rPr>
                        <a:t>Version</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Decisions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$100k → 2023–24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Max drawdown</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$100k → 2013–24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11480">
                <a:tc>
                  <a:txBody>
                    <a:bodyPr/>
                    <a:lstStyle/>
                    <a:p>
                      <a:pPr indent="0" marL="0">
                        <a:buNone/>
                      </a:pPr>
                      <a:r>
                        <a:rPr lang="en-US" sz="1300" dirty="0">
                          <a:solidFill>
                            <a:schemeClr val="tx2"/>
                          </a:solidFill>
                        </a:rPr>
                        <a:t>Buy &amp; Hold</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Baseline (v1)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$126,864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-9.7%</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$164,406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Intermediate 1 (v2): expected-return rule</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$110,453</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$140,013</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Intermediate 2 (v3): corrected probabilities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Final (v4): avoid large losses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$488,154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v1,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$129,069</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$212,585</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v2,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$121,812</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$179,977</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300" dirty="0">
                          <a:solidFill>
                            <a:schemeClr val="tx2"/>
                          </a:solidFill>
                        </a:rPr>
                        <a:t>v3,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2578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Cash earns T-bills in every row. Intermediate 1 stayed in cash for 2023–24; Intermediate 2 never sold. Full reports: outputs/weekly/report.md, outputs/v2, outputs/v3.</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B · Baseline confusion matrix, test 2023–24</a:t>
            </a:r>
            <a:endParaRPr lang="en-US" sz="3000" dirty="0"/>
          </a:p>
        </p:txBody>
      </p:sp>
      <p:sp>
        <p:nvSpPr>
          <p:cNvPr id="3" name="Text 1"/>
          <p:cNvSpPr txBox="1"/>
          <p:nvPr/>
        </p:nvSpPr>
        <p:spPr>
          <a:xfrm>
            <a:off x="310896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Sell</a:t>
            </a:r>
            <a:endParaRPr lang="en-US" sz="1300" dirty="0"/>
          </a:p>
        </p:txBody>
      </p:sp>
      <p:sp>
        <p:nvSpPr>
          <p:cNvPr id="4" name="Text 2"/>
          <p:cNvSpPr txBox="1"/>
          <p:nvPr/>
        </p:nvSpPr>
        <p:spPr>
          <a:xfrm>
            <a:off x="466344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Hold</a:t>
            </a:r>
            <a:endParaRPr lang="en-US" sz="1300" dirty="0"/>
          </a:p>
        </p:txBody>
      </p:sp>
      <p:sp>
        <p:nvSpPr>
          <p:cNvPr id="5" name="Text 3"/>
          <p:cNvSpPr txBox="1"/>
          <p:nvPr/>
        </p:nvSpPr>
        <p:spPr>
          <a:xfrm>
            <a:off x="621792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Buy</a:t>
            </a:r>
            <a:endParaRPr lang="en-US" sz="1300" dirty="0"/>
          </a:p>
        </p:txBody>
      </p:sp>
      <p:sp>
        <p:nvSpPr>
          <p:cNvPr id="6" name="Text 4"/>
          <p:cNvSpPr txBox="1"/>
          <p:nvPr/>
        </p:nvSpPr>
        <p:spPr>
          <a:xfrm>
            <a:off x="548640" y="17830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Sell (92)</a:t>
            </a:r>
            <a:endParaRPr lang="en-US" sz="1300" dirty="0"/>
          </a:p>
        </p:txBody>
      </p:sp>
      <p:sp>
        <p:nvSpPr>
          <p:cNvPr id="7" name="Shape 5"/>
          <p:cNvSpPr/>
          <p:nvPr/>
        </p:nvSpPr>
        <p:spPr>
          <a:xfrm>
            <a:off x="3108960" y="1783080"/>
            <a:ext cx="1499616" cy="859536"/>
          </a:xfrm>
          <a:prstGeom prst="rect">
            <a:avLst/>
          </a:prstGeom>
          <a:solidFill>
            <a:srgbClr val="F6D2BC"/>
          </a:solidFill>
          <a:ln w="12700">
            <a:solidFill>
              <a:srgbClr val="F6D2BC"/>
            </a:solidFill>
            <a:prstDash val="solid"/>
          </a:ln>
        </p:spPr>
      </p:sp>
      <p:sp>
        <p:nvSpPr>
          <p:cNvPr id="8" name="Text 6"/>
          <p:cNvSpPr txBox="1"/>
          <p:nvPr/>
        </p:nvSpPr>
        <p:spPr>
          <a:xfrm>
            <a:off x="310896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24</a:t>
            </a:r>
            <a:endParaRPr lang="en-US" sz="2200" dirty="0"/>
          </a:p>
        </p:txBody>
      </p:sp>
      <p:sp>
        <p:nvSpPr>
          <p:cNvPr id="9" name="Shape 7"/>
          <p:cNvSpPr/>
          <p:nvPr/>
        </p:nvSpPr>
        <p:spPr>
          <a:xfrm>
            <a:off x="4663440" y="1783080"/>
            <a:ext cx="1499616" cy="859536"/>
          </a:xfrm>
          <a:prstGeom prst="rect">
            <a:avLst/>
          </a:prstGeom>
          <a:solidFill>
            <a:srgbClr val="EEF1F6"/>
          </a:solidFill>
          <a:ln w="12700">
            <a:solidFill>
              <a:srgbClr val="EEF1F6"/>
            </a:solidFill>
            <a:prstDash val="solid"/>
          </a:ln>
        </p:spPr>
      </p:sp>
      <p:sp>
        <p:nvSpPr>
          <p:cNvPr id="10" name="Text 8"/>
          <p:cNvSpPr txBox="1"/>
          <p:nvPr/>
        </p:nvSpPr>
        <p:spPr>
          <a:xfrm>
            <a:off x="466344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29</a:t>
            </a:r>
            <a:endParaRPr lang="en-US" sz="2200" dirty="0"/>
          </a:p>
        </p:txBody>
      </p:sp>
      <p:sp>
        <p:nvSpPr>
          <p:cNvPr id="11" name="Shape 9"/>
          <p:cNvSpPr/>
          <p:nvPr/>
        </p:nvSpPr>
        <p:spPr>
          <a:xfrm>
            <a:off x="6217920" y="1783080"/>
            <a:ext cx="1499616" cy="859536"/>
          </a:xfrm>
          <a:prstGeom prst="rect">
            <a:avLst/>
          </a:prstGeom>
          <a:solidFill>
            <a:srgbClr val="D9E2F0"/>
          </a:solidFill>
          <a:ln w="12700">
            <a:solidFill>
              <a:srgbClr val="D9E2F0"/>
            </a:solidFill>
            <a:prstDash val="solid"/>
          </a:ln>
        </p:spPr>
      </p:sp>
      <p:sp>
        <p:nvSpPr>
          <p:cNvPr id="12" name="Text 10"/>
          <p:cNvSpPr txBox="1"/>
          <p:nvPr/>
        </p:nvSpPr>
        <p:spPr>
          <a:xfrm>
            <a:off x="621792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39</a:t>
            </a:r>
            <a:endParaRPr lang="en-US" sz="2200" dirty="0"/>
          </a:p>
        </p:txBody>
      </p:sp>
      <p:sp>
        <p:nvSpPr>
          <p:cNvPr id="13" name="Text 11"/>
          <p:cNvSpPr txBox="1"/>
          <p:nvPr/>
        </p:nvSpPr>
        <p:spPr>
          <a:xfrm>
            <a:off x="548640" y="26974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Hold (207)</a:t>
            </a:r>
            <a:endParaRPr lang="en-US" sz="1300" dirty="0"/>
          </a:p>
        </p:txBody>
      </p:sp>
      <p:sp>
        <p:nvSpPr>
          <p:cNvPr id="14" name="Shape 12"/>
          <p:cNvSpPr/>
          <p:nvPr/>
        </p:nvSpPr>
        <p:spPr>
          <a:xfrm>
            <a:off x="3108960" y="2697480"/>
            <a:ext cx="1499616" cy="859536"/>
          </a:xfrm>
          <a:prstGeom prst="rect">
            <a:avLst/>
          </a:prstGeom>
          <a:solidFill>
            <a:srgbClr val="EEF1F6"/>
          </a:solidFill>
          <a:ln w="12700">
            <a:solidFill>
              <a:srgbClr val="EEF1F6"/>
            </a:solidFill>
            <a:prstDash val="solid"/>
          </a:ln>
        </p:spPr>
      </p:sp>
      <p:sp>
        <p:nvSpPr>
          <p:cNvPr id="15" name="Text 13"/>
          <p:cNvSpPr txBox="1"/>
          <p:nvPr/>
        </p:nvSpPr>
        <p:spPr>
          <a:xfrm>
            <a:off x="3108960" y="26974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20</a:t>
            </a:r>
            <a:endParaRPr lang="en-US" sz="2200" dirty="0"/>
          </a:p>
        </p:txBody>
      </p:sp>
      <p:sp>
        <p:nvSpPr>
          <p:cNvPr id="16" name="Shape 14"/>
          <p:cNvSpPr/>
          <p:nvPr/>
        </p:nvSpPr>
        <p:spPr>
          <a:xfrm>
            <a:off x="4663440" y="2697480"/>
            <a:ext cx="1499616" cy="859536"/>
          </a:xfrm>
          <a:prstGeom prst="rect">
            <a:avLst/>
          </a:prstGeom>
          <a:solidFill>
            <a:srgbClr val="C8571B"/>
          </a:solidFill>
          <a:ln w="12700">
            <a:solidFill>
              <a:srgbClr val="C8571B"/>
            </a:solidFill>
            <a:prstDash val="solid"/>
          </a:ln>
        </p:spPr>
      </p:sp>
      <p:sp>
        <p:nvSpPr>
          <p:cNvPr id="17" name="Text 15"/>
          <p:cNvSpPr txBox="1"/>
          <p:nvPr/>
        </p:nvSpPr>
        <p:spPr>
          <a:xfrm>
            <a:off x="4663440" y="2697480"/>
            <a:ext cx="1499616" cy="859536"/>
          </a:xfrm>
          <a:prstGeom prst="rect">
            <a:avLst/>
          </a:prstGeom>
          <a:noFill/>
          <a:ln/>
        </p:spPr>
        <p:txBody>
          <a:bodyPr wrap="square" lIns="0" tIns="0" rIns="0" bIns="0" rtlCol="0" anchor="ctr"/>
          <a:lstStyle/>
          <a:p>
            <a:pPr algn="ctr" indent="0" marL="0">
              <a:buNone/>
            </a:pPr>
            <a:r>
              <a:rPr lang="en-US" sz="2200" b="1" dirty="0">
                <a:solidFill>
                  <a:schemeClr val="bg1"/>
                </a:solidFill>
              </a:rPr>
              <a:t>129</a:t>
            </a:r>
            <a:endParaRPr lang="en-US" sz="2200" dirty="0"/>
          </a:p>
        </p:txBody>
      </p:sp>
      <p:sp>
        <p:nvSpPr>
          <p:cNvPr id="18" name="Shape 16"/>
          <p:cNvSpPr/>
          <p:nvPr/>
        </p:nvSpPr>
        <p:spPr>
          <a:xfrm>
            <a:off x="6217920" y="2697480"/>
            <a:ext cx="1499616" cy="859536"/>
          </a:xfrm>
          <a:prstGeom prst="rect">
            <a:avLst/>
          </a:prstGeom>
          <a:solidFill>
            <a:srgbClr val="EEF1F6"/>
          </a:solidFill>
          <a:ln w="12700">
            <a:solidFill>
              <a:srgbClr val="EEF1F6"/>
            </a:solidFill>
            <a:prstDash val="solid"/>
          </a:ln>
        </p:spPr>
      </p:sp>
      <p:sp>
        <p:nvSpPr>
          <p:cNvPr id="19" name="Text 17"/>
          <p:cNvSpPr txBox="1"/>
          <p:nvPr/>
        </p:nvSpPr>
        <p:spPr>
          <a:xfrm>
            <a:off x="6217920" y="26974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58</a:t>
            </a:r>
            <a:endParaRPr lang="en-US" sz="2200" dirty="0"/>
          </a:p>
        </p:txBody>
      </p:sp>
      <p:sp>
        <p:nvSpPr>
          <p:cNvPr id="20" name="Text 18"/>
          <p:cNvSpPr txBox="1"/>
          <p:nvPr/>
        </p:nvSpPr>
        <p:spPr>
          <a:xfrm>
            <a:off x="548640" y="36118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Buy (198)</a:t>
            </a:r>
            <a:endParaRPr lang="en-US" sz="1300" dirty="0"/>
          </a:p>
        </p:txBody>
      </p:sp>
      <p:sp>
        <p:nvSpPr>
          <p:cNvPr id="21" name="Shape 19"/>
          <p:cNvSpPr/>
          <p:nvPr/>
        </p:nvSpPr>
        <p:spPr>
          <a:xfrm>
            <a:off x="3108960" y="3611880"/>
            <a:ext cx="1499616" cy="859536"/>
          </a:xfrm>
          <a:prstGeom prst="rect">
            <a:avLst/>
          </a:prstGeom>
          <a:solidFill>
            <a:srgbClr val="D9E2F0"/>
          </a:solidFill>
          <a:ln w="12700">
            <a:solidFill>
              <a:srgbClr val="D9E2F0"/>
            </a:solidFill>
            <a:prstDash val="solid"/>
          </a:ln>
        </p:spPr>
      </p:sp>
      <p:sp>
        <p:nvSpPr>
          <p:cNvPr id="22" name="Text 20"/>
          <p:cNvSpPr txBox="1"/>
          <p:nvPr/>
        </p:nvSpPr>
        <p:spPr>
          <a:xfrm>
            <a:off x="310896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56</a:t>
            </a:r>
            <a:endParaRPr lang="en-US" sz="2200" dirty="0"/>
          </a:p>
        </p:txBody>
      </p:sp>
      <p:sp>
        <p:nvSpPr>
          <p:cNvPr id="23" name="Shape 21"/>
          <p:cNvSpPr/>
          <p:nvPr/>
        </p:nvSpPr>
        <p:spPr>
          <a:xfrm>
            <a:off x="4663440" y="3611880"/>
            <a:ext cx="1499616" cy="859536"/>
          </a:xfrm>
          <a:prstGeom prst="rect">
            <a:avLst/>
          </a:prstGeom>
          <a:solidFill>
            <a:srgbClr val="EEF1F6"/>
          </a:solidFill>
          <a:ln w="12700">
            <a:solidFill>
              <a:srgbClr val="EEF1F6"/>
            </a:solidFill>
            <a:prstDash val="solid"/>
          </a:ln>
        </p:spPr>
      </p:sp>
      <p:sp>
        <p:nvSpPr>
          <p:cNvPr id="24" name="Text 22"/>
          <p:cNvSpPr txBox="1"/>
          <p:nvPr/>
        </p:nvSpPr>
        <p:spPr>
          <a:xfrm>
            <a:off x="466344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72</a:t>
            </a:r>
            <a:endParaRPr lang="en-US" sz="2200" dirty="0"/>
          </a:p>
        </p:txBody>
      </p:sp>
      <p:sp>
        <p:nvSpPr>
          <p:cNvPr id="25" name="Shape 23"/>
          <p:cNvSpPr/>
          <p:nvPr/>
        </p:nvSpPr>
        <p:spPr>
          <a:xfrm>
            <a:off x="6217920" y="3611880"/>
            <a:ext cx="1499616" cy="859536"/>
          </a:xfrm>
          <a:prstGeom prst="rect">
            <a:avLst/>
          </a:prstGeom>
          <a:solidFill>
            <a:srgbClr val="F6D2BC"/>
          </a:solidFill>
          <a:ln w="12700">
            <a:solidFill>
              <a:srgbClr val="F6D2BC"/>
            </a:solidFill>
            <a:prstDash val="solid"/>
          </a:ln>
        </p:spPr>
      </p:sp>
      <p:sp>
        <p:nvSpPr>
          <p:cNvPr id="26" name="Text 24"/>
          <p:cNvSpPr txBox="1"/>
          <p:nvPr/>
        </p:nvSpPr>
        <p:spPr>
          <a:xfrm>
            <a:off x="621792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70</a:t>
            </a:r>
            <a:endParaRPr lang="en-US" sz="2200" dirty="0"/>
          </a:p>
        </p:txBody>
      </p:sp>
      <p:sp>
        <p:nvSpPr>
          <p:cNvPr id="27" name="Shape 25"/>
          <p:cNvSpPr/>
          <p:nvPr/>
        </p:nvSpPr>
        <p:spPr>
          <a:xfrm>
            <a:off x="8138160" y="1371600"/>
            <a:ext cx="3502152" cy="2743200"/>
          </a:xfrm>
          <a:prstGeom prst="roundRect">
            <a:avLst>
              <a:gd name="adj" fmla="val 3333"/>
            </a:avLst>
          </a:prstGeom>
          <a:solidFill>
            <a:schemeClr val="bg2"/>
          </a:solidFill>
          <a:ln w="12700">
            <a:solidFill>
              <a:schemeClr val="bg2"/>
            </a:solidFill>
            <a:prstDash val="solid"/>
          </a:ln>
        </p:spPr>
      </p:sp>
      <p:sp>
        <p:nvSpPr>
          <p:cNvPr id="28" name="Text 26"/>
          <p:cNvSpPr txBox="1"/>
          <p:nvPr/>
        </p:nvSpPr>
        <p:spPr>
          <a:xfrm>
            <a:off x="8366760" y="1554480"/>
            <a:ext cx="304495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Reading</a:t>
            </a:r>
            <a:endParaRPr lang="en-US" sz="1700" dirty="0"/>
          </a:p>
        </p:txBody>
      </p:sp>
      <p:sp>
        <p:nvSpPr>
          <p:cNvPr id="29" name="Text 27"/>
          <p:cNvSpPr txBox="1"/>
          <p:nvPr/>
        </p:nvSpPr>
        <p:spPr>
          <a:xfrm>
            <a:off x="8366760" y="2057400"/>
            <a:ext cx="3044952" cy="1920240"/>
          </a:xfrm>
          <a:prstGeom prst="rect">
            <a:avLst/>
          </a:prstGeom>
          <a:noFill/>
          <a:ln/>
        </p:spPr>
        <p:txBody>
          <a:bodyPr wrap="square" lIns="0" tIns="0" rIns="0" bIns="0" rtlCol="0" anchor="t"/>
          <a:lstStyle/>
          <a:p>
            <a:pPr indent="0" marL="0">
              <a:buNone/>
            </a:pPr>
            <a:r>
              <a:rPr lang="en-US" sz="1300" dirty="0">
                <a:solidFill>
                  <a:schemeClr val="tx2"/>
                </a:solidFill>
              </a:rPr>
              <a:t>Hold weeks are recognised (62% recall). Of 92 Sell weeks, 39 were predicted Buy; of 198 Buy weeks, 56 were predicted Sell.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C · Feature correlations, training data 2010–2020</a:t>
            </a:r>
            <a:endParaRPr lang="en-US" sz="3000" dirty="0"/>
          </a:p>
        </p:txBody>
      </p:sp>
      <p:sp>
        <p:nvSpPr>
          <p:cNvPr id="3" name="Text 1"/>
          <p:cNvSpPr txBox="1"/>
          <p:nvPr/>
        </p:nvSpPr>
        <p:spPr>
          <a:xfrm>
            <a:off x="548640" y="1600200"/>
            <a:ext cx="1737360" cy="274320"/>
          </a:xfrm>
          <a:prstGeom prst="rect">
            <a:avLst/>
          </a:prstGeom>
          <a:noFill/>
          <a:ln/>
        </p:spPr>
        <p:txBody>
          <a:bodyPr wrap="square" lIns="0" tIns="0" rIns="0" bIns="0" rtlCol="0" anchor="ctr"/>
          <a:lstStyle/>
          <a:p>
            <a:pPr indent="0" marL="0">
              <a:buNone/>
            </a:pPr>
            <a:r>
              <a:rPr lang="en-US" sz="1000" dirty="0">
                <a:solidFill>
                  <a:schemeClr val="tx2"/>
                </a:solidFill>
              </a:rPr>
              <a:t>1  ret_1</a:t>
            </a:r>
            <a:endParaRPr lang="en-US" sz="1000" dirty="0"/>
          </a:p>
        </p:txBody>
      </p:sp>
      <p:sp>
        <p:nvSpPr>
          <p:cNvPr id="4" name="Text 2"/>
          <p:cNvSpPr txBox="1"/>
          <p:nvPr/>
        </p:nvSpPr>
        <p:spPr>
          <a:xfrm>
            <a:off x="23774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a:t>
            </a:r>
            <a:endParaRPr lang="en-US" sz="1000" dirty="0"/>
          </a:p>
        </p:txBody>
      </p:sp>
      <p:sp>
        <p:nvSpPr>
          <p:cNvPr id="5" name="Shape 3"/>
          <p:cNvSpPr/>
          <p:nvPr/>
        </p:nvSpPr>
        <p:spPr>
          <a:xfrm>
            <a:off x="2377440" y="1600200"/>
            <a:ext cx="274320" cy="274320"/>
          </a:xfrm>
          <a:prstGeom prst="rect">
            <a:avLst/>
          </a:prstGeom>
          <a:solidFill>
            <a:srgbClr val="C8571B"/>
          </a:solidFill>
          <a:ln w="6350">
            <a:solidFill>
              <a:srgbClr val="FFFFFF"/>
            </a:solidFill>
            <a:prstDash val="solid"/>
          </a:ln>
        </p:spPr>
      </p:sp>
      <p:sp>
        <p:nvSpPr>
          <p:cNvPr id="6" name="Shape 4"/>
          <p:cNvSpPr/>
          <p:nvPr/>
        </p:nvSpPr>
        <p:spPr>
          <a:xfrm>
            <a:off x="2651760" y="1600200"/>
            <a:ext cx="274320" cy="274320"/>
          </a:xfrm>
          <a:prstGeom prst="rect">
            <a:avLst/>
          </a:prstGeom>
          <a:solidFill>
            <a:srgbClr val="E8B89F"/>
          </a:solidFill>
          <a:ln w="6350">
            <a:solidFill>
              <a:srgbClr val="FFFFFF"/>
            </a:solidFill>
            <a:prstDash val="solid"/>
          </a:ln>
        </p:spPr>
      </p:sp>
      <p:sp>
        <p:nvSpPr>
          <p:cNvPr id="7" name="Shape 5"/>
          <p:cNvSpPr/>
          <p:nvPr/>
        </p:nvSpPr>
        <p:spPr>
          <a:xfrm>
            <a:off x="2926080" y="1600200"/>
            <a:ext cx="274320" cy="274320"/>
          </a:xfrm>
          <a:prstGeom prst="rect">
            <a:avLst/>
          </a:prstGeom>
          <a:solidFill>
            <a:srgbClr val="EECBB8"/>
          </a:solidFill>
          <a:ln w="6350">
            <a:solidFill>
              <a:srgbClr val="FFFFFF"/>
            </a:solidFill>
            <a:prstDash val="solid"/>
          </a:ln>
        </p:spPr>
      </p:sp>
      <p:sp>
        <p:nvSpPr>
          <p:cNvPr id="8" name="Shape 6"/>
          <p:cNvSpPr/>
          <p:nvPr/>
        </p:nvSpPr>
        <p:spPr>
          <a:xfrm>
            <a:off x="3200400" y="1600200"/>
            <a:ext cx="274320" cy="274320"/>
          </a:xfrm>
          <a:prstGeom prst="rect">
            <a:avLst/>
          </a:prstGeom>
          <a:solidFill>
            <a:srgbClr val="F4DDD1"/>
          </a:solidFill>
          <a:ln w="6350">
            <a:solidFill>
              <a:srgbClr val="FFFFFF"/>
            </a:solidFill>
            <a:prstDash val="solid"/>
          </a:ln>
        </p:spPr>
      </p:sp>
      <p:sp>
        <p:nvSpPr>
          <p:cNvPr id="9" name="Shape 7"/>
          <p:cNvSpPr/>
          <p:nvPr/>
        </p:nvSpPr>
        <p:spPr>
          <a:xfrm>
            <a:off x="3474720" y="1600200"/>
            <a:ext cx="274320" cy="274320"/>
          </a:xfrm>
          <a:prstGeom prst="rect">
            <a:avLst/>
          </a:prstGeom>
          <a:solidFill>
            <a:srgbClr val="EBC1AB"/>
          </a:solidFill>
          <a:ln w="6350">
            <a:solidFill>
              <a:srgbClr val="FFFFFF"/>
            </a:solidFill>
            <a:prstDash val="solid"/>
          </a:ln>
        </p:spPr>
      </p:sp>
      <p:sp>
        <p:nvSpPr>
          <p:cNvPr id="10" name="Shape 8"/>
          <p:cNvSpPr/>
          <p:nvPr/>
        </p:nvSpPr>
        <p:spPr>
          <a:xfrm>
            <a:off x="3749040" y="1600200"/>
            <a:ext cx="274320" cy="274320"/>
          </a:xfrm>
          <a:prstGeom prst="rect">
            <a:avLst/>
          </a:prstGeom>
          <a:solidFill>
            <a:srgbClr val="F2D8CB"/>
          </a:solidFill>
          <a:ln w="6350">
            <a:solidFill>
              <a:srgbClr val="FFFFFF"/>
            </a:solidFill>
            <a:prstDash val="solid"/>
          </a:ln>
        </p:spPr>
      </p:sp>
      <p:sp>
        <p:nvSpPr>
          <p:cNvPr id="11" name="Shape 9"/>
          <p:cNvSpPr/>
          <p:nvPr/>
        </p:nvSpPr>
        <p:spPr>
          <a:xfrm>
            <a:off x="4023360" y="1600200"/>
            <a:ext cx="274320" cy="274320"/>
          </a:xfrm>
          <a:prstGeom prst="rect">
            <a:avLst/>
          </a:prstGeom>
          <a:solidFill>
            <a:srgbClr val="F8EBE4"/>
          </a:solidFill>
          <a:ln w="6350">
            <a:solidFill>
              <a:srgbClr val="FFFFFF"/>
            </a:solidFill>
            <a:prstDash val="solid"/>
          </a:ln>
        </p:spPr>
      </p:sp>
      <p:sp>
        <p:nvSpPr>
          <p:cNvPr id="12" name="Shape 10"/>
          <p:cNvSpPr/>
          <p:nvPr/>
        </p:nvSpPr>
        <p:spPr>
          <a:xfrm>
            <a:off x="4297680" y="1600200"/>
            <a:ext cx="274320" cy="274320"/>
          </a:xfrm>
          <a:prstGeom prst="rect">
            <a:avLst/>
          </a:prstGeom>
          <a:solidFill>
            <a:srgbClr val="F9FAFC"/>
          </a:solidFill>
          <a:ln w="6350">
            <a:solidFill>
              <a:srgbClr val="FFFFFF"/>
            </a:solidFill>
            <a:prstDash val="solid"/>
          </a:ln>
        </p:spPr>
      </p:sp>
      <p:sp>
        <p:nvSpPr>
          <p:cNvPr id="13" name="Shape 11"/>
          <p:cNvSpPr/>
          <p:nvPr/>
        </p:nvSpPr>
        <p:spPr>
          <a:xfrm>
            <a:off x="4572000" y="1600200"/>
            <a:ext cx="274320" cy="274320"/>
          </a:xfrm>
          <a:prstGeom prst="rect">
            <a:avLst/>
          </a:prstGeom>
          <a:solidFill>
            <a:srgbClr val="EFCEBD"/>
          </a:solidFill>
          <a:ln w="6350">
            <a:solidFill>
              <a:srgbClr val="FFFFFF"/>
            </a:solidFill>
            <a:prstDash val="solid"/>
          </a:ln>
        </p:spPr>
      </p:sp>
      <p:sp>
        <p:nvSpPr>
          <p:cNvPr id="14" name="Shape 12"/>
          <p:cNvSpPr/>
          <p:nvPr/>
        </p:nvSpPr>
        <p:spPr>
          <a:xfrm>
            <a:off x="4846320" y="1600200"/>
            <a:ext cx="274320" cy="274320"/>
          </a:xfrm>
          <a:prstGeom prst="rect">
            <a:avLst/>
          </a:prstGeom>
          <a:solidFill>
            <a:srgbClr val="F5DFD4"/>
          </a:solidFill>
          <a:ln w="6350">
            <a:solidFill>
              <a:srgbClr val="FFFFFF"/>
            </a:solidFill>
            <a:prstDash val="solid"/>
          </a:ln>
        </p:spPr>
      </p:sp>
      <p:sp>
        <p:nvSpPr>
          <p:cNvPr id="15" name="Shape 13"/>
          <p:cNvSpPr/>
          <p:nvPr/>
        </p:nvSpPr>
        <p:spPr>
          <a:xfrm>
            <a:off x="5120640" y="1600200"/>
            <a:ext cx="274320" cy="274320"/>
          </a:xfrm>
          <a:prstGeom prst="rect">
            <a:avLst/>
          </a:prstGeom>
          <a:solidFill>
            <a:srgbClr val="EBC1AB"/>
          </a:solidFill>
          <a:ln w="6350">
            <a:solidFill>
              <a:srgbClr val="FFFFFF"/>
            </a:solidFill>
            <a:prstDash val="solid"/>
          </a:ln>
        </p:spPr>
      </p:sp>
      <p:sp>
        <p:nvSpPr>
          <p:cNvPr id="16" name="Shape 14"/>
          <p:cNvSpPr/>
          <p:nvPr/>
        </p:nvSpPr>
        <p:spPr>
          <a:xfrm>
            <a:off x="5394960" y="1600200"/>
            <a:ext cx="274320" cy="274320"/>
          </a:xfrm>
          <a:prstGeom prst="rect">
            <a:avLst/>
          </a:prstGeom>
          <a:solidFill>
            <a:srgbClr val="FEFDFD"/>
          </a:solidFill>
          <a:ln w="6350">
            <a:solidFill>
              <a:srgbClr val="FFFFFF"/>
            </a:solidFill>
            <a:prstDash val="solid"/>
          </a:ln>
        </p:spPr>
      </p:sp>
      <p:sp>
        <p:nvSpPr>
          <p:cNvPr id="17" name="Shape 15"/>
          <p:cNvSpPr/>
          <p:nvPr/>
        </p:nvSpPr>
        <p:spPr>
          <a:xfrm>
            <a:off x="5669280" y="1600200"/>
            <a:ext cx="274320" cy="274320"/>
          </a:xfrm>
          <a:prstGeom prst="rect">
            <a:avLst/>
          </a:prstGeom>
          <a:solidFill>
            <a:srgbClr val="FEFCFA"/>
          </a:solidFill>
          <a:ln w="6350">
            <a:solidFill>
              <a:srgbClr val="FFFFFF"/>
            </a:solidFill>
            <a:prstDash val="solid"/>
          </a:ln>
        </p:spPr>
      </p:sp>
      <p:sp>
        <p:nvSpPr>
          <p:cNvPr id="18" name="Shape 16"/>
          <p:cNvSpPr/>
          <p:nvPr/>
        </p:nvSpPr>
        <p:spPr>
          <a:xfrm>
            <a:off x="5943600" y="1600200"/>
            <a:ext cx="274320" cy="274320"/>
          </a:xfrm>
          <a:prstGeom prst="rect">
            <a:avLst/>
          </a:prstGeom>
          <a:solidFill>
            <a:srgbClr val="FDFDFE"/>
          </a:solidFill>
          <a:ln w="6350">
            <a:solidFill>
              <a:srgbClr val="FFFFFF"/>
            </a:solidFill>
            <a:prstDash val="solid"/>
          </a:ln>
        </p:spPr>
      </p:sp>
      <p:sp>
        <p:nvSpPr>
          <p:cNvPr id="19" name="Shape 17"/>
          <p:cNvSpPr/>
          <p:nvPr/>
        </p:nvSpPr>
        <p:spPr>
          <a:xfrm>
            <a:off x="6217920" y="1600200"/>
            <a:ext cx="274320" cy="274320"/>
          </a:xfrm>
          <a:prstGeom prst="rect">
            <a:avLst/>
          </a:prstGeom>
          <a:solidFill>
            <a:srgbClr val="CDD8E8"/>
          </a:solidFill>
          <a:ln w="6350">
            <a:solidFill>
              <a:srgbClr val="FFFFFF"/>
            </a:solidFill>
            <a:prstDash val="solid"/>
          </a:ln>
        </p:spPr>
      </p:sp>
      <p:sp>
        <p:nvSpPr>
          <p:cNvPr id="20" name="Text 18"/>
          <p:cNvSpPr txBox="1"/>
          <p:nvPr/>
        </p:nvSpPr>
        <p:spPr>
          <a:xfrm>
            <a:off x="548640" y="1874520"/>
            <a:ext cx="1737360" cy="274320"/>
          </a:xfrm>
          <a:prstGeom prst="rect">
            <a:avLst/>
          </a:prstGeom>
          <a:noFill/>
          <a:ln/>
        </p:spPr>
        <p:txBody>
          <a:bodyPr wrap="square" lIns="0" tIns="0" rIns="0" bIns="0" rtlCol="0" anchor="ctr"/>
          <a:lstStyle/>
          <a:p>
            <a:pPr indent="0" marL="0">
              <a:buNone/>
            </a:pPr>
            <a:r>
              <a:rPr lang="en-US" sz="1000" dirty="0">
                <a:solidFill>
                  <a:schemeClr val="tx2"/>
                </a:solidFill>
              </a:rPr>
              <a:t>2  ret_5</a:t>
            </a:r>
            <a:endParaRPr lang="en-US" sz="1000" dirty="0"/>
          </a:p>
        </p:txBody>
      </p:sp>
      <p:sp>
        <p:nvSpPr>
          <p:cNvPr id="21" name="Text 19"/>
          <p:cNvSpPr txBox="1"/>
          <p:nvPr/>
        </p:nvSpPr>
        <p:spPr>
          <a:xfrm>
            <a:off x="26517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2</a:t>
            </a:r>
            <a:endParaRPr lang="en-US" sz="1000" dirty="0"/>
          </a:p>
        </p:txBody>
      </p:sp>
      <p:sp>
        <p:nvSpPr>
          <p:cNvPr id="22" name="Shape 20"/>
          <p:cNvSpPr/>
          <p:nvPr/>
        </p:nvSpPr>
        <p:spPr>
          <a:xfrm>
            <a:off x="2377440" y="1874520"/>
            <a:ext cx="274320" cy="274320"/>
          </a:xfrm>
          <a:prstGeom prst="rect">
            <a:avLst/>
          </a:prstGeom>
          <a:solidFill>
            <a:srgbClr val="E8B89F"/>
          </a:solidFill>
          <a:ln w="6350">
            <a:solidFill>
              <a:srgbClr val="FFFFFF"/>
            </a:solidFill>
            <a:prstDash val="solid"/>
          </a:ln>
        </p:spPr>
      </p:sp>
      <p:sp>
        <p:nvSpPr>
          <p:cNvPr id="23" name="Shape 21"/>
          <p:cNvSpPr/>
          <p:nvPr/>
        </p:nvSpPr>
        <p:spPr>
          <a:xfrm>
            <a:off x="2651760" y="1874520"/>
            <a:ext cx="274320" cy="274320"/>
          </a:xfrm>
          <a:prstGeom prst="rect">
            <a:avLst/>
          </a:prstGeom>
          <a:solidFill>
            <a:srgbClr val="C8571B"/>
          </a:solidFill>
          <a:ln w="6350">
            <a:solidFill>
              <a:srgbClr val="FFFFFF"/>
            </a:solidFill>
            <a:prstDash val="solid"/>
          </a:ln>
        </p:spPr>
      </p:sp>
      <p:sp>
        <p:nvSpPr>
          <p:cNvPr id="24" name="Shape 22"/>
          <p:cNvSpPr/>
          <p:nvPr/>
        </p:nvSpPr>
        <p:spPr>
          <a:xfrm>
            <a:off x="2926080" y="1874520"/>
            <a:ext cx="274320" cy="274320"/>
          </a:xfrm>
          <a:prstGeom prst="rect">
            <a:avLst/>
          </a:prstGeom>
          <a:solidFill>
            <a:srgbClr val="DA8E66"/>
          </a:solidFill>
          <a:ln w="6350">
            <a:solidFill>
              <a:srgbClr val="FFFFFF"/>
            </a:solidFill>
            <a:prstDash val="solid"/>
          </a:ln>
        </p:spPr>
      </p:sp>
      <p:sp>
        <p:nvSpPr>
          <p:cNvPr id="25" name="Shape 23"/>
          <p:cNvSpPr/>
          <p:nvPr/>
        </p:nvSpPr>
        <p:spPr>
          <a:xfrm>
            <a:off x="3200400" y="1874520"/>
            <a:ext cx="274320" cy="274320"/>
          </a:xfrm>
          <a:prstGeom prst="rect">
            <a:avLst/>
          </a:prstGeom>
          <a:solidFill>
            <a:srgbClr val="E6B296"/>
          </a:solidFill>
          <a:ln w="6350">
            <a:solidFill>
              <a:srgbClr val="FFFFFF"/>
            </a:solidFill>
            <a:prstDash val="solid"/>
          </a:ln>
        </p:spPr>
      </p:sp>
      <p:sp>
        <p:nvSpPr>
          <p:cNvPr id="26" name="Shape 24"/>
          <p:cNvSpPr/>
          <p:nvPr/>
        </p:nvSpPr>
        <p:spPr>
          <a:xfrm>
            <a:off x="3474720" y="1874520"/>
            <a:ext cx="274320" cy="274320"/>
          </a:xfrm>
          <a:prstGeom prst="rect">
            <a:avLst/>
          </a:prstGeom>
          <a:solidFill>
            <a:srgbClr val="D68154"/>
          </a:solidFill>
          <a:ln w="6350">
            <a:solidFill>
              <a:srgbClr val="FFFFFF"/>
            </a:solidFill>
            <a:prstDash val="solid"/>
          </a:ln>
        </p:spPr>
      </p:sp>
      <p:sp>
        <p:nvSpPr>
          <p:cNvPr id="27" name="Shape 25"/>
          <p:cNvSpPr/>
          <p:nvPr/>
        </p:nvSpPr>
        <p:spPr>
          <a:xfrm>
            <a:off x="3749040" y="1874520"/>
            <a:ext cx="274320" cy="274320"/>
          </a:xfrm>
          <a:prstGeom prst="rect">
            <a:avLst/>
          </a:prstGeom>
          <a:solidFill>
            <a:srgbClr val="E4AD8F"/>
          </a:solidFill>
          <a:ln w="6350">
            <a:solidFill>
              <a:srgbClr val="FFFFFF"/>
            </a:solidFill>
            <a:prstDash val="solid"/>
          </a:ln>
        </p:spPr>
      </p:sp>
      <p:sp>
        <p:nvSpPr>
          <p:cNvPr id="28" name="Shape 26"/>
          <p:cNvSpPr/>
          <p:nvPr/>
        </p:nvSpPr>
        <p:spPr>
          <a:xfrm>
            <a:off x="4023360" y="1874520"/>
            <a:ext cx="274320" cy="274320"/>
          </a:xfrm>
          <a:prstGeom prst="rect">
            <a:avLst/>
          </a:prstGeom>
          <a:solidFill>
            <a:srgbClr val="F0D2C1"/>
          </a:solidFill>
          <a:ln w="6350">
            <a:solidFill>
              <a:srgbClr val="FFFFFF"/>
            </a:solidFill>
            <a:prstDash val="solid"/>
          </a:ln>
        </p:spPr>
      </p:sp>
      <p:sp>
        <p:nvSpPr>
          <p:cNvPr id="29" name="Shape 27"/>
          <p:cNvSpPr/>
          <p:nvPr/>
        </p:nvSpPr>
        <p:spPr>
          <a:xfrm>
            <a:off x="4297680" y="1874520"/>
            <a:ext cx="274320" cy="274320"/>
          </a:xfrm>
          <a:prstGeom prst="rect">
            <a:avLst/>
          </a:prstGeom>
          <a:solidFill>
            <a:srgbClr val="FDFDFE"/>
          </a:solidFill>
          <a:ln w="6350">
            <a:solidFill>
              <a:srgbClr val="FFFFFF"/>
            </a:solidFill>
            <a:prstDash val="solid"/>
          </a:ln>
        </p:spPr>
      </p:sp>
      <p:sp>
        <p:nvSpPr>
          <p:cNvPr id="30" name="Shape 28"/>
          <p:cNvSpPr/>
          <p:nvPr/>
        </p:nvSpPr>
        <p:spPr>
          <a:xfrm>
            <a:off x="4572000" y="1874520"/>
            <a:ext cx="274320" cy="274320"/>
          </a:xfrm>
          <a:prstGeom prst="rect">
            <a:avLst/>
          </a:prstGeom>
          <a:solidFill>
            <a:srgbClr val="DF9E7B"/>
          </a:solidFill>
          <a:ln w="6350">
            <a:solidFill>
              <a:srgbClr val="FFFFFF"/>
            </a:solidFill>
            <a:prstDash val="solid"/>
          </a:ln>
        </p:spPr>
      </p:sp>
      <p:sp>
        <p:nvSpPr>
          <p:cNvPr id="31" name="Shape 29"/>
          <p:cNvSpPr/>
          <p:nvPr/>
        </p:nvSpPr>
        <p:spPr>
          <a:xfrm>
            <a:off x="4846320" y="1874520"/>
            <a:ext cx="274320" cy="274320"/>
          </a:xfrm>
          <a:prstGeom prst="rect">
            <a:avLst/>
          </a:prstGeom>
          <a:solidFill>
            <a:srgbClr val="D9895F"/>
          </a:solidFill>
          <a:ln w="6350">
            <a:solidFill>
              <a:srgbClr val="FFFFFF"/>
            </a:solidFill>
            <a:prstDash val="solid"/>
          </a:ln>
        </p:spPr>
      </p:sp>
      <p:sp>
        <p:nvSpPr>
          <p:cNvPr id="32" name="Shape 30"/>
          <p:cNvSpPr/>
          <p:nvPr/>
        </p:nvSpPr>
        <p:spPr>
          <a:xfrm>
            <a:off x="5120640" y="1874520"/>
            <a:ext cx="274320" cy="274320"/>
          </a:xfrm>
          <a:prstGeom prst="rect">
            <a:avLst/>
          </a:prstGeom>
          <a:solidFill>
            <a:srgbClr val="DA8D64"/>
          </a:solidFill>
          <a:ln w="6350">
            <a:solidFill>
              <a:srgbClr val="FFFFFF"/>
            </a:solidFill>
            <a:prstDash val="solid"/>
          </a:ln>
        </p:spPr>
      </p:sp>
      <p:sp>
        <p:nvSpPr>
          <p:cNvPr id="33" name="Shape 31"/>
          <p:cNvSpPr/>
          <p:nvPr/>
        </p:nvSpPr>
        <p:spPr>
          <a:xfrm>
            <a:off x="5394960" y="1874520"/>
            <a:ext cx="274320" cy="274320"/>
          </a:xfrm>
          <a:prstGeom prst="rect">
            <a:avLst/>
          </a:prstGeom>
          <a:solidFill>
            <a:srgbClr val="F3F5F9"/>
          </a:solidFill>
          <a:ln w="6350">
            <a:solidFill>
              <a:srgbClr val="FFFFFF"/>
            </a:solidFill>
            <a:prstDash val="solid"/>
          </a:ln>
        </p:spPr>
      </p:sp>
      <p:sp>
        <p:nvSpPr>
          <p:cNvPr id="34" name="Shape 32"/>
          <p:cNvSpPr/>
          <p:nvPr/>
        </p:nvSpPr>
        <p:spPr>
          <a:xfrm>
            <a:off x="5669280" y="1874520"/>
            <a:ext cx="274320" cy="274320"/>
          </a:xfrm>
          <a:prstGeom prst="rect">
            <a:avLst/>
          </a:prstGeom>
          <a:solidFill>
            <a:srgbClr val="F9FAFC"/>
          </a:solidFill>
          <a:ln w="6350">
            <a:solidFill>
              <a:srgbClr val="FFFFFF"/>
            </a:solidFill>
            <a:prstDash val="solid"/>
          </a:ln>
        </p:spPr>
      </p:sp>
      <p:sp>
        <p:nvSpPr>
          <p:cNvPr id="35" name="Shape 33"/>
          <p:cNvSpPr/>
          <p:nvPr/>
        </p:nvSpPr>
        <p:spPr>
          <a:xfrm>
            <a:off x="5943600" y="1874520"/>
            <a:ext cx="274320" cy="274320"/>
          </a:xfrm>
          <a:prstGeom prst="rect">
            <a:avLst/>
          </a:prstGeom>
          <a:solidFill>
            <a:srgbClr val="EAEFF5"/>
          </a:solidFill>
          <a:ln w="6350">
            <a:solidFill>
              <a:srgbClr val="FFFFFF"/>
            </a:solidFill>
            <a:prstDash val="solid"/>
          </a:ln>
        </p:spPr>
      </p:sp>
      <p:sp>
        <p:nvSpPr>
          <p:cNvPr id="36" name="Shape 34"/>
          <p:cNvSpPr/>
          <p:nvPr/>
        </p:nvSpPr>
        <p:spPr>
          <a:xfrm>
            <a:off x="6217920" y="1874520"/>
            <a:ext cx="274320" cy="274320"/>
          </a:xfrm>
          <a:prstGeom prst="rect">
            <a:avLst/>
          </a:prstGeom>
          <a:solidFill>
            <a:srgbClr val="ACBED8"/>
          </a:solidFill>
          <a:ln w="6350">
            <a:solidFill>
              <a:srgbClr val="FFFFFF"/>
            </a:solidFill>
            <a:prstDash val="solid"/>
          </a:ln>
        </p:spPr>
      </p:sp>
      <p:sp>
        <p:nvSpPr>
          <p:cNvPr id="37" name="Text 35"/>
          <p:cNvSpPr txBox="1"/>
          <p:nvPr/>
        </p:nvSpPr>
        <p:spPr>
          <a:xfrm>
            <a:off x="548640" y="2148840"/>
            <a:ext cx="1737360" cy="274320"/>
          </a:xfrm>
          <a:prstGeom prst="rect">
            <a:avLst/>
          </a:prstGeom>
          <a:noFill/>
          <a:ln/>
        </p:spPr>
        <p:txBody>
          <a:bodyPr wrap="square" lIns="0" tIns="0" rIns="0" bIns="0" rtlCol="0" anchor="ctr"/>
          <a:lstStyle/>
          <a:p>
            <a:pPr indent="0" marL="0">
              <a:buNone/>
            </a:pPr>
            <a:r>
              <a:rPr lang="en-US" sz="1000" dirty="0">
                <a:solidFill>
                  <a:schemeClr val="tx2"/>
                </a:solidFill>
              </a:rPr>
              <a:t>3  ret_10</a:t>
            </a:r>
            <a:endParaRPr lang="en-US" sz="1000" dirty="0"/>
          </a:p>
        </p:txBody>
      </p:sp>
      <p:sp>
        <p:nvSpPr>
          <p:cNvPr id="38" name="Text 36"/>
          <p:cNvSpPr txBox="1"/>
          <p:nvPr/>
        </p:nvSpPr>
        <p:spPr>
          <a:xfrm>
            <a:off x="29260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3</a:t>
            </a:r>
            <a:endParaRPr lang="en-US" sz="1000" dirty="0"/>
          </a:p>
        </p:txBody>
      </p:sp>
      <p:sp>
        <p:nvSpPr>
          <p:cNvPr id="39" name="Shape 37"/>
          <p:cNvSpPr/>
          <p:nvPr/>
        </p:nvSpPr>
        <p:spPr>
          <a:xfrm>
            <a:off x="2377440" y="2148840"/>
            <a:ext cx="274320" cy="274320"/>
          </a:xfrm>
          <a:prstGeom prst="rect">
            <a:avLst/>
          </a:prstGeom>
          <a:solidFill>
            <a:srgbClr val="EECBB8"/>
          </a:solidFill>
          <a:ln w="6350">
            <a:solidFill>
              <a:srgbClr val="FFFFFF"/>
            </a:solidFill>
            <a:prstDash val="solid"/>
          </a:ln>
        </p:spPr>
      </p:sp>
      <p:sp>
        <p:nvSpPr>
          <p:cNvPr id="40" name="Shape 38"/>
          <p:cNvSpPr/>
          <p:nvPr/>
        </p:nvSpPr>
        <p:spPr>
          <a:xfrm>
            <a:off x="2651760" y="2148840"/>
            <a:ext cx="274320" cy="274320"/>
          </a:xfrm>
          <a:prstGeom prst="rect">
            <a:avLst/>
          </a:prstGeom>
          <a:solidFill>
            <a:srgbClr val="DA8E66"/>
          </a:solidFill>
          <a:ln w="6350">
            <a:solidFill>
              <a:srgbClr val="FFFFFF"/>
            </a:solidFill>
            <a:prstDash val="solid"/>
          </a:ln>
        </p:spPr>
      </p:sp>
      <p:sp>
        <p:nvSpPr>
          <p:cNvPr id="41" name="Shape 39"/>
          <p:cNvSpPr/>
          <p:nvPr/>
        </p:nvSpPr>
        <p:spPr>
          <a:xfrm>
            <a:off x="2926080" y="2148840"/>
            <a:ext cx="274320" cy="274320"/>
          </a:xfrm>
          <a:prstGeom prst="rect">
            <a:avLst/>
          </a:prstGeom>
          <a:solidFill>
            <a:srgbClr val="C8571B"/>
          </a:solidFill>
          <a:ln w="6350">
            <a:solidFill>
              <a:srgbClr val="FFFFFF"/>
            </a:solidFill>
            <a:prstDash val="solid"/>
          </a:ln>
        </p:spPr>
      </p:sp>
      <p:sp>
        <p:nvSpPr>
          <p:cNvPr id="42" name="Shape 40"/>
          <p:cNvSpPr/>
          <p:nvPr/>
        </p:nvSpPr>
        <p:spPr>
          <a:xfrm>
            <a:off x="3200400" y="2148840"/>
            <a:ext cx="274320" cy="274320"/>
          </a:xfrm>
          <a:prstGeom prst="rect">
            <a:avLst/>
          </a:prstGeom>
          <a:solidFill>
            <a:srgbClr val="DA8D64"/>
          </a:solidFill>
          <a:ln w="6350">
            <a:solidFill>
              <a:srgbClr val="FFFFFF"/>
            </a:solidFill>
            <a:prstDash val="solid"/>
          </a:ln>
        </p:spPr>
      </p:sp>
      <p:sp>
        <p:nvSpPr>
          <p:cNvPr id="43" name="Shape 41"/>
          <p:cNvSpPr/>
          <p:nvPr/>
        </p:nvSpPr>
        <p:spPr>
          <a:xfrm>
            <a:off x="3474720" y="2148840"/>
            <a:ext cx="274320" cy="274320"/>
          </a:xfrm>
          <a:prstGeom prst="rect">
            <a:avLst/>
          </a:prstGeom>
          <a:solidFill>
            <a:srgbClr val="CD6630"/>
          </a:solidFill>
          <a:ln w="6350">
            <a:solidFill>
              <a:srgbClr val="FFFFFF"/>
            </a:solidFill>
            <a:prstDash val="solid"/>
          </a:ln>
        </p:spPr>
      </p:sp>
      <p:sp>
        <p:nvSpPr>
          <p:cNvPr id="44" name="Shape 42"/>
          <p:cNvSpPr/>
          <p:nvPr/>
        </p:nvSpPr>
        <p:spPr>
          <a:xfrm>
            <a:off x="3749040" y="2148840"/>
            <a:ext cx="274320" cy="274320"/>
          </a:xfrm>
          <a:prstGeom prst="rect">
            <a:avLst/>
          </a:prstGeom>
          <a:solidFill>
            <a:srgbClr val="DB9069"/>
          </a:solidFill>
          <a:ln w="6350">
            <a:solidFill>
              <a:srgbClr val="FFFFFF"/>
            </a:solidFill>
            <a:prstDash val="solid"/>
          </a:ln>
        </p:spPr>
      </p:sp>
      <p:sp>
        <p:nvSpPr>
          <p:cNvPr id="45" name="Shape 43"/>
          <p:cNvSpPr/>
          <p:nvPr/>
        </p:nvSpPr>
        <p:spPr>
          <a:xfrm>
            <a:off x="4023360" y="2148840"/>
            <a:ext cx="274320" cy="274320"/>
          </a:xfrm>
          <a:prstGeom prst="rect">
            <a:avLst/>
          </a:prstGeom>
          <a:solidFill>
            <a:srgbClr val="EBC1AB"/>
          </a:solidFill>
          <a:ln w="6350">
            <a:solidFill>
              <a:srgbClr val="FFFFFF"/>
            </a:solidFill>
            <a:prstDash val="solid"/>
          </a:ln>
        </p:spPr>
      </p:sp>
      <p:sp>
        <p:nvSpPr>
          <p:cNvPr id="46" name="Shape 44"/>
          <p:cNvSpPr/>
          <p:nvPr/>
        </p:nvSpPr>
        <p:spPr>
          <a:xfrm>
            <a:off x="4297680" y="2148840"/>
            <a:ext cx="274320" cy="274320"/>
          </a:xfrm>
          <a:prstGeom prst="rect">
            <a:avLst/>
          </a:prstGeom>
          <a:solidFill>
            <a:srgbClr val="FAF0EA"/>
          </a:solidFill>
          <a:ln w="6350">
            <a:solidFill>
              <a:srgbClr val="FFFFFF"/>
            </a:solidFill>
            <a:prstDash val="solid"/>
          </a:ln>
        </p:spPr>
      </p:sp>
      <p:sp>
        <p:nvSpPr>
          <p:cNvPr id="47" name="Shape 45"/>
          <p:cNvSpPr/>
          <p:nvPr/>
        </p:nvSpPr>
        <p:spPr>
          <a:xfrm>
            <a:off x="4572000" y="2148840"/>
            <a:ext cx="274320" cy="274320"/>
          </a:xfrm>
          <a:prstGeom prst="rect">
            <a:avLst/>
          </a:prstGeom>
          <a:solidFill>
            <a:srgbClr val="D9895F"/>
          </a:solidFill>
          <a:ln w="6350">
            <a:solidFill>
              <a:srgbClr val="FFFFFF"/>
            </a:solidFill>
            <a:prstDash val="solid"/>
          </a:ln>
        </p:spPr>
      </p:sp>
      <p:sp>
        <p:nvSpPr>
          <p:cNvPr id="48" name="Shape 46"/>
          <p:cNvSpPr/>
          <p:nvPr/>
        </p:nvSpPr>
        <p:spPr>
          <a:xfrm>
            <a:off x="4846320" y="2148840"/>
            <a:ext cx="274320" cy="274320"/>
          </a:xfrm>
          <a:prstGeom prst="rect">
            <a:avLst/>
          </a:prstGeom>
          <a:solidFill>
            <a:srgbClr val="CF6B36"/>
          </a:solidFill>
          <a:ln w="6350">
            <a:solidFill>
              <a:srgbClr val="FFFFFF"/>
            </a:solidFill>
            <a:prstDash val="solid"/>
          </a:ln>
        </p:spPr>
      </p:sp>
      <p:sp>
        <p:nvSpPr>
          <p:cNvPr id="49" name="Shape 47"/>
          <p:cNvSpPr/>
          <p:nvPr/>
        </p:nvSpPr>
        <p:spPr>
          <a:xfrm>
            <a:off x="5120640" y="2148840"/>
            <a:ext cx="274320" cy="274320"/>
          </a:xfrm>
          <a:prstGeom prst="rect">
            <a:avLst/>
          </a:prstGeom>
          <a:solidFill>
            <a:srgbClr val="D68154"/>
          </a:solidFill>
          <a:ln w="6350">
            <a:solidFill>
              <a:srgbClr val="FFFFFF"/>
            </a:solidFill>
            <a:prstDash val="solid"/>
          </a:ln>
        </p:spPr>
      </p:sp>
      <p:sp>
        <p:nvSpPr>
          <p:cNvPr id="50" name="Shape 48"/>
          <p:cNvSpPr/>
          <p:nvPr/>
        </p:nvSpPr>
        <p:spPr>
          <a:xfrm>
            <a:off x="5394960" y="2148840"/>
            <a:ext cx="274320" cy="274320"/>
          </a:xfrm>
          <a:prstGeom prst="rect">
            <a:avLst/>
          </a:prstGeom>
          <a:solidFill>
            <a:srgbClr val="DAE2EE"/>
          </a:solidFill>
          <a:ln w="6350">
            <a:solidFill>
              <a:srgbClr val="FFFFFF"/>
            </a:solidFill>
            <a:prstDash val="solid"/>
          </a:ln>
        </p:spPr>
      </p:sp>
      <p:sp>
        <p:nvSpPr>
          <p:cNvPr id="51" name="Shape 49"/>
          <p:cNvSpPr/>
          <p:nvPr/>
        </p:nvSpPr>
        <p:spPr>
          <a:xfrm>
            <a:off x="5669280" y="2148840"/>
            <a:ext cx="274320" cy="274320"/>
          </a:xfrm>
          <a:prstGeom prst="rect">
            <a:avLst/>
          </a:prstGeom>
          <a:solidFill>
            <a:srgbClr val="E0E7F0"/>
          </a:solidFill>
          <a:ln w="6350">
            <a:solidFill>
              <a:srgbClr val="FFFFFF"/>
            </a:solidFill>
            <a:prstDash val="solid"/>
          </a:ln>
        </p:spPr>
      </p:sp>
      <p:sp>
        <p:nvSpPr>
          <p:cNvPr id="52" name="Shape 50"/>
          <p:cNvSpPr/>
          <p:nvPr/>
        </p:nvSpPr>
        <p:spPr>
          <a:xfrm>
            <a:off x="5943600" y="2148840"/>
            <a:ext cx="274320" cy="274320"/>
          </a:xfrm>
          <a:prstGeom prst="rect">
            <a:avLst/>
          </a:prstGeom>
          <a:solidFill>
            <a:srgbClr val="D1DBEA"/>
          </a:solidFill>
          <a:ln w="6350">
            <a:solidFill>
              <a:srgbClr val="FFFFFF"/>
            </a:solidFill>
            <a:prstDash val="solid"/>
          </a:ln>
        </p:spPr>
      </p:sp>
      <p:sp>
        <p:nvSpPr>
          <p:cNvPr id="53" name="Shape 51"/>
          <p:cNvSpPr/>
          <p:nvPr/>
        </p:nvSpPr>
        <p:spPr>
          <a:xfrm>
            <a:off x="6217920" y="2148840"/>
            <a:ext cx="274320" cy="274320"/>
          </a:xfrm>
          <a:prstGeom prst="rect">
            <a:avLst/>
          </a:prstGeom>
          <a:solidFill>
            <a:srgbClr val="B2C3DB"/>
          </a:solidFill>
          <a:ln w="6350">
            <a:solidFill>
              <a:srgbClr val="FFFFFF"/>
            </a:solidFill>
            <a:prstDash val="solid"/>
          </a:ln>
        </p:spPr>
      </p:sp>
      <p:sp>
        <p:nvSpPr>
          <p:cNvPr id="54" name="Text 52"/>
          <p:cNvSpPr txBox="1"/>
          <p:nvPr/>
        </p:nvSpPr>
        <p:spPr>
          <a:xfrm>
            <a:off x="548640" y="2423160"/>
            <a:ext cx="1737360" cy="274320"/>
          </a:xfrm>
          <a:prstGeom prst="rect">
            <a:avLst/>
          </a:prstGeom>
          <a:noFill/>
          <a:ln/>
        </p:spPr>
        <p:txBody>
          <a:bodyPr wrap="square" lIns="0" tIns="0" rIns="0" bIns="0" rtlCol="0" anchor="ctr"/>
          <a:lstStyle/>
          <a:p>
            <a:pPr indent="0" marL="0">
              <a:buNone/>
            </a:pPr>
            <a:r>
              <a:rPr lang="en-US" sz="1000" dirty="0">
                <a:solidFill>
                  <a:schemeClr val="tx2"/>
                </a:solidFill>
              </a:rPr>
              <a:t>4  ret_20</a:t>
            </a:r>
            <a:endParaRPr lang="en-US" sz="1000" dirty="0"/>
          </a:p>
        </p:txBody>
      </p:sp>
      <p:sp>
        <p:nvSpPr>
          <p:cNvPr id="55" name="Text 53"/>
          <p:cNvSpPr txBox="1"/>
          <p:nvPr/>
        </p:nvSpPr>
        <p:spPr>
          <a:xfrm>
            <a:off x="32004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4</a:t>
            </a:r>
            <a:endParaRPr lang="en-US" sz="1000" dirty="0"/>
          </a:p>
        </p:txBody>
      </p:sp>
      <p:sp>
        <p:nvSpPr>
          <p:cNvPr id="56" name="Shape 54"/>
          <p:cNvSpPr/>
          <p:nvPr/>
        </p:nvSpPr>
        <p:spPr>
          <a:xfrm>
            <a:off x="2377440" y="2423160"/>
            <a:ext cx="274320" cy="274320"/>
          </a:xfrm>
          <a:prstGeom prst="rect">
            <a:avLst/>
          </a:prstGeom>
          <a:solidFill>
            <a:srgbClr val="F4DDD1"/>
          </a:solidFill>
          <a:ln w="6350">
            <a:solidFill>
              <a:srgbClr val="FFFFFF"/>
            </a:solidFill>
            <a:prstDash val="solid"/>
          </a:ln>
        </p:spPr>
      </p:sp>
      <p:sp>
        <p:nvSpPr>
          <p:cNvPr id="57" name="Shape 55"/>
          <p:cNvSpPr/>
          <p:nvPr/>
        </p:nvSpPr>
        <p:spPr>
          <a:xfrm>
            <a:off x="2651760" y="2423160"/>
            <a:ext cx="274320" cy="274320"/>
          </a:xfrm>
          <a:prstGeom prst="rect">
            <a:avLst/>
          </a:prstGeom>
          <a:solidFill>
            <a:srgbClr val="E6B296"/>
          </a:solidFill>
          <a:ln w="6350">
            <a:solidFill>
              <a:srgbClr val="FFFFFF"/>
            </a:solidFill>
            <a:prstDash val="solid"/>
          </a:ln>
        </p:spPr>
      </p:sp>
      <p:sp>
        <p:nvSpPr>
          <p:cNvPr id="58" name="Shape 56"/>
          <p:cNvSpPr/>
          <p:nvPr/>
        </p:nvSpPr>
        <p:spPr>
          <a:xfrm>
            <a:off x="2926080" y="2423160"/>
            <a:ext cx="274320" cy="274320"/>
          </a:xfrm>
          <a:prstGeom prst="rect">
            <a:avLst/>
          </a:prstGeom>
          <a:solidFill>
            <a:srgbClr val="DA8D64"/>
          </a:solidFill>
          <a:ln w="6350">
            <a:solidFill>
              <a:srgbClr val="FFFFFF"/>
            </a:solidFill>
            <a:prstDash val="solid"/>
          </a:ln>
        </p:spPr>
      </p:sp>
      <p:sp>
        <p:nvSpPr>
          <p:cNvPr id="59" name="Shape 57"/>
          <p:cNvSpPr/>
          <p:nvPr/>
        </p:nvSpPr>
        <p:spPr>
          <a:xfrm>
            <a:off x="3200400" y="2423160"/>
            <a:ext cx="274320" cy="274320"/>
          </a:xfrm>
          <a:prstGeom prst="rect">
            <a:avLst/>
          </a:prstGeom>
          <a:solidFill>
            <a:srgbClr val="C8571B"/>
          </a:solidFill>
          <a:ln w="6350">
            <a:solidFill>
              <a:srgbClr val="FFFFFF"/>
            </a:solidFill>
            <a:prstDash val="solid"/>
          </a:ln>
        </p:spPr>
      </p:sp>
      <p:sp>
        <p:nvSpPr>
          <p:cNvPr id="60" name="Shape 58"/>
          <p:cNvSpPr/>
          <p:nvPr/>
        </p:nvSpPr>
        <p:spPr>
          <a:xfrm>
            <a:off x="3474720" y="2423160"/>
            <a:ext cx="274320" cy="274320"/>
          </a:xfrm>
          <a:prstGeom prst="rect">
            <a:avLst/>
          </a:prstGeom>
          <a:solidFill>
            <a:srgbClr val="D1723F"/>
          </a:solidFill>
          <a:ln w="6350">
            <a:solidFill>
              <a:srgbClr val="FFFFFF"/>
            </a:solidFill>
            <a:prstDash val="solid"/>
          </a:ln>
        </p:spPr>
      </p:sp>
      <p:sp>
        <p:nvSpPr>
          <p:cNvPr id="61" name="Shape 59"/>
          <p:cNvSpPr/>
          <p:nvPr/>
        </p:nvSpPr>
        <p:spPr>
          <a:xfrm>
            <a:off x="3749040" y="2423160"/>
            <a:ext cx="274320" cy="274320"/>
          </a:xfrm>
          <a:prstGeom prst="rect">
            <a:avLst/>
          </a:prstGeom>
          <a:solidFill>
            <a:srgbClr val="D0703D"/>
          </a:solidFill>
          <a:ln w="6350">
            <a:solidFill>
              <a:srgbClr val="FFFFFF"/>
            </a:solidFill>
            <a:prstDash val="solid"/>
          </a:ln>
        </p:spPr>
      </p:sp>
      <p:sp>
        <p:nvSpPr>
          <p:cNvPr id="62" name="Shape 60"/>
          <p:cNvSpPr/>
          <p:nvPr/>
        </p:nvSpPr>
        <p:spPr>
          <a:xfrm>
            <a:off x="4023360" y="2423160"/>
            <a:ext cx="274320" cy="274320"/>
          </a:xfrm>
          <a:prstGeom prst="rect">
            <a:avLst/>
          </a:prstGeom>
          <a:solidFill>
            <a:srgbClr val="E3A98B"/>
          </a:solidFill>
          <a:ln w="6350">
            <a:solidFill>
              <a:srgbClr val="FFFFFF"/>
            </a:solidFill>
            <a:prstDash val="solid"/>
          </a:ln>
        </p:spPr>
      </p:sp>
      <p:sp>
        <p:nvSpPr>
          <p:cNvPr id="63" name="Shape 61"/>
          <p:cNvSpPr/>
          <p:nvPr/>
        </p:nvSpPr>
        <p:spPr>
          <a:xfrm>
            <a:off x="4297680" y="2423160"/>
            <a:ext cx="274320" cy="274320"/>
          </a:xfrm>
          <a:prstGeom prst="rect">
            <a:avLst/>
          </a:prstGeom>
          <a:solidFill>
            <a:srgbClr val="E5B094"/>
          </a:solidFill>
          <a:ln w="6350">
            <a:solidFill>
              <a:srgbClr val="FFFFFF"/>
            </a:solidFill>
            <a:prstDash val="solid"/>
          </a:ln>
        </p:spPr>
      </p:sp>
      <p:sp>
        <p:nvSpPr>
          <p:cNvPr id="64" name="Shape 62"/>
          <p:cNvSpPr/>
          <p:nvPr/>
        </p:nvSpPr>
        <p:spPr>
          <a:xfrm>
            <a:off x="4572000" y="2423160"/>
            <a:ext cx="274320" cy="274320"/>
          </a:xfrm>
          <a:prstGeom prst="rect">
            <a:avLst/>
          </a:prstGeom>
          <a:solidFill>
            <a:srgbClr val="D78459"/>
          </a:solidFill>
          <a:ln w="6350">
            <a:solidFill>
              <a:srgbClr val="FFFFFF"/>
            </a:solidFill>
            <a:prstDash val="solid"/>
          </a:ln>
        </p:spPr>
      </p:sp>
      <p:sp>
        <p:nvSpPr>
          <p:cNvPr id="65" name="Shape 63"/>
          <p:cNvSpPr/>
          <p:nvPr/>
        </p:nvSpPr>
        <p:spPr>
          <a:xfrm>
            <a:off x="4846320" y="2423160"/>
            <a:ext cx="274320" cy="274320"/>
          </a:xfrm>
          <a:prstGeom prst="rect">
            <a:avLst/>
          </a:prstGeom>
          <a:solidFill>
            <a:srgbClr val="DD9974"/>
          </a:solidFill>
          <a:ln w="6350">
            <a:solidFill>
              <a:srgbClr val="FFFFFF"/>
            </a:solidFill>
            <a:prstDash val="solid"/>
          </a:ln>
        </p:spPr>
      </p:sp>
      <p:sp>
        <p:nvSpPr>
          <p:cNvPr id="66" name="Shape 64"/>
          <p:cNvSpPr/>
          <p:nvPr/>
        </p:nvSpPr>
        <p:spPr>
          <a:xfrm>
            <a:off x="5120640" y="2423160"/>
            <a:ext cx="274320" cy="274320"/>
          </a:xfrm>
          <a:prstGeom prst="rect">
            <a:avLst/>
          </a:prstGeom>
          <a:solidFill>
            <a:srgbClr val="DB9069"/>
          </a:solidFill>
          <a:ln w="6350">
            <a:solidFill>
              <a:srgbClr val="FFFFFF"/>
            </a:solidFill>
            <a:prstDash val="solid"/>
          </a:ln>
        </p:spPr>
      </p:sp>
      <p:sp>
        <p:nvSpPr>
          <p:cNvPr id="67" name="Shape 65"/>
          <p:cNvSpPr/>
          <p:nvPr/>
        </p:nvSpPr>
        <p:spPr>
          <a:xfrm>
            <a:off x="5394960" y="2423160"/>
            <a:ext cx="274320" cy="274320"/>
          </a:xfrm>
          <a:prstGeom prst="rect">
            <a:avLst/>
          </a:prstGeom>
          <a:solidFill>
            <a:srgbClr val="B6C6DD"/>
          </a:solidFill>
          <a:ln w="6350">
            <a:solidFill>
              <a:srgbClr val="FFFFFF"/>
            </a:solidFill>
            <a:prstDash val="solid"/>
          </a:ln>
        </p:spPr>
      </p:sp>
      <p:sp>
        <p:nvSpPr>
          <p:cNvPr id="68" name="Shape 66"/>
          <p:cNvSpPr/>
          <p:nvPr/>
        </p:nvSpPr>
        <p:spPr>
          <a:xfrm>
            <a:off x="5669280" y="2423160"/>
            <a:ext cx="274320" cy="274320"/>
          </a:xfrm>
          <a:prstGeom prst="rect">
            <a:avLst/>
          </a:prstGeom>
          <a:solidFill>
            <a:srgbClr val="A8BBD6"/>
          </a:solidFill>
          <a:ln w="6350">
            <a:solidFill>
              <a:srgbClr val="FFFFFF"/>
            </a:solidFill>
            <a:prstDash val="solid"/>
          </a:ln>
        </p:spPr>
      </p:sp>
      <p:sp>
        <p:nvSpPr>
          <p:cNvPr id="69" name="Shape 67"/>
          <p:cNvSpPr/>
          <p:nvPr/>
        </p:nvSpPr>
        <p:spPr>
          <a:xfrm>
            <a:off x="5943600" y="2423160"/>
            <a:ext cx="274320" cy="274320"/>
          </a:xfrm>
          <a:prstGeom prst="rect">
            <a:avLst/>
          </a:prstGeom>
          <a:solidFill>
            <a:srgbClr val="AABDD7"/>
          </a:solidFill>
          <a:ln w="6350">
            <a:solidFill>
              <a:srgbClr val="FFFFFF"/>
            </a:solidFill>
            <a:prstDash val="solid"/>
          </a:ln>
        </p:spPr>
      </p:sp>
      <p:sp>
        <p:nvSpPr>
          <p:cNvPr id="70" name="Shape 68"/>
          <p:cNvSpPr/>
          <p:nvPr/>
        </p:nvSpPr>
        <p:spPr>
          <a:xfrm>
            <a:off x="6217920" y="2423160"/>
            <a:ext cx="274320" cy="274320"/>
          </a:xfrm>
          <a:prstGeom prst="rect">
            <a:avLst/>
          </a:prstGeom>
          <a:solidFill>
            <a:srgbClr val="D3DDEB"/>
          </a:solidFill>
          <a:ln w="6350">
            <a:solidFill>
              <a:srgbClr val="FFFFFF"/>
            </a:solidFill>
            <a:prstDash val="solid"/>
          </a:ln>
        </p:spPr>
      </p:sp>
      <p:sp>
        <p:nvSpPr>
          <p:cNvPr id="71" name="Text 69"/>
          <p:cNvSpPr txBox="1"/>
          <p:nvPr/>
        </p:nvSpPr>
        <p:spPr>
          <a:xfrm>
            <a:off x="548640" y="2697480"/>
            <a:ext cx="1737360" cy="274320"/>
          </a:xfrm>
          <a:prstGeom prst="rect">
            <a:avLst/>
          </a:prstGeom>
          <a:noFill/>
          <a:ln/>
        </p:spPr>
        <p:txBody>
          <a:bodyPr wrap="square" lIns="0" tIns="0" rIns="0" bIns="0" rtlCol="0" anchor="ctr"/>
          <a:lstStyle/>
          <a:p>
            <a:pPr indent="0" marL="0">
              <a:buNone/>
            </a:pPr>
            <a:r>
              <a:rPr lang="en-US" sz="1000" dirty="0">
                <a:solidFill>
                  <a:schemeClr val="tx2"/>
                </a:solidFill>
              </a:rPr>
              <a:t>5  close_sma20</a:t>
            </a:r>
            <a:endParaRPr lang="en-US" sz="1000" dirty="0"/>
          </a:p>
        </p:txBody>
      </p:sp>
      <p:sp>
        <p:nvSpPr>
          <p:cNvPr id="72" name="Text 70"/>
          <p:cNvSpPr txBox="1"/>
          <p:nvPr/>
        </p:nvSpPr>
        <p:spPr>
          <a:xfrm>
            <a:off x="34747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5</a:t>
            </a:r>
            <a:endParaRPr lang="en-US" sz="1000" dirty="0"/>
          </a:p>
        </p:txBody>
      </p:sp>
      <p:sp>
        <p:nvSpPr>
          <p:cNvPr id="73" name="Shape 71"/>
          <p:cNvSpPr/>
          <p:nvPr/>
        </p:nvSpPr>
        <p:spPr>
          <a:xfrm>
            <a:off x="2377440" y="2697480"/>
            <a:ext cx="274320" cy="274320"/>
          </a:xfrm>
          <a:prstGeom prst="rect">
            <a:avLst/>
          </a:prstGeom>
          <a:solidFill>
            <a:srgbClr val="EBC1AB"/>
          </a:solidFill>
          <a:ln w="6350">
            <a:solidFill>
              <a:srgbClr val="FFFFFF"/>
            </a:solidFill>
            <a:prstDash val="solid"/>
          </a:ln>
        </p:spPr>
      </p:sp>
      <p:sp>
        <p:nvSpPr>
          <p:cNvPr id="74" name="Shape 72"/>
          <p:cNvSpPr/>
          <p:nvPr/>
        </p:nvSpPr>
        <p:spPr>
          <a:xfrm>
            <a:off x="2651760" y="2697480"/>
            <a:ext cx="274320" cy="274320"/>
          </a:xfrm>
          <a:prstGeom prst="rect">
            <a:avLst/>
          </a:prstGeom>
          <a:solidFill>
            <a:srgbClr val="D68154"/>
          </a:solidFill>
          <a:ln w="6350">
            <a:solidFill>
              <a:srgbClr val="FFFFFF"/>
            </a:solidFill>
            <a:prstDash val="solid"/>
          </a:ln>
        </p:spPr>
      </p:sp>
      <p:sp>
        <p:nvSpPr>
          <p:cNvPr id="75" name="Shape 73"/>
          <p:cNvSpPr/>
          <p:nvPr/>
        </p:nvSpPr>
        <p:spPr>
          <a:xfrm>
            <a:off x="2926080" y="2697480"/>
            <a:ext cx="274320" cy="274320"/>
          </a:xfrm>
          <a:prstGeom prst="rect">
            <a:avLst/>
          </a:prstGeom>
          <a:solidFill>
            <a:srgbClr val="CD6630"/>
          </a:solidFill>
          <a:ln w="6350">
            <a:solidFill>
              <a:srgbClr val="FFFFFF"/>
            </a:solidFill>
            <a:prstDash val="solid"/>
          </a:ln>
        </p:spPr>
      </p:sp>
      <p:sp>
        <p:nvSpPr>
          <p:cNvPr id="76" name="Shape 74"/>
          <p:cNvSpPr/>
          <p:nvPr/>
        </p:nvSpPr>
        <p:spPr>
          <a:xfrm>
            <a:off x="3200400" y="2697480"/>
            <a:ext cx="274320" cy="274320"/>
          </a:xfrm>
          <a:prstGeom prst="rect">
            <a:avLst/>
          </a:prstGeom>
          <a:solidFill>
            <a:srgbClr val="D1723F"/>
          </a:solidFill>
          <a:ln w="6350">
            <a:solidFill>
              <a:srgbClr val="FFFFFF"/>
            </a:solidFill>
            <a:prstDash val="solid"/>
          </a:ln>
        </p:spPr>
      </p:sp>
      <p:sp>
        <p:nvSpPr>
          <p:cNvPr id="77" name="Shape 75"/>
          <p:cNvSpPr/>
          <p:nvPr/>
        </p:nvSpPr>
        <p:spPr>
          <a:xfrm>
            <a:off x="3474720" y="2697480"/>
            <a:ext cx="274320" cy="274320"/>
          </a:xfrm>
          <a:prstGeom prst="rect">
            <a:avLst/>
          </a:prstGeom>
          <a:solidFill>
            <a:srgbClr val="C8571B"/>
          </a:solidFill>
          <a:ln w="6350">
            <a:solidFill>
              <a:srgbClr val="FFFFFF"/>
            </a:solidFill>
            <a:prstDash val="solid"/>
          </a:ln>
        </p:spPr>
      </p:sp>
      <p:sp>
        <p:nvSpPr>
          <p:cNvPr id="78" name="Shape 76"/>
          <p:cNvSpPr/>
          <p:nvPr/>
        </p:nvSpPr>
        <p:spPr>
          <a:xfrm>
            <a:off x="3749040" y="2697480"/>
            <a:ext cx="274320" cy="274320"/>
          </a:xfrm>
          <a:prstGeom prst="rect">
            <a:avLst/>
          </a:prstGeom>
          <a:solidFill>
            <a:srgbClr val="D37949"/>
          </a:solidFill>
          <a:ln w="6350">
            <a:solidFill>
              <a:srgbClr val="FFFFFF"/>
            </a:solidFill>
            <a:prstDash val="solid"/>
          </a:ln>
        </p:spPr>
      </p:sp>
      <p:sp>
        <p:nvSpPr>
          <p:cNvPr id="79" name="Shape 77"/>
          <p:cNvSpPr/>
          <p:nvPr/>
        </p:nvSpPr>
        <p:spPr>
          <a:xfrm>
            <a:off x="4023360" y="2697480"/>
            <a:ext cx="274320" cy="274320"/>
          </a:xfrm>
          <a:prstGeom prst="rect">
            <a:avLst/>
          </a:prstGeom>
          <a:solidFill>
            <a:srgbClr val="E6B296"/>
          </a:solidFill>
          <a:ln w="6350">
            <a:solidFill>
              <a:srgbClr val="FFFFFF"/>
            </a:solidFill>
            <a:prstDash val="solid"/>
          </a:ln>
        </p:spPr>
      </p:sp>
      <p:sp>
        <p:nvSpPr>
          <p:cNvPr id="80" name="Shape 78"/>
          <p:cNvSpPr/>
          <p:nvPr/>
        </p:nvSpPr>
        <p:spPr>
          <a:xfrm>
            <a:off x="4297680" y="2697480"/>
            <a:ext cx="274320" cy="274320"/>
          </a:xfrm>
          <a:prstGeom prst="rect">
            <a:avLst/>
          </a:prstGeom>
          <a:solidFill>
            <a:srgbClr val="F3DCCF"/>
          </a:solidFill>
          <a:ln w="6350">
            <a:solidFill>
              <a:srgbClr val="FFFFFF"/>
            </a:solidFill>
            <a:prstDash val="solid"/>
          </a:ln>
        </p:spPr>
      </p:sp>
      <p:sp>
        <p:nvSpPr>
          <p:cNvPr id="81" name="Shape 79"/>
          <p:cNvSpPr/>
          <p:nvPr/>
        </p:nvSpPr>
        <p:spPr>
          <a:xfrm>
            <a:off x="4572000" y="2697480"/>
            <a:ext cx="274320" cy="274320"/>
          </a:xfrm>
          <a:prstGeom prst="rect">
            <a:avLst/>
          </a:prstGeom>
          <a:solidFill>
            <a:srgbClr val="D47A4B"/>
          </a:solidFill>
          <a:ln w="6350">
            <a:solidFill>
              <a:srgbClr val="FFFFFF"/>
            </a:solidFill>
            <a:prstDash val="solid"/>
          </a:ln>
        </p:spPr>
      </p:sp>
      <p:sp>
        <p:nvSpPr>
          <p:cNvPr id="82" name="Shape 80"/>
          <p:cNvSpPr/>
          <p:nvPr/>
        </p:nvSpPr>
        <p:spPr>
          <a:xfrm>
            <a:off x="4846320" y="2697480"/>
            <a:ext cx="274320" cy="274320"/>
          </a:xfrm>
          <a:prstGeom prst="rect">
            <a:avLst/>
          </a:prstGeom>
          <a:solidFill>
            <a:srgbClr val="CF6D39"/>
          </a:solidFill>
          <a:ln w="6350">
            <a:solidFill>
              <a:srgbClr val="FFFFFF"/>
            </a:solidFill>
            <a:prstDash val="solid"/>
          </a:ln>
        </p:spPr>
      </p:sp>
      <p:sp>
        <p:nvSpPr>
          <p:cNvPr id="83" name="Shape 81"/>
          <p:cNvSpPr/>
          <p:nvPr/>
        </p:nvSpPr>
        <p:spPr>
          <a:xfrm>
            <a:off x="5120640" y="2697480"/>
            <a:ext cx="274320" cy="274320"/>
          </a:xfrm>
          <a:prstGeom prst="rect">
            <a:avLst/>
          </a:prstGeom>
          <a:solidFill>
            <a:srgbClr val="D27746"/>
          </a:solidFill>
          <a:ln w="6350">
            <a:solidFill>
              <a:srgbClr val="FFFFFF"/>
            </a:solidFill>
            <a:prstDash val="solid"/>
          </a:ln>
        </p:spPr>
      </p:sp>
      <p:sp>
        <p:nvSpPr>
          <p:cNvPr id="84" name="Shape 82"/>
          <p:cNvSpPr/>
          <p:nvPr/>
        </p:nvSpPr>
        <p:spPr>
          <a:xfrm>
            <a:off x="5394960" y="2697480"/>
            <a:ext cx="274320" cy="274320"/>
          </a:xfrm>
          <a:prstGeom prst="rect">
            <a:avLst/>
          </a:prstGeom>
          <a:solidFill>
            <a:srgbClr val="C9D5E6"/>
          </a:solidFill>
          <a:ln w="6350">
            <a:solidFill>
              <a:srgbClr val="FFFFFF"/>
            </a:solidFill>
            <a:prstDash val="solid"/>
          </a:ln>
        </p:spPr>
      </p:sp>
      <p:sp>
        <p:nvSpPr>
          <p:cNvPr id="85" name="Shape 83"/>
          <p:cNvSpPr/>
          <p:nvPr/>
        </p:nvSpPr>
        <p:spPr>
          <a:xfrm>
            <a:off x="5669280" y="2697480"/>
            <a:ext cx="274320" cy="274320"/>
          </a:xfrm>
          <a:prstGeom prst="rect">
            <a:avLst/>
          </a:prstGeom>
          <a:solidFill>
            <a:srgbClr val="C9D5E6"/>
          </a:solidFill>
          <a:ln w="6350">
            <a:solidFill>
              <a:srgbClr val="FFFFFF"/>
            </a:solidFill>
            <a:prstDash val="solid"/>
          </a:ln>
        </p:spPr>
      </p:sp>
      <p:sp>
        <p:nvSpPr>
          <p:cNvPr id="86" name="Shape 84"/>
          <p:cNvSpPr/>
          <p:nvPr/>
        </p:nvSpPr>
        <p:spPr>
          <a:xfrm>
            <a:off x="5943600" y="2697480"/>
            <a:ext cx="274320" cy="274320"/>
          </a:xfrm>
          <a:prstGeom prst="rect">
            <a:avLst/>
          </a:prstGeom>
          <a:solidFill>
            <a:srgbClr val="BFCDE1"/>
          </a:solidFill>
          <a:ln w="6350">
            <a:solidFill>
              <a:srgbClr val="FFFFFF"/>
            </a:solidFill>
            <a:prstDash val="solid"/>
          </a:ln>
        </p:spPr>
      </p:sp>
      <p:sp>
        <p:nvSpPr>
          <p:cNvPr id="87" name="Shape 85"/>
          <p:cNvSpPr/>
          <p:nvPr/>
        </p:nvSpPr>
        <p:spPr>
          <a:xfrm>
            <a:off x="6217920" y="2697480"/>
            <a:ext cx="274320" cy="274320"/>
          </a:xfrm>
          <a:prstGeom prst="rect">
            <a:avLst/>
          </a:prstGeom>
          <a:solidFill>
            <a:srgbClr val="B2C3DB"/>
          </a:solidFill>
          <a:ln w="6350">
            <a:solidFill>
              <a:srgbClr val="FFFFFF"/>
            </a:solidFill>
            <a:prstDash val="solid"/>
          </a:ln>
        </p:spPr>
      </p:sp>
      <p:sp>
        <p:nvSpPr>
          <p:cNvPr id="88" name="Text 86"/>
          <p:cNvSpPr txBox="1"/>
          <p:nvPr/>
        </p:nvSpPr>
        <p:spPr>
          <a:xfrm>
            <a:off x="548640" y="2971800"/>
            <a:ext cx="1737360" cy="274320"/>
          </a:xfrm>
          <a:prstGeom prst="rect">
            <a:avLst/>
          </a:prstGeom>
          <a:noFill/>
          <a:ln/>
        </p:spPr>
        <p:txBody>
          <a:bodyPr wrap="square" lIns="0" tIns="0" rIns="0" bIns="0" rtlCol="0" anchor="ctr"/>
          <a:lstStyle/>
          <a:p>
            <a:pPr indent="0" marL="0">
              <a:buNone/>
            </a:pPr>
            <a:r>
              <a:rPr lang="en-US" sz="1000" dirty="0">
                <a:solidFill>
                  <a:schemeClr val="tx2"/>
                </a:solidFill>
              </a:rPr>
              <a:t>6  close_sma50</a:t>
            </a:r>
            <a:endParaRPr lang="en-US" sz="1000" dirty="0"/>
          </a:p>
        </p:txBody>
      </p:sp>
      <p:sp>
        <p:nvSpPr>
          <p:cNvPr id="89" name="Text 87"/>
          <p:cNvSpPr txBox="1"/>
          <p:nvPr/>
        </p:nvSpPr>
        <p:spPr>
          <a:xfrm>
            <a:off x="37490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6</a:t>
            </a:r>
            <a:endParaRPr lang="en-US" sz="1000" dirty="0"/>
          </a:p>
        </p:txBody>
      </p:sp>
      <p:sp>
        <p:nvSpPr>
          <p:cNvPr id="90" name="Shape 88"/>
          <p:cNvSpPr/>
          <p:nvPr/>
        </p:nvSpPr>
        <p:spPr>
          <a:xfrm>
            <a:off x="2377440" y="2971800"/>
            <a:ext cx="274320" cy="274320"/>
          </a:xfrm>
          <a:prstGeom prst="rect">
            <a:avLst/>
          </a:prstGeom>
          <a:solidFill>
            <a:srgbClr val="F2D8CB"/>
          </a:solidFill>
          <a:ln w="6350">
            <a:solidFill>
              <a:srgbClr val="FFFFFF"/>
            </a:solidFill>
            <a:prstDash val="solid"/>
          </a:ln>
        </p:spPr>
      </p:sp>
      <p:sp>
        <p:nvSpPr>
          <p:cNvPr id="91" name="Shape 89"/>
          <p:cNvSpPr/>
          <p:nvPr/>
        </p:nvSpPr>
        <p:spPr>
          <a:xfrm>
            <a:off x="2651760" y="2971800"/>
            <a:ext cx="274320" cy="274320"/>
          </a:xfrm>
          <a:prstGeom prst="rect">
            <a:avLst/>
          </a:prstGeom>
          <a:solidFill>
            <a:srgbClr val="E4AD8F"/>
          </a:solidFill>
          <a:ln w="6350">
            <a:solidFill>
              <a:srgbClr val="FFFFFF"/>
            </a:solidFill>
            <a:prstDash val="solid"/>
          </a:ln>
        </p:spPr>
      </p:sp>
      <p:sp>
        <p:nvSpPr>
          <p:cNvPr id="92" name="Shape 90"/>
          <p:cNvSpPr/>
          <p:nvPr/>
        </p:nvSpPr>
        <p:spPr>
          <a:xfrm>
            <a:off x="2926080" y="2971800"/>
            <a:ext cx="274320" cy="274320"/>
          </a:xfrm>
          <a:prstGeom prst="rect">
            <a:avLst/>
          </a:prstGeom>
          <a:solidFill>
            <a:srgbClr val="DB9069"/>
          </a:solidFill>
          <a:ln w="6350">
            <a:solidFill>
              <a:srgbClr val="FFFFFF"/>
            </a:solidFill>
            <a:prstDash val="solid"/>
          </a:ln>
        </p:spPr>
      </p:sp>
      <p:sp>
        <p:nvSpPr>
          <p:cNvPr id="93" name="Shape 91"/>
          <p:cNvSpPr/>
          <p:nvPr/>
        </p:nvSpPr>
        <p:spPr>
          <a:xfrm>
            <a:off x="3200400" y="2971800"/>
            <a:ext cx="274320" cy="274320"/>
          </a:xfrm>
          <a:prstGeom prst="rect">
            <a:avLst/>
          </a:prstGeom>
          <a:solidFill>
            <a:srgbClr val="D0703D"/>
          </a:solidFill>
          <a:ln w="6350">
            <a:solidFill>
              <a:srgbClr val="FFFFFF"/>
            </a:solidFill>
            <a:prstDash val="solid"/>
          </a:ln>
        </p:spPr>
      </p:sp>
      <p:sp>
        <p:nvSpPr>
          <p:cNvPr id="94" name="Shape 92"/>
          <p:cNvSpPr/>
          <p:nvPr/>
        </p:nvSpPr>
        <p:spPr>
          <a:xfrm>
            <a:off x="3474720" y="2971800"/>
            <a:ext cx="274320" cy="274320"/>
          </a:xfrm>
          <a:prstGeom prst="rect">
            <a:avLst/>
          </a:prstGeom>
          <a:solidFill>
            <a:srgbClr val="D37949"/>
          </a:solidFill>
          <a:ln w="6350">
            <a:solidFill>
              <a:srgbClr val="FFFFFF"/>
            </a:solidFill>
            <a:prstDash val="solid"/>
          </a:ln>
        </p:spPr>
      </p:sp>
      <p:sp>
        <p:nvSpPr>
          <p:cNvPr id="95" name="Shape 93"/>
          <p:cNvSpPr/>
          <p:nvPr/>
        </p:nvSpPr>
        <p:spPr>
          <a:xfrm>
            <a:off x="3749040" y="2971800"/>
            <a:ext cx="274320" cy="274320"/>
          </a:xfrm>
          <a:prstGeom prst="rect">
            <a:avLst/>
          </a:prstGeom>
          <a:solidFill>
            <a:srgbClr val="C8571B"/>
          </a:solidFill>
          <a:ln w="6350">
            <a:solidFill>
              <a:srgbClr val="FFFFFF"/>
            </a:solidFill>
            <a:prstDash val="solid"/>
          </a:ln>
        </p:spPr>
      </p:sp>
      <p:sp>
        <p:nvSpPr>
          <p:cNvPr id="96" name="Shape 94"/>
          <p:cNvSpPr/>
          <p:nvPr/>
        </p:nvSpPr>
        <p:spPr>
          <a:xfrm>
            <a:off x="4023360" y="2971800"/>
            <a:ext cx="274320" cy="274320"/>
          </a:xfrm>
          <a:prstGeom prst="rect">
            <a:avLst/>
          </a:prstGeom>
          <a:solidFill>
            <a:srgbClr val="D98B62"/>
          </a:solidFill>
          <a:ln w="6350">
            <a:solidFill>
              <a:srgbClr val="FFFFFF"/>
            </a:solidFill>
            <a:prstDash val="solid"/>
          </a:ln>
        </p:spPr>
      </p:sp>
      <p:sp>
        <p:nvSpPr>
          <p:cNvPr id="97" name="Shape 95"/>
          <p:cNvSpPr/>
          <p:nvPr/>
        </p:nvSpPr>
        <p:spPr>
          <a:xfrm>
            <a:off x="4297680" y="2971800"/>
            <a:ext cx="274320" cy="274320"/>
          </a:xfrm>
          <a:prstGeom prst="rect">
            <a:avLst/>
          </a:prstGeom>
          <a:solidFill>
            <a:srgbClr val="D57F52"/>
          </a:solidFill>
          <a:ln w="6350">
            <a:solidFill>
              <a:srgbClr val="FFFFFF"/>
            </a:solidFill>
            <a:prstDash val="solid"/>
          </a:ln>
        </p:spPr>
      </p:sp>
      <p:sp>
        <p:nvSpPr>
          <p:cNvPr id="98" name="Shape 96"/>
          <p:cNvSpPr/>
          <p:nvPr/>
        </p:nvSpPr>
        <p:spPr>
          <a:xfrm>
            <a:off x="4572000" y="2971800"/>
            <a:ext cx="274320" cy="274320"/>
          </a:xfrm>
          <a:prstGeom prst="rect">
            <a:avLst/>
          </a:prstGeom>
          <a:solidFill>
            <a:srgbClr val="D27746"/>
          </a:solidFill>
          <a:ln w="6350">
            <a:solidFill>
              <a:srgbClr val="FFFFFF"/>
            </a:solidFill>
            <a:prstDash val="solid"/>
          </a:ln>
        </p:spPr>
      </p:sp>
      <p:sp>
        <p:nvSpPr>
          <p:cNvPr id="99" name="Shape 97"/>
          <p:cNvSpPr/>
          <p:nvPr/>
        </p:nvSpPr>
        <p:spPr>
          <a:xfrm>
            <a:off x="4846320" y="2971800"/>
            <a:ext cx="274320" cy="274320"/>
          </a:xfrm>
          <a:prstGeom prst="rect">
            <a:avLst/>
          </a:prstGeom>
          <a:solidFill>
            <a:srgbClr val="E7B59B"/>
          </a:solidFill>
          <a:ln w="6350">
            <a:solidFill>
              <a:srgbClr val="FFFFFF"/>
            </a:solidFill>
            <a:prstDash val="solid"/>
          </a:ln>
        </p:spPr>
      </p:sp>
      <p:sp>
        <p:nvSpPr>
          <p:cNvPr id="100" name="Shape 98"/>
          <p:cNvSpPr/>
          <p:nvPr/>
        </p:nvSpPr>
        <p:spPr>
          <a:xfrm>
            <a:off x="5120640" y="2971800"/>
            <a:ext cx="274320" cy="274320"/>
          </a:xfrm>
          <a:prstGeom prst="rect">
            <a:avLst/>
          </a:prstGeom>
          <a:solidFill>
            <a:srgbClr val="DA8D64"/>
          </a:solidFill>
          <a:ln w="6350">
            <a:solidFill>
              <a:srgbClr val="FFFFFF"/>
            </a:solidFill>
            <a:prstDash val="solid"/>
          </a:ln>
        </p:spPr>
      </p:sp>
      <p:sp>
        <p:nvSpPr>
          <p:cNvPr id="101" name="Shape 99"/>
          <p:cNvSpPr/>
          <p:nvPr/>
        </p:nvSpPr>
        <p:spPr>
          <a:xfrm>
            <a:off x="5394960" y="2971800"/>
            <a:ext cx="274320" cy="274320"/>
          </a:xfrm>
          <a:prstGeom prst="rect">
            <a:avLst/>
          </a:prstGeom>
          <a:solidFill>
            <a:srgbClr val="95ACCE"/>
          </a:solidFill>
          <a:ln w="6350">
            <a:solidFill>
              <a:srgbClr val="FFFFFF"/>
            </a:solidFill>
            <a:prstDash val="solid"/>
          </a:ln>
        </p:spPr>
      </p:sp>
      <p:sp>
        <p:nvSpPr>
          <p:cNvPr id="102" name="Shape 100"/>
          <p:cNvSpPr/>
          <p:nvPr/>
        </p:nvSpPr>
        <p:spPr>
          <a:xfrm>
            <a:off x="5669280" y="2971800"/>
            <a:ext cx="274320" cy="274320"/>
          </a:xfrm>
          <a:prstGeom prst="rect">
            <a:avLst/>
          </a:prstGeom>
          <a:solidFill>
            <a:srgbClr val="849FC6"/>
          </a:solidFill>
          <a:ln w="6350">
            <a:solidFill>
              <a:srgbClr val="FFFFFF"/>
            </a:solidFill>
            <a:prstDash val="solid"/>
          </a:ln>
        </p:spPr>
      </p:sp>
      <p:sp>
        <p:nvSpPr>
          <p:cNvPr id="103" name="Shape 101"/>
          <p:cNvSpPr/>
          <p:nvPr/>
        </p:nvSpPr>
        <p:spPr>
          <a:xfrm>
            <a:off x="5943600" y="2971800"/>
            <a:ext cx="274320" cy="274320"/>
          </a:xfrm>
          <a:prstGeom prst="rect">
            <a:avLst/>
          </a:prstGeom>
          <a:solidFill>
            <a:srgbClr val="86A1C7"/>
          </a:solidFill>
          <a:ln w="6350">
            <a:solidFill>
              <a:srgbClr val="FFFFFF"/>
            </a:solidFill>
            <a:prstDash val="solid"/>
          </a:ln>
        </p:spPr>
      </p:sp>
      <p:sp>
        <p:nvSpPr>
          <p:cNvPr id="104" name="Shape 102"/>
          <p:cNvSpPr/>
          <p:nvPr/>
        </p:nvSpPr>
        <p:spPr>
          <a:xfrm>
            <a:off x="6217920" y="2971800"/>
            <a:ext cx="274320" cy="274320"/>
          </a:xfrm>
          <a:prstGeom prst="rect">
            <a:avLst/>
          </a:prstGeom>
          <a:solidFill>
            <a:srgbClr val="DCE3EF"/>
          </a:solidFill>
          <a:ln w="6350">
            <a:solidFill>
              <a:srgbClr val="FFFFFF"/>
            </a:solidFill>
            <a:prstDash val="solid"/>
          </a:ln>
        </p:spPr>
      </p:sp>
      <p:sp>
        <p:nvSpPr>
          <p:cNvPr id="105" name="Text 103"/>
          <p:cNvSpPr txBox="1"/>
          <p:nvPr/>
        </p:nvSpPr>
        <p:spPr>
          <a:xfrm>
            <a:off x="548640" y="3246120"/>
            <a:ext cx="1737360" cy="274320"/>
          </a:xfrm>
          <a:prstGeom prst="rect">
            <a:avLst/>
          </a:prstGeom>
          <a:noFill/>
          <a:ln/>
        </p:spPr>
        <p:txBody>
          <a:bodyPr wrap="square" lIns="0" tIns="0" rIns="0" bIns="0" rtlCol="0" anchor="ctr"/>
          <a:lstStyle/>
          <a:p>
            <a:pPr indent="0" marL="0">
              <a:buNone/>
            </a:pPr>
            <a:r>
              <a:rPr lang="en-US" sz="1000" dirty="0">
                <a:solidFill>
                  <a:schemeClr val="tx2"/>
                </a:solidFill>
              </a:rPr>
              <a:t>7  close_sma200</a:t>
            </a:r>
            <a:endParaRPr lang="en-US" sz="1000" dirty="0"/>
          </a:p>
        </p:txBody>
      </p:sp>
      <p:sp>
        <p:nvSpPr>
          <p:cNvPr id="106" name="Text 104"/>
          <p:cNvSpPr txBox="1"/>
          <p:nvPr/>
        </p:nvSpPr>
        <p:spPr>
          <a:xfrm>
            <a:off x="40233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7</a:t>
            </a:r>
            <a:endParaRPr lang="en-US" sz="1000" dirty="0"/>
          </a:p>
        </p:txBody>
      </p:sp>
      <p:sp>
        <p:nvSpPr>
          <p:cNvPr id="107" name="Shape 105"/>
          <p:cNvSpPr/>
          <p:nvPr/>
        </p:nvSpPr>
        <p:spPr>
          <a:xfrm>
            <a:off x="2377440" y="3246120"/>
            <a:ext cx="274320" cy="274320"/>
          </a:xfrm>
          <a:prstGeom prst="rect">
            <a:avLst/>
          </a:prstGeom>
          <a:solidFill>
            <a:srgbClr val="F8EBE4"/>
          </a:solidFill>
          <a:ln w="6350">
            <a:solidFill>
              <a:srgbClr val="FFFFFF"/>
            </a:solidFill>
            <a:prstDash val="solid"/>
          </a:ln>
        </p:spPr>
      </p:sp>
      <p:sp>
        <p:nvSpPr>
          <p:cNvPr id="108" name="Shape 106"/>
          <p:cNvSpPr/>
          <p:nvPr/>
        </p:nvSpPr>
        <p:spPr>
          <a:xfrm>
            <a:off x="2651760" y="3246120"/>
            <a:ext cx="274320" cy="274320"/>
          </a:xfrm>
          <a:prstGeom prst="rect">
            <a:avLst/>
          </a:prstGeom>
          <a:solidFill>
            <a:srgbClr val="F0D2C1"/>
          </a:solidFill>
          <a:ln w="6350">
            <a:solidFill>
              <a:srgbClr val="FFFFFF"/>
            </a:solidFill>
            <a:prstDash val="solid"/>
          </a:ln>
        </p:spPr>
      </p:sp>
      <p:sp>
        <p:nvSpPr>
          <p:cNvPr id="109" name="Shape 107"/>
          <p:cNvSpPr/>
          <p:nvPr/>
        </p:nvSpPr>
        <p:spPr>
          <a:xfrm>
            <a:off x="2926080" y="3246120"/>
            <a:ext cx="274320" cy="274320"/>
          </a:xfrm>
          <a:prstGeom prst="rect">
            <a:avLst/>
          </a:prstGeom>
          <a:solidFill>
            <a:srgbClr val="EBC1AB"/>
          </a:solidFill>
          <a:ln w="6350">
            <a:solidFill>
              <a:srgbClr val="FFFFFF"/>
            </a:solidFill>
            <a:prstDash val="solid"/>
          </a:ln>
        </p:spPr>
      </p:sp>
      <p:sp>
        <p:nvSpPr>
          <p:cNvPr id="110" name="Shape 108"/>
          <p:cNvSpPr/>
          <p:nvPr/>
        </p:nvSpPr>
        <p:spPr>
          <a:xfrm>
            <a:off x="3200400" y="3246120"/>
            <a:ext cx="274320" cy="274320"/>
          </a:xfrm>
          <a:prstGeom prst="rect">
            <a:avLst/>
          </a:prstGeom>
          <a:solidFill>
            <a:srgbClr val="E3A98B"/>
          </a:solidFill>
          <a:ln w="6350">
            <a:solidFill>
              <a:srgbClr val="FFFFFF"/>
            </a:solidFill>
            <a:prstDash val="solid"/>
          </a:ln>
        </p:spPr>
      </p:sp>
      <p:sp>
        <p:nvSpPr>
          <p:cNvPr id="111" name="Shape 109"/>
          <p:cNvSpPr/>
          <p:nvPr/>
        </p:nvSpPr>
        <p:spPr>
          <a:xfrm>
            <a:off x="3474720" y="3246120"/>
            <a:ext cx="274320" cy="274320"/>
          </a:xfrm>
          <a:prstGeom prst="rect">
            <a:avLst/>
          </a:prstGeom>
          <a:solidFill>
            <a:srgbClr val="E6B296"/>
          </a:solidFill>
          <a:ln w="6350">
            <a:solidFill>
              <a:srgbClr val="FFFFFF"/>
            </a:solidFill>
            <a:prstDash val="solid"/>
          </a:ln>
        </p:spPr>
      </p:sp>
      <p:sp>
        <p:nvSpPr>
          <p:cNvPr id="112" name="Shape 110"/>
          <p:cNvSpPr/>
          <p:nvPr/>
        </p:nvSpPr>
        <p:spPr>
          <a:xfrm>
            <a:off x="3749040" y="3246120"/>
            <a:ext cx="274320" cy="274320"/>
          </a:xfrm>
          <a:prstGeom prst="rect">
            <a:avLst/>
          </a:prstGeom>
          <a:solidFill>
            <a:srgbClr val="D98B62"/>
          </a:solidFill>
          <a:ln w="6350">
            <a:solidFill>
              <a:srgbClr val="FFFFFF"/>
            </a:solidFill>
            <a:prstDash val="solid"/>
          </a:ln>
        </p:spPr>
      </p:sp>
      <p:sp>
        <p:nvSpPr>
          <p:cNvPr id="113" name="Shape 111"/>
          <p:cNvSpPr/>
          <p:nvPr/>
        </p:nvSpPr>
        <p:spPr>
          <a:xfrm>
            <a:off x="4023360" y="3246120"/>
            <a:ext cx="274320" cy="274320"/>
          </a:xfrm>
          <a:prstGeom prst="rect">
            <a:avLst/>
          </a:prstGeom>
          <a:solidFill>
            <a:srgbClr val="C8571B"/>
          </a:solidFill>
          <a:ln w="6350">
            <a:solidFill>
              <a:srgbClr val="FFFFFF"/>
            </a:solidFill>
            <a:prstDash val="solid"/>
          </a:ln>
        </p:spPr>
      </p:sp>
      <p:sp>
        <p:nvSpPr>
          <p:cNvPr id="114" name="Shape 112"/>
          <p:cNvSpPr/>
          <p:nvPr/>
        </p:nvSpPr>
        <p:spPr>
          <a:xfrm>
            <a:off x="4297680" y="3246120"/>
            <a:ext cx="274320" cy="274320"/>
          </a:xfrm>
          <a:prstGeom prst="rect">
            <a:avLst/>
          </a:prstGeom>
          <a:solidFill>
            <a:srgbClr val="DD9772"/>
          </a:solidFill>
          <a:ln w="6350">
            <a:solidFill>
              <a:srgbClr val="FFFFFF"/>
            </a:solidFill>
            <a:prstDash val="solid"/>
          </a:ln>
        </p:spPr>
      </p:sp>
      <p:sp>
        <p:nvSpPr>
          <p:cNvPr id="115" name="Shape 113"/>
          <p:cNvSpPr/>
          <p:nvPr/>
        </p:nvSpPr>
        <p:spPr>
          <a:xfrm>
            <a:off x="4572000" y="3246120"/>
            <a:ext cx="274320" cy="274320"/>
          </a:xfrm>
          <a:prstGeom prst="rect">
            <a:avLst/>
          </a:prstGeom>
          <a:solidFill>
            <a:srgbClr val="DF9C78"/>
          </a:solidFill>
          <a:ln w="6350">
            <a:solidFill>
              <a:srgbClr val="FFFFFF"/>
            </a:solidFill>
            <a:prstDash val="solid"/>
          </a:ln>
        </p:spPr>
      </p:sp>
      <p:sp>
        <p:nvSpPr>
          <p:cNvPr id="116" name="Shape 114"/>
          <p:cNvSpPr/>
          <p:nvPr/>
        </p:nvSpPr>
        <p:spPr>
          <a:xfrm>
            <a:off x="4846320" y="3246120"/>
            <a:ext cx="274320" cy="274320"/>
          </a:xfrm>
          <a:prstGeom prst="rect">
            <a:avLst/>
          </a:prstGeom>
          <a:solidFill>
            <a:srgbClr val="F7E7DF"/>
          </a:solidFill>
          <a:ln w="6350">
            <a:solidFill>
              <a:srgbClr val="FFFFFF"/>
            </a:solidFill>
            <a:prstDash val="solid"/>
          </a:ln>
        </p:spPr>
      </p:sp>
      <p:sp>
        <p:nvSpPr>
          <p:cNvPr id="117" name="Shape 115"/>
          <p:cNvSpPr/>
          <p:nvPr/>
        </p:nvSpPr>
        <p:spPr>
          <a:xfrm>
            <a:off x="5120640" y="3246120"/>
            <a:ext cx="274320" cy="274320"/>
          </a:xfrm>
          <a:prstGeom prst="rect">
            <a:avLst/>
          </a:prstGeom>
          <a:solidFill>
            <a:srgbClr val="E7B79D"/>
          </a:solidFill>
          <a:ln w="6350">
            <a:solidFill>
              <a:srgbClr val="FFFFFF"/>
            </a:solidFill>
            <a:prstDash val="solid"/>
          </a:ln>
        </p:spPr>
      </p:sp>
      <p:sp>
        <p:nvSpPr>
          <p:cNvPr id="118" name="Shape 116"/>
          <p:cNvSpPr/>
          <p:nvPr/>
        </p:nvSpPr>
        <p:spPr>
          <a:xfrm>
            <a:off x="5394960" y="3246120"/>
            <a:ext cx="274320" cy="274320"/>
          </a:xfrm>
          <a:prstGeom prst="rect">
            <a:avLst/>
          </a:prstGeom>
          <a:solidFill>
            <a:srgbClr val="88A3C8"/>
          </a:solidFill>
          <a:ln w="6350">
            <a:solidFill>
              <a:srgbClr val="FFFFFF"/>
            </a:solidFill>
            <a:prstDash val="solid"/>
          </a:ln>
        </p:spPr>
      </p:sp>
      <p:sp>
        <p:nvSpPr>
          <p:cNvPr id="119" name="Shape 117"/>
          <p:cNvSpPr/>
          <p:nvPr/>
        </p:nvSpPr>
        <p:spPr>
          <a:xfrm>
            <a:off x="5669280" y="3246120"/>
            <a:ext cx="274320" cy="274320"/>
          </a:xfrm>
          <a:prstGeom prst="rect">
            <a:avLst/>
          </a:prstGeom>
          <a:solidFill>
            <a:srgbClr val="7492BE"/>
          </a:solidFill>
          <a:ln w="6350">
            <a:solidFill>
              <a:srgbClr val="FFFFFF"/>
            </a:solidFill>
            <a:prstDash val="solid"/>
          </a:ln>
        </p:spPr>
      </p:sp>
      <p:sp>
        <p:nvSpPr>
          <p:cNvPr id="120" name="Shape 118"/>
          <p:cNvSpPr/>
          <p:nvPr/>
        </p:nvSpPr>
        <p:spPr>
          <a:xfrm>
            <a:off x="5943600" y="3246120"/>
            <a:ext cx="274320" cy="274320"/>
          </a:xfrm>
          <a:prstGeom prst="rect">
            <a:avLst/>
          </a:prstGeom>
          <a:solidFill>
            <a:srgbClr val="6B8CBA"/>
          </a:solidFill>
          <a:ln w="6350">
            <a:solidFill>
              <a:srgbClr val="FFFFFF"/>
            </a:solidFill>
            <a:prstDash val="solid"/>
          </a:ln>
        </p:spPr>
      </p:sp>
      <p:sp>
        <p:nvSpPr>
          <p:cNvPr id="121" name="Shape 119"/>
          <p:cNvSpPr/>
          <p:nvPr/>
        </p:nvSpPr>
        <p:spPr>
          <a:xfrm>
            <a:off x="6217920" y="3246120"/>
            <a:ext cx="274320" cy="274320"/>
          </a:xfrm>
          <a:prstGeom prst="rect">
            <a:avLst/>
          </a:prstGeom>
          <a:solidFill>
            <a:srgbClr val="FBFCFD"/>
          </a:solidFill>
          <a:ln w="6350">
            <a:solidFill>
              <a:srgbClr val="FFFFFF"/>
            </a:solidFill>
            <a:prstDash val="solid"/>
          </a:ln>
        </p:spPr>
      </p:sp>
      <p:sp>
        <p:nvSpPr>
          <p:cNvPr id="122" name="Text 120"/>
          <p:cNvSpPr txBox="1"/>
          <p:nvPr/>
        </p:nvSpPr>
        <p:spPr>
          <a:xfrm>
            <a:off x="548640" y="3520440"/>
            <a:ext cx="1737360" cy="274320"/>
          </a:xfrm>
          <a:prstGeom prst="rect">
            <a:avLst/>
          </a:prstGeom>
          <a:noFill/>
          <a:ln/>
        </p:spPr>
        <p:txBody>
          <a:bodyPr wrap="square" lIns="0" tIns="0" rIns="0" bIns="0" rtlCol="0" anchor="ctr"/>
          <a:lstStyle/>
          <a:p>
            <a:pPr indent="0" marL="0">
              <a:buNone/>
            </a:pPr>
            <a:r>
              <a:rPr lang="en-US" sz="1000" dirty="0">
                <a:solidFill>
                  <a:schemeClr val="tx2"/>
                </a:solidFill>
              </a:rPr>
              <a:t>8  sma20_sma50</a:t>
            </a:r>
            <a:endParaRPr lang="en-US" sz="1000" dirty="0"/>
          </a:p>
        </p:txBody>
      </p:sp>
      <p:sp>
        <p:nvSpPr>
          <p:cNvPr id="123" name="Text 121"/>
          <p:cNvSpPr txBox="1"/>
          <p:nvPr/>
        </p:nvSpPr>
        <p:spPr>
          <a:xfrm>
            <a:off x="42976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8</a:t>
            </a:r>
            <a:endParaRPr lang="en-US" sz="1000" dirty="0"/>
          </a:p>
        </p:txBody>
      </p:sp>
      <p:sp>
        <p:nvSpPr>
          <p:cNvPr id="124" name="Shape 122"/>
          <p:cNvSpPr/>
          <p:nvPr/>
        </p:nvSpPr>
        <p:spPr>
          <a:xfrm>
            <a:off x="2377440" y="3520440"/>
            <a:ext cx="274320" cy="274320"/>
          </a:xfrm>
          <a:prstGeom prst="rect">
            <a:avLst/>
          </a:prstGeom>
          <a:solidFill>
            <a:srgbClr val="F9FAFC"/>
          </a:solidFill>
          <a:ln w="6350">
            <a:solidFill>
              <a:srgbClr val="FFFFFF"/>
            </a:solidFill>
            <a:prstDash val="solid"/>
          </a:ln>
        </p:spPr>
      </p:sp>
      <p:sp>
        <p:nvSpPr>
          <p:cNvPr id="125" name="Shape 123"/>
          <p:cNvSpPr/>
          <p:nvPr/>
        </p:nvSpPr>
        <p:spPr>
          <a:xfrm>
            <a:off x="2651760" y="3520440"/>
            <a:ext cx="274320" cy="274320"/>
          </a:xfrm>
          <a:prstGeom prst="rect">
            <a:avLst/>
          </a:prstGeom>
          <a:solidFill>
            <a:srgbClr val="FDFDFE"/>
          </a:solidFill>
          <a:ln w="6350">
            <a:solidFill>
              <a:srgbClr val="FFFFFF"/>
            </a:solidFill>
            <a:prstDash val="solid"/>
          </a:ln>
        </p:spPr>
      </p:sp>
      <p:sp>
        <p:nvSpPr>
          <p:cNvPr id="126" name="Shape 124"/>
          <p:cNvSpPr/>
          <p:nvPr/>
        </p:nvSpPr>
        <p:spPr>
          <a:xfrm>
            <a:off x="2926080" y="3520440"/>
            <a:ext cx="274320" cy="274320"/>
          </a:xfrm>
          <a:prstGeom prst="rect">
            <a:avLst/>
          </a:prstGeom>
          <a:solidFill>
            <a:srgbClr val="FAF0EA"/>
          </a:solidFill>
          <a:ln w="6350">
            <a:solidFill>
              <a:srgbClr val="FFFFFF"/>
            </a:solidFill>
            <a:prstDash val="solid"/>
          </a:ln>
        </p:spPr>
      </p:sp>
      <p:sp>
        <p:nvSpPr>
          <p:cNvPr id="127" name="Shape 125"/>
          <p:cNvSpPr/>
          <p:nvPr/>
        </p:nvSpPr>
        <p:spPr>
          <a:xfrm>
            <a:off x="3200400" y="3520440"/>
            <a:ext cx="274320" cy="274320"/>
          </a:xfrm>
          <a:prstGeom prst="rect">
            <a:avLst/>
          </a:prstGeom>
          <a:solidFill>
            <a:srgbClr val="E5B094"/>
          </a:solidFill>
          <a:ln w="6350">
            <a:solidFill>
              <a:srgbClr val="FFFFFF"/>
            </a:solidFill>
            <a:prstDash val="solid"/>
          </a:ln>
        </p:spPr>
      </p:sp>
      <p:sp>
        <p:nvSpPr>
          <p:cNvPr id="128" name="Shape 126"/>
          <p:cNvSpPr/>
          <p:nvPr/>
        </p:nvSpPr>
        <p:spPr>
          <a:xfrm>
            <a:off x="3474720" y="3520440"/>
            <a:ext cx="274320" cy="274320"/>
          </a:xfrm>
          <a:prstGeom prst="rect">
            <a:avLst/>
          </a:prstGeom>
          <a:solidFill>
            <a:srgbClr val="F3DCCF"/>
          </a:solidFill>
          <a:ln w="6350">
            <a:solidFill>
              <a:srgbClr val="FFFFFF"/>
            </a:solidFill>
            <a:prstDash val="solid"/>
          </a:ln>
        </p:spPr>
      </p:sp>
      <p:sp>
        <p:nvSpPr>
          <p:cNvPr id="129" name="Shape 127"/>
          <p:cNvSpPr/>
          <p:nvPr/>
        </p:nvSpPr>
        <p:spPr>
          <a:xfrm>
            <a:off x="3749040" y="3520440"/>
            <a:ext cx="274320" cy="274320"/>
          </a:xfrm>
          <a:prstGeom prst="rect">
            <a:avLst/>
          </a:prstGeom>
          <a:solidFill>
            <a:srgbClr val="D57F52"/>
          </a:solidFill>
          <a:ln w="6350">
            <a:solidFill>
              <a:srgbClr val="FFFFFF"/>
            </a:solidFill>
            <a:prstDash val="solid"/>
          </a:ln>
        </p:spPr>
      </p:sp>
      <p:sp>
        <p:nvSpPr>
          <p:cNvPr id="130" name="Shape 128"/>
          <p:cNvSpPr/>
          <p:nvPr/>
        </p:nvSpPr>
        <p:spPr>
          <a:xfrm>
            <a:off x="4023360" y="3520440"/>
            <a:ext cx="274320" cy="274320"/>
          </a:xfrm>
          <a:prstGeom prst="rect">
            <a:avLst/>
          </a:prstGeom>
          <a:solidFill>
            <a:srgbClr val="DD9772"/>
          </a:solidFill>
          <a:ln w="6350">
            <a:solidFill>
              <a:srgbClr val="FFFFFF"/>
            </a:solidFill>
            <a:prstDash val="solid"/>
          </a:ln>
        </p:spPr>
      </p:sp>
      <p:sp>
        <p:nvSpPr>
          <p:cNvPr id="131" name="Shape 129"/>
          <p:cNvSpPr/>
          <p:nvPr/>
        </p:nvSpPr>
        <p:spPr>
          <a:xfrm>
            <a:off x="4297680" y="3520440"/>
            <a:ext cx="274320" cy="274320"/>
          </a:xfrm>
          <a:prstGeom prst="rect">
            <a:avLst/>
          </a:prstGeom>
          <a:solidFill>
            <a:srgbClr val="C8571B"/>
          </a:solidFill>
          <a:ln w="6350">
            <a:solidFill>
              <a:srgbClr val="FFFFFF"/>
            </a:solidFill>
            <a:prstDash val="solid"/>
          </a:ln>
        </p:spPr>
      </p:sp>
      <p:sp>
        <p:nvSpPr>
          <p:cNvPr id="132" name="Shape 130"/>
          <p:cNvSpPr/>
          <p:nvPr/>
        </p:nvSpPr>
        <p:spPr>
          <a:xfrm>
            <a:off x="4572000" y="3520440"/>
            <a:ext cx="274320" cy="274320"/>
          </a:xfrm>
          <a:prstGeom prst="rect">
            <a:avLst/>
          </a:prstGeom>
          <a:solidFill>
            <a:srgbClr val="E6B398"/>
          </a:solidFill>
          <a:ln w="6350">
            <a:solidFill>
              <a:srgbClr val="FFFFFF"/>
            </a:solidFill>
            <a:prstDash val="solid"/>
          </a:ln>
        </p:spPr>
      </p:sp>
      <p:sp>
        <p:nvSpPr>
          <p:cNvPr id="133" name="Shape 131"/>
          <p:cNvSpPr/>
          <p:nvPr/>
        </p:nvSpPr>
        <p:spPr>
          <a:xfrm>
            <a:off x="4846320" y="3520440"/>
            <a:ext cx="274320" cy="274320"/>
          </a:xfrm>
          <a:prstGeom prst="rect">
            <a:avLst/>
          </a:prstGeom>
          <a:solidFill>
            <a:srgbClr val="D1DBEA"/>
          </a:solidFill>
          <a:ln w="6350">
            <a:solidFill>
              <a:srgbClr val="FFFFFF"/>
            </a:solidFill>
            <a:prstDash val="solid"/>
          </a:ln>
        </p:spPr>
      </p:sp>
      <p:sp>
        <p:nvSpPr>
          <p:cNvPr id="134" name="Shape 132"/>
          <p:cNvSpPr/>
          <p:nvPr/>
        </p:nvSpPr>
        <p:spPr>
          <a:xfrm>
            <a:off x="5120640" y="3520440"/>
            <a:ext cx="274320" cy="274320"/>
          </a:xfrm>
          <a:prstGeom prst="rect">
            <a:avLst/>
          </a:prstGeom>
          <a:solidFill>
            <a:srgbClr val="F3DCCF"/>
          </a:solidFill>
          <a:ln w="6350">
            <a:solidFill>
              <a:srgbClr val="FFFFFF"/>
            </a:solidFill>
            <a:prstDash val="solid"/>
          </a:ln>
        </p:spPr>
      </p:sp>
      <p:sp>
        <p:nvSpPr>
          <p:cNvPr id="135" name="Shape 133"/>
          <p:cNvSpPr/>
          <p:nvPr/>
        </p:nvSpPr>
        <p:spPr>
          <a:xfrm>
            <a:off x="5394960" y="3520440"/>
            <a:ext cx="274320" cy="274320"/>
          </a:xfrm>
          <a:prstGeom prst="rect">
            <a:avLst/>
          </a:prstGeom>
          <a:solidFill>
            <a:srgbClr val="88A3C8"/>
          </a:solidFill>
          <a:ln w="6350">
            <a:solidFill>
              <a:srgbClr val="FFFFFF"/>
            </a:solidFill>
            <a:prstDash val="solid"/>
          </a:ln>
        </p:spPr>
      </p:sp>
      <p:sp>
        <p:nvSpPr>
          <p:cNvPr id="136" name="Shape 134"/>
          <p:cNvSpPr/>
          <p:nvPr/>
        </p:nvSpPr>
        <p:spPr>
          <a:xfrm>
            <a:off x="5669280" y="3520440"/>
            <a:ext cx="274320" cy="274320"/>
          </a:xfrm>
          <a:prstGeom prst="rect">
            <a:avLst/>
          </a:prstGeom>
          <a:solidFill>
            <a:srgbClr val="7291BD"/>
          </a:solidFill>
          <a:ln w="6350">
            <a:solidFill>
              <a:srgbClr val="FFFFFF"/>
            </a:solidFill>
            <a:prstDash val="solid"/>
          </a:ln>
        </p:spPr>
      </p:sp>
      <p:sp>
        <p:nvSpPr>
          <p:cNvPr id="137" name="Shape 135"/>
          <p:cNvSpPr/>
          <p:nvPr/>
        </p:nvSpPr>
        <p:spPr>
          <a:xfrm>
            <a:off x="5943600" y="3520440"/>
            <a:ext cx="274320" cy="274320"/>
          </a:xfrm>
          <a:prstGeom prst="rect">
            <a:avLst/>
          </a:prstGeom>
          <a:solidFill>
            <a:srgbClr val="809CC4"/>
          </a:solidFill>
          <a:ln w="6350">
            <a:solidFill>
              <a:srgbClr val="FFFFFF"/>
            </a:solidFill>
            <a:prstDash val="solid"/>
          </a:ln>
        </p:spPr>
      </p:sp>
      <p:sp>
        <p:nvSpPr>
          <p:cNvPr id="138" name="Shape 136"/>
          <p:cNvSpPr/>
          <p:nvPr/>
        </p:nvSpPr>
        <p:spPr>
          <a:xfrm>
            <a:off x="6217920" y="3520440"/>
            <a:ext cx="274320" cy="274320"/>
          </a:xfrm>
          <a:prstGeom prst="rect">
            <a:avLst/>
          </a:prstGeom>
          <a:solidFill>
            <a:srgbClr val="F8E9E1"/>
          </a:solidFill>
          <a:ln w="6350">
            <a:solidFill>
              <a:srgbClr val="FFFFFF"/>
            </a:solidFill>
            <a:prstDash val="solid"/>
          </a:ln>
        </p:spPr>
      </p:sp>
      <p:sp>
        <p:nvSpPr>
          <p:cNvPr id="139" name="Text 137"/>
          <p:cNvSpPr txBox="1"/>
          <p:nvPr/>
        </p:nvSpPr>
        <p:spPr>
          <a:xfrm>
            <a:off x="548640" y="3794760"/>
            <a:ext cx="1737360" cy="274320"/>
          </a:xfrm>
          <a:prstGeom prst="rect">
            <a:avLst/>
          </a:prstGeom>
          <a:noFill/>
          <a:ln/>
        </p:spPr>
        <p:txBody>
          <a:bodyPr wrap="square" lIns="0" tIns="0" rIns="0" bIns="0" rtlCol="0" anchor="ctr"/>
          <a:lstStyle/>
          <a:p>
            <a:pPr indent="0" marL="0">
              <a:buNone/>
            </a:pPr>
            <a:r>
              <a:rPr lang="en-US" sz="1000" dirty="0">
                <a:solidFill>
                  <a:schemeClr val="tx2"/>
                </a:solidFill>
              </a:rPr>
              <a:t>9  rsi_14</a:t>
            </a:r>
            <a:endParaRPr lang="en-US" sz="1000" dirty="0"/>
          </a:p>
        </p:txBody>
      </p:sp>
      <p:sp>
        <p:nvSpPr>
          <p:cNvPr id="140" name="Text 138"/>
          <p:cNvSpPr txBox="1"/>
          <p:nvPr/>
        </p:nvSpPr>
        <p:spPr>
          <a:xfrm>
            <a:off x="45720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9</a:t>
            </a:r>
            <a:endParaRPr lang="en-US" sz="1000" dirty="0"/>
          </a:p>
        </p:txBody>
      </p:sp>
      <p:sp>
        <p:nvSpPr>
          <p:cNvPr id="141" name="Shape 139"/>
          <p:cNvSpPr/>
          <p:nvPr/>
        </p:nvSpPr>
        <p:spPr>
          <a:xfrm>
            <a:off x="2377440" y="3794760"/>
            <a:ext cx="274320" cy="274320"/>
          </a:xfrm>
          <a:prstGeom prst="rect">
            <a:avLst/>
          </a:prstGeom>
          <a:solidFill>
            <a:srgbClr val="EFCEBD"/>
          </a:solidFill>
          <a:ln w="6350">
            <a:solidFill>
              <a:srgbClr val="FFFFFF"/>
            </a:solidFill>
            <a:prstDash val="solid"/>
          </a:ln>
        </p:spPr>
      </p:sp>
      <p:sp>
        <p:nvSpPr>
          <p:cNvPr id="142" name="Shape 140"/>
          <p:cNvSpPr/>
          <p:nvPr/>
        </p:nvSpPr>
        <p:spPr>
          <a:xfrm>
            <a:off x="2651760" y="3794760"/>
            <a:ext cx="274320" cy="274320"/>
          </a:xfrm>
          <a:prstGeom prst="rect">
            <a:avLst/>
          </a:prstGeom>
          <a:solidFill>
            <a:srgbClr val="DF9E7B"/>
          </a:solidFill>
          <a:ln w="6350">
            <a:solidFill>
              <a:srgbClr val="FFFFFF"/>
            </a:solidFill>
            <a:prstDash val="solid"/>
          </a:ln>
        </p:spPr>
      </p:sp>
      <p:sp>
        <p:nvSpPr>
          <p:cNvPr id="143" name="Shape 141"/>
          <p:cNvSpPr/>
          <p:nvPr/>
        </p:nvSpPr>
        <p:spPr>
          <a:xfrm>
            <a:off x="2926080" y="3794760"/>
            <a:ext cx="274320" cy="274320"/>
          </a:xfrm>
          <a:prstGeom prst="rect">
            <a:avLst/>
          </a:prstGeom>
          <a:solidFill>
            <a:srgbClr val="D9895F"/>
          </a:solidFill>
          <a:ln w="6350">
            <a:solidFill>
              <a:srgbClr val="FFFFFF"/>
            </a:solidFill>
            <a:prstDash val="solid"/>
          </a:ln>
        </p:spPr>
      </p:sp>
      <p:sp>
        <p:nvSpPr>
          <p:cNvPr id="144" name="Shape 142"/>
          <p:cNvSpPr/>
          <p:nvPr/>
        </p:nvSpPr>
        <p:spPr>
          <a:xfrm>
            <a:off x="3200400" y="3794760"/>
            <a:ext cx="274320" cy="274320"/>
          </a:xfrm>
          <a:prstGeom prst="rect">
            <a:avLst/>
          </a:prstGeom>
          <a:solidFill>
            <a:srgbClr val="D78459"/>
          </a:solidFill>
          <a:ln w="6350">
            <a:solidFill>
              <a:srgbClr val="FFFFFF"/>
            </a:solidFill>
            <a:prstDash val="solid"/>
          </a:ln>
        </p:spPr>
      </p:sp>
      <p:sp>
        <p:nvSpPr>
          <p:cNvPr id="145" name="Shape 143"/>
          <p:cNvSpPr/>
          <p:nvPr/>
        </p:nvSpPr>
        <p:spPr>
          <a:xfrm>
            <a:off x="3474720" y="3794760"/>
            <a:ext cx="274320" cy="274320"/>
          </a:xfrm>
          <a:prstGeom prst="rect">
            <a:avLst/>
          </a:prstGeom>
          <a:solidFill>
            <a:srgbClr val="D47A4B"/>
          </a:solidFill>
          <a:ln w="6350">
            <a:solidFill>
              <a:srgbClr val="FFFFFF"/>
            </a:solidFill>
            <a:prstDash val="solid"/>
          </a:ln>
        </p:spPr>
      </p:sp>
      <p:sp>
        <p:nvSpPr>
          <p:cNvPr id="146" name="Shape 144"/>
          <p:cNvSpPr/>
          <p:nvPr/>
        </p:nvSpPr>
        <p:spPr>
          <a:xfrm>
            <a:off x="3749040" y="3794760"/>
            <a:ext cx="274320" cy="274320"/>
          </a:xfrm>
          <a:prstGeom prst="rect">
            <a:avLst/>
          </a:prstGeom>
          <a:solidFill>
            <a:srgbClr val="D27746"/>
          </a:solidFill>
          <a:ln w="6350">
            <a:solidFill>
              <a:srgbClr val="FFFFFF"/>
            </a:solidFill>
            <a:prstDash val="solid"/>
          </a:ln>
        </p:spPr>
      </p:sp>
      <p:sp>
        <p:nvSpPr>
          <p:cNvPr id="147" name="Shape 145"/>
          <p:cNvSpPr/>
          <p:nvPr/>
        </p:nvSpPr>
        <p:spPr>
          <a:xfrm>
            <a:off x="4023360" y="3794760"/>
            <a:ext cx="274320" cy="274320"/>
          </a:xfrm>
          <a:prstGeom prst="rect">
            <a:avLst/>
          </a:prstGeom>
          <a:solidFill>
            <a:srgbClr val="DF9C78"/>
          </a:solidFill>
          <a:ln w="6350">
            <a:solidFill>
              <a:srgbClr val="FFFFFF"/>
            </a:solidFill>
            <a:prstDash val="solid"/>
          </a:ln>
        </p:spPr>
      </p:sp>
      <p:sp>
        <p:nvSpPr>
          <p:cNvPr id="148" name="Shape 146"/>
          <p:cNvSpPr/>
          <p:nvPr/>
        </p:nvSpPr>
        <p:spPr>
          <a:xfrm>
            <a:off x="4297680" y="3794760"/>
            <a:ext cx="274320" cy="274320"/>
          </a:xfrm>
          <a:prstGeom prst="rect">
            <a:avLst/>
          </a:prstGeom>
          <a:solidFill>
            <a:srgbClr val="E6B398"/>
          </a:solidFill>
          <a:ln w="6350">
            <a:solidFill>
              <a:srgbClr val="FFFFFF"/>
            </a:solidFill>
            <a:prstDash val="solid"/>
          </a:ln>
        </p:spPr>
      </p:sp>
      <p:sp>
        <p:nvSpPr>
          <p:cNvPr id="149" name="Shape 147"/>
          <p:cNvSpPr/>
          <p:nvPr/>
        </p:nvSpPr>
        <p:spPr>
          <a:xfrm>
            <a:off x="4572000" y="3794760"/>
            <a:ext cx="274320" cy="274320"/>
          </a:xfrm>
          <a:prstGeom prst="rect">
            <a:avLst/>
          </a:prstGeom>
          <a:solidFill>
            <a:srgbClr val="C8571B"/>
          </a:solidFill>
          <a:ln w="6350">
            <a:solidFill>
              <a:srgbClr val="FFFFFF"/>
            </a:solidFill>
            <a:prstDash val="solid"/>
          </a:ln>
        </p:spPr>
      </p:sp>
      <p:sp>
        <p:nvSpPr>
          <p:cNvPr id="150" name="Shape 148"/>
          <p:cNvSpPr/>
          <p:nvPr/>
        </p:nvSpPr>
        <p:spPr>
          <a:xfrm>
            <a:off x="4846320" y="3794760"/>
            <a:ext cx="274320" cy="274320"/>
          </a:xfrm>
          <a:prstGeom prst="rect">
            <a:avLst/>
          </a:prstGeom>
          <a:solidFill>
            <a:srgbClr val="E1A484"/>
          </a:solidFill>
          <a:ln w="6350">
            <a:solidFill>
              <a:srgbClr val="FFFFFF"/>
            </a:solidFill>
            <a:prstDash val="solid"/>
          </a:ln>
        </p:spPr>
      </p:sp>
      <p:sp>
        <p:nvSpPr>
          <p:cNvPr id="151" name="Shape 149"/>
          <p:cNvSpPr/>
          <p:nvPr/>
        </p:nvSpPr>
        <p:spPr>
          <a:xfrm>
            <a:off x="5120640" y="3794760"/>
            <a:ext cx="274320" cy="274320"/>
          </a:xfrm>
          <a:prstGeom prst="rect">
            <a:avLst/>
          </a:prstGeom>
          <a:solidFill>
            <a:srgbClr val="CE6832"/>
          </a:solidFill>
          <a:ln w="6350">
            <a:solidFill>
              <a:srgbClr val="FFFFFF"/>
            </a:solidFill>
            <a:prstDash val="solid"/>
          </a:ln>
        </p:spPr>
      </p:sp>
      <p:sp>
        <p:nvSpPr>
          <p:cNvPr id="152" name="Shape 150"/>
          <p:cNvSpPr/>
          <p:nvPr/>
        </p:nvSpPr>
        <p:spPr>
          <a:xfrm>
            <a:off x="5394960" y="3794760"/>
            <a:ext cx="274320" cy="274320"/>
          </a:xfrm>
          <a:prstGeom prst="rect">
            <a:avLst/>
          </a:prstGeom>
          <a:solidFill>
            <a:srgbClr val="C9D5E6"/>
          </a:solidFill>
          <a:ln w="6350">
            <a:solidFill>
              <a:srgbClr val="FFFFFF"/>
            </a:solidFill>
            <a:prstDash val="solid"/>
          </a:ln>
        </p:spPr>
      </p:sp>
      <p:sp>
        <p:nvSpPr>
          <p:cNvPr id="153" name="Shape 151"/>
          <p:cNvSpPr/>
          <p:nvPr/>
        </p:nvSpPr>
        <p:spPr>
          <a:xfrm>
            <a:off x="5669280" y="3794760"/>
            <a:ext cx="274320" cy="274320"/>
          </a:xfrm>
          <a:prstGeom prst="rect">
            <a:avLst/>
          </a:prstGeom>
          <a:solidFill>
            <a:srgbClr val="AABDD7"/>
          </a:solidFill>
          <a:ln w="6350">
            <a:solidFill>
              <a:srgbClr val="FFFFFF"/>
            </a:solidFill>
            <a:prstDash val="solid"/>
          </a:ln>
        </p:spPr>
      </p:sp>
      <p:sp>
        <p:nvSpPr>
          <p:cNvPr id="154" name="Shape 152"/>
          <p:cNvSpPr/>
          <p:nvPr/>
        </p:nvSpPr>
        <p:spPr>
          <a:xfrm>
            <a:off x="5943600" y="3794760"/>
            <a:ext cx="274320" cy="274320"/>
          </a:xfrm>
          <a:prstGeom prst="rect">
            <a:avLst/>
          </a:prstGeom>
          <a:solidFill>
            <a:srgbClr val="A3B8D4"/>
          </a:solidFill>
          <a:ln w="6350">
            <a:solidFill>
              <a:srgbClr val="FFFFFF"/>
            </a:solidFill>
            <a:prstDash val="solid"/>
          </a:ln>
        </p:spPr>
      </p:sp>
      <p:sp>
        <p:nvSpPr>
          <p:cNvPr id="155" name="Shape 153"/>
          <p:cNvSpPr/>
          <p:nvPr/>
        </p:nvSpPr>
        <p:spPr>
          <a:xfrm>
            <a:off x="6217920" y="3794760"/>
            <a:ext cx="274320" cy="274320"/>
          </a:xfrm>
          <a:prstGeom prst="rect">
            <a:avLst/>
          </a:prstGeom>
          <a:solidFill>
            <a:srgbClr val="C1CEE2"/>
          </a:solidFill>
          <a:ln w="6350">
            <a:solidFill>
              <a:srgbClr val="FFFFFF"/>
            </a:solidFill>
            <a:prstDash val="solid"/>
          </a:ln>
        </p:spPr>
      </p:sp>
      <p:sp>
        <p:nvSpPr>
          <p:cNvPr id="156" name="Text 154"/>
          <p:cNvSpPr txBox="1"/>
          <p:nvPr/>
        </p:nvSpPr>
        <p:spPr>
          <a:xfrm>
            <a:off x="548640" y="4069080"/>
            <a:ext cx="1737360" cy="274320"/>
          </a:xfrm>
          <a:prstGeom prst="rect">
            <a:avLst/>
          </a:prstGeom>
          <a:noFill/>
          <a:ln/>
        </p:spPr>
        <p:txBody>
          <a:bodyPr wrap="square" lIns="0" tIns="0" rIns="0" bIns="0" rtlCol="0" anchor="ctr"/>
          <a:lstStyle/>
          <a:p>
            <a:pPr indent="0" marL="0">
              <a:buNone/>
            </a:pPr>
            <a:r>
              <a:rPr lang="en-US" sz="1000" dirty="0">
                <a:solidFill>
                  <a:schemeClr val="tx2"/>
                </a:solidFill>
              </a:rPr>
              <a:t>10  macd_hist</a:t>
            </a:r>
            <a:endParaRPr lang="en-US" sz="1000" dirty="0"/>
          </a:p>
        </p:txBody>
      </p:sp>
      <p:sp>
        <p:nvSpPr>
          <p:cNvPr id="157" name="Text 155"/>
          <p:cNvSpPr txBox="1"/>
          <p:nvPr/>
        </p:nvSpPr>
        <p:spPr>
          <a:xfrm>
            <a:off x="48463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10</a:t>
            </a:r>
            <a:endParaRPr lang="en-US" sz="1000" dirty="0"/>
          </a:p>
        </p:txBody>
      </p:sp>
      <p:sp>
        <p:nvSpPr>
          <p:cNvPr id="158" name="Shape 156"/>
          <p:cNvSpPr/>
          <p:nvPr/>
        </p:nvSpPr>
        <p:spPr>
          <a:xfrm>
            <a:off x="2377440" y="4069080"/>
            <a:ext cx="274320" cy="274320"/>
          </a:xfrm>
          <a:prstGeom prst="rect">
            <a:avLst/>
          </a:prstGeom>
          <a:solidFill>
            <a:srgbClr val="F5DFD4"/>
          </a:solidFill>
          <a:ln w="6350">
            <a:solidFill>
              <a:srgbClr val="FFFFFF"/>
            </a:solidFill>
            <a:prstDash val="solid"/>
          </a:ln>
        </p:spPr>
      </p:sp>
      <p:sp>
        <p:nvSpPr>
          <p:cNvPr id="159" name="Shape 157"/>
          <p:cNvSpPr/>
          <p:nvPr/>
        </p:nvSpPr>
        <p:spPr>
          <a:xfrm>
            <a:off x="2651760" y="4069080"/>
            <a:ext cx="274320" cy="274320"/>
          </a:xfrm>
          <a:prstGeom prst="rect">
            <a:avLst/>
          </a:prstGeom>
          <a:solidFill>
            <a:srgbClr val="D9895F"/>
          </a:solidFill>
          <a:ln w="6350">
            <a:solidFill>
              <a:srgbClr val="FFFFFF"/>
            </a:solidFill>
            <a:prstDash val="solid"/>
          </a:ln>
        </p:spPr>
      </p:sp>
      <p:sp>
        <p:nvSpPr>
          <p:cNvPr id="160" name="Shape 158"/>
          <p:cNvSpPr/>
          <p:nvPr/>
        </p:nvSpPr>
        <p:spPr>
          <a:xfrm>
            <a:off x="2926080" y="4069080"/>
            <a:ext cx="274320" cy="274320"/>
          </a:xfrm>
          <a:prstGeom prst="rect">
            <a:avLst/>
          </a:prstGeom>
          <a:solidFill>
            <a:srgbClr val="CF6B36"/>
          </a:solidFill>
          <a:ln w="6350">
            <a:solidFill>
              <a:srgbClr val="FFFFFF"/>
            </a:solidFill>
            <a:prstDash val="solid"/>
          </a:ln>
        </p:spPr>
      </p:sp>
      <p:sp>
        <p:nvSpPr>
          <p:cNvPr id="161" name="Shape 159"/>
          <p:cNvSpPr/>
          <p:nvPr/>
        </p:nvSpPr>
        <p:spPr>
          <a:xfrm>
            <a:off x="3200400" y="4069080"/>
            <a:ext cx="274320" cy="274320"/>
          </a:xfrm>
          <a:prstGeom prst="rect">
            <a:avLst/>
          </a:prstGeom>
          <a:solidFill>
            <a:srgbClr val="DD9974"/>
          </a:solidFill>
          <a:ln w="6350">
            <a:solidFill>
              <a:srgbClr val="FFFFFF"/>
            </a:solidFill>
            <a:prstDash val="solid"/>
          </a:ln>
        </p:spPr>
      </p:sp>
      <p:sp>
        <p:nvSpPr>
          <p:cNvPr id="162" name="Shape 160"/>
          <p:cNvSpPr/>
          <p:nvPr/>
        </p:nvSpPr>
        <p:spPr>
          <a:xfrm>
            <a:off x="3474720" y="4069080"/>
            <a:ext cx="274320" cy="274320"/>
          </a:xfrm>
          <a:prstGeom prst="rect">
            <a:avLst/>
          </a:prstGeom>
          <a:solidFill>
            <a:srgbClr val="CF6D39"/>
          </a:solidFill>
          <a:ln w="6350">
            <a:solidFill>
              <a:srgbClr val="FFFFFF"/>
            </a:solidFill>
            <a:prstDash val="solid"/>
          </a:ln>
        </p:spPr>
      </p:sp>
      <p:sp>
        <p:nvSpPr>
          <p:cNvPr id="163" name="Shape 161"/>
          <p:cNvSpPr/>
          <p:nvPr/>
        </p:nvSpPr>
        <p:spPr>
          <a:xfrm>
            <a:off x="3749040" y="4069080"/>
            <a:ext cx="274320" cy="274320"/>
          </a:xfrm>
          <a:prstGeom prst="rect">
            <a:avLst/>
          </a:prstGeom>
          <a:solidFill>
            <a:srgbClr val="E7B59B"/>
          </a:solidFill>
          <a:ln w="6350">
            <a:solidFill>
              <a:srgbClr val="FFFFFF"/>
            </a:solidFill>
            <a:prstDash val="solid"/>
          </a:ln>
        </p:spPr>
      </p:sp>
      <p:sp>
        <p:nvSpPr>
          <p:cNvPr id="164" name="Shape 162"/>
          <p:cNvSpPr/>
          <p:nvPr/>
        </p:nvSpPr>
        <p:spPr>
          <a:xfrm>
            <a:off x="4023360" y="4069080"/>
            <a:ext cx="274320" cy="274320"/>
          </a:xfrm>
          <a:prstGeom prst="rect">
            <a:avLst/>
          </a:prstGeom>
          <a:solidFill>
            <a:srgbClr val="F7E7DF"/>
          </a:solidFill>
          <a:ln w="6350">
            <a:solidFill>
              <a:srgbClr val="FFFFFF"/>
            </a:solidFill>
            <a:prstDash val="solid"/>
          </a:ln>
        </p:spPr>
      </p:sp>
      <p:sp>
        <p:nvSpPr>
          <p:cNvPr id="165" name="Shape 163"/>
          <p:cNvSpPr/>
          <p:nvPr/>
        </p:nvSpPr>
        <p:spPr>
          <a:xfrm>
            <a:off x="4297680" y="4069080"/>
            <a:ext cx="274320" cy="274320"/>
          </a:xfrm>
          <a:prstGeom prst="rect">
            <a:avLst/>
          </a:prstGeom>
          <a:solidFill>
            <a:srgbClr val="D1DBEA"/>
          </a:solidFill>
          <a:ln w="6350">
            <a:solidFill>
              <a:srgbClr val="FFFFFF"/>
            </a:solidFill>
            <a:prstDash val="solid"/>
          </a:ln>
        </p:spPr>
      </p:sp>
      <p:sp>
        <p:nvSpPr>
          <p:cNvPr id="166" name="Shape 164"/>
          <p:cNvSpPr/>
          <p:nvPr/>
        </p:nvSpPr>
        <p:spPr>
          <a:xfrm>
            <a:off x="4572000" y="4069080"/>
            <a:ext cx="274320" cy="274320"/>
          </a:xfrm>
          <a:prstGeom prst="rect">
            <a:avLst/>
          </a:prstGeom>
          <a:solidFill>
            <a:srgbClr val="E1A484"/>
          </a:solidFill>
          <a:ln w="6350">
            <a:solidFill>
              <a:srgbClr val="FFFFFF"/>
            </a:solidFill>
            <a:prstDash val="solid"/>
          </a:ln>
        </p:spPr>
      </p:sp>
      <p:sp>
        <p:nvSpPr>
          <p:cNvPr id="167" name="Shape 165"/>
          <p:cNvSpPr/>
          <p:nvPr/>
        </p:nvSpPr>
        <p:spPr>
          <a:xfrm>
            <a:off x="4846320" y="4069080"/>
            <a:ext cx="274320" cy="274320"/>
          </a:xfrm>
          <a:prstGeom prst="rect">
            <a:avLst/>
          </a:prstGeom>
          <a:solidFill>
            <a:srgbClr val="C8571B"/>
          </a:solidFill>
          <a:ln w="6350">
            <a:solidFill>
              <a:srgbClr val="FFFFFF"/>
            </a:solidFill>
            <a:prstDash val="solid"/>
          </a:ln>
        </p:spPr>
      </p:sp>
      <p:sp>
        <p:nvSpPr>
          <p:cNvPr id="168" name="Shape 166"/>
          <p:cNvSpPr/>
          <p:nvPr/>
        </p:nvSpPr>
        <p:spPr>
          <a:xfrm>
            <a:off x="5120640" y="4069080"/>
            <a:ext cx="274320" cy="274320"/>
          </a:xfrm>
          <a:prstGeom prst="rect">
            <a:avLst/>
          </a:prstGeom>
          <a:solidFill>
            <a:srgbClr val="DB9069"/>
          </a:solidFill>
          <a:ln w="6350">
            <a:solidFill>
              <a:srgbClr val="FFFFFF"/>
            </a:solidFill>
            <a:prstDash val="solid"/>
          </a:ln>
        </p:spPr>
      </p:sp>
      <p:sp>
        <p:nvSpPr>
          <p:cNvPr id="169" name="Shape 167"/>
          <p:cNvSpPr/>
          <p:nvPr/>
        </p:nvSpPr>
        <p:spPr>
          <a:xfrm>
            <a:off x="5394960" y="4069080"/>
            <a:ext cx="274320" cy="274320"/>
          </a:xfrm>
          <a:prstGeom prst="rect">
            <a:avLst/>
          </a:prstGeom>
          <a:solidFill>
            <a:srgbClr val="FBFCFD"/>
          </a:solidFill>
          <a:ln w="6350">
            <a:solidFill>
              <a:srgbClr val="FFFFFF"/>
            </a:solidFill>
            <a:prstDash val="solid"/>
          </a:ln>
        </p:spPr>
      </p:sp>
      <p:sp>
        <p:nvSpPr>
          <p:cNvPr id="170" name="Shape 168"/>
          <p:cNvSpPr/>
          <p:nvPr/>
        </p:nvSpPr>
        <p:spPr>
          <a:xfrm>
            <a:off x="5669280" y="4069080"/>
            <a:ext cx="274320" cy="274320"/>
          </a:xfrm>
          <a:prstGeom prst="rect">
            <a:avLst/>
          </a:prstGeom>
          <a:solidFill>
            <a:srgbClr val="FDF8F6"/>
          </a:solidFill>
          <a:ln w="6350">
            <a:solidFill>
              <a:srgbClr val="FFFFFF"/>
            </a:solidFill>
            <a:prstDash val="solid"/>
          </a:ln>
        </p:spPr>
      </p:sp>
      <p:sp>
        <p:nvSpPr>
          <p:cNvPr id="171" name="Shape 169"/>
          <p:cNvSpPr/>
          <p:nvPr/>
        </p:nvSpPr>
        <p:spPr>
          <a:xfrm>
            <a:off x="5943600" y="4069080"/>
            <a:ext cx="274320" cy="274320"/>
          </a:xfrm>
          <a:prstGeom prst="rect">
            <a:avLst/>
          </a:prstGeom>
          <a:solidFill>
            <a:srgbClr val="F7F9FB"/>
          </a:solidFill>
          <a:ln w="6350">
            <a:solidFill>
              <a:srgbClr val="FFFFFF"/>
            </a:solidFill>
            <a:prstDash val="solid"/>
          </a:ln>
        </p:spPr>
      </p:sp>
      <p:sp>
        <p:nvSpPr>
          <p:cNvPr id="172" name="Shape 170"/>
          <p:cNvSpPr/>
          <p:nvPr/>
        </p:nvSpPr>
        <p:spPr>
          <a:xfrm>
            <a:off x="6217920" y="4069080"/>
            <a:ext cx="274320" cy="274320"/>
          </a:xfrm>
          <a:prstGeom prst="rect">
            <a:avLst/>
          </a:prstGeom>
          <a:solidFill>
            <a:srgbClr val="AEC0D9"/>
          </a:solidFill>
          <a:ln w="6350">
            <a:solidFill>
              <a:srgbClr val="FFFFFF"/>
            </a:solidFill>
            <a:prstDash val="solid"/>
          </a:ln>
        </p:spPr>
      </p:sp>
      <p:sp>
        <p:nvSpPr>
          <p:cNvPr id="173" name="Text 171"/>
          <p:cNvSpPr txBox="1"/>
          <p:nvPr/>
        </p:nvSpPr>
        <p:spPr>
          <a:xfrm>
            <a:off x="548640" y="4343400"/>
            <a:ext cx="1737360" cy="274320"/>
          </a:xfrm>
          <a:prstGeom prst="rect">
            <a:avLst/>
          </a:prstGeom>
          <a:noFill/>
          <a:ln/>
        </p:spPr>
        <p:txBody>
          <a:bodyPr wrap="square" lIns="0" tIns="0" rIns="0" bIns="0" rtlCol="0" anchor="ctr"/>
          <a:lstStyle/>
          <a:p>
            <a:pPr indent="0" marL="0">
              <a:buNone/>
            </a:pPr>
            <a:r>
              <a:rPr lang="en-US" sz="1000" dirty="0">
                <a:solidFill>
                  <a:schemeClr val="tx2"/>
                </a:solidFill>
              </a:rPr>
              <a:t>11  bb_pctb</a:t>
            </a:r>
            <a:endParaRPr lang="en-US" sz="1000" dirty="0"/>
          </a:p>
        </p:txBody>
      </p:sp>
      <p:sp>
        <p:nvSpPr>
          <p:cNvPr id="174" name="Text 172"/>
          <p:cNvSpPr txBox="1"/>
          <p:nvPr/>
        </p:nvSpPr>
        <p:spPr>
          <a:xfrm>
            <a:off x="51206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11</a:t>
            </a:r>
            <a:endParaRPr lang="en-US" sz="1000" dirty="0"/>
          </a:p>
        </p:txBody>
      </p:sp>
      <p:sp>
        <p:nvSpPr>
          <p:cNvPr id="175" name="Shape 173"/>
          <p:cNvSpPr/>
          <p:nvPr/>
        </p:nvSpPr>
        <p:spPr>
          <a:xfrm>
            <a:off x="2377440" y="4343400"/>
            <a:ext cx="274320" cy="274320"/>
          </a:xfrm>
          <a:prstGeom prst="rect">
            <a:avLst/>
          </a:prstGeom>
          <a:solidFill>
            <a:srgbClr val="EBC1AB"/>
          </a:solidFill>
          <a:ln w="6350">
            <a:solidFill>
              <a:srgbClr val="FFFFFF"/>
            </a:solidFill>
            <a:prstDash val="solid"/>
          </a:ln>
        </p:spPr>
      </p:sp>
      <p:sp>
        <p:nvSpPr>
          <p:cNvPr id="176" name="Shape 174"/>
          <p:cNvSpPr/>
          <p:nvPr/>
        </p:nvSpPr>
        <p:spPr>
          <a:xfrm>
            <a:off x="2651760" y="4343400"/>
            <a:ext cx="274320" cy="274320"/>
          </a:xfrm>
          <a:prstGeom prst="rect">
            <a:avLst/>
          </a:prstGeom>
          <a:solidFill>
            <a:srgbClr val="DA8D64"/>
          </a:solidFill>
          <a:ln w="6350">
            <a:solidFill>
              <a:srgbClr val="FFFFFF"/>
            </a:solidFill>
            <a:prstDash val="solid"/>
          </a:ln>
        </p:spPr>
      </p:sp>
      <p:sp>
        <p:nvSpPr>
          <p:cNvPr id="177" name="Shape 175"/>
          <p:cNvSpPr/>
          <p:nvPr/>
        </p:nvSpPr>
        <p:spPr>
          <a:xfrm>
            <a:off x="2926080" y="4343400"/>
            <a:ext cx="274320" cy="274320"/>
          </a:xfrm>
          <a:prstGeom prst="rect">
            <a:avLst/>
          </a:prstGeom>
          <a:solidFill>
            <a:srgbClr val="D68154"/>
          </a:solidFill>
          <a:ln w="6350">
            <a:solidFill>
              <a:srgbClr val="FFFFFF"/>
            </a:solidFill>
            <a:prstDash val="solid"/>
          </a:ln>
        </p:spPr>
      </p:sp>
      <p:sp>
        <p:nvSpPr>
          <p:cNvPr id="178" name="Shape 176"/>
          <p:cNvSpPr/>
          <p:nvPr/>
        </p:nvSpPr>
        <p:spPr>
          <a:xfrm>
            <a:off x="3200400" y="4343400"/>
            <a:ext cx="274320" cy="274320"/>
          </a:xfrm>
          <a:prstGeom prst="rect">
            <a:avLst/>
          </a:prstGeom>
          <a:solidFill>
            <a:srgbClr val="DB9069"/>
          </a:solidFill>
          <a:ln w="6350">
            <a:solidFill>
              <a:srgbClr val="FFFFFF"/>
            </a:solidFill>
            <a:prstDash val="solid"/>
          </a:ln>
        </p:spPr>
      </p:sp>
      <p:sp>
        <p:nvSpPr>
          <p:cNvPr id="179" name="Shape 177"/>
          <p:cNvSpPr/>
          <p:nvPr/>
        </p:nvSpPr>
        <p:spPr>
          <a:xfrm>
            <a:off x="3474720" y="4343400"/>
            <a:ext cx="274320" cy="274320"/>
          </a:xfrm>
          <a:prstGeom prst="rect">
            <a:avLst/>
          </a:prstGeom>
          <a:solidFill>
            <a:srgbClr val="D27746"/>
          </a:solidFill>
          <a:ln w="6350">
            <a:solidFill>
              <a:srgbClr val="FFFFFF"/>
            </a:solidFill>
            <a:prstDash val="solid"/>
          </a:ln>
        </p:spPr>
      </p:sp>
      <p:sp>
        <p:nvSpPr>
          <p:cNvPr id="180" name="Shape 178"/>
          <p:cNvSpPr/>
          <p:nvPr/>
        </p:nvSpPr>
        <p:spPr>
          <a:xfrm>
            <a:off x="3749040" y="4343400"/>
            <a:ext cx="274320" cy="274320"/>
          </a:xfrm>
          <a:prstGeom prst="rect">
            <a:avLst/>
          </a:prstGeom>
          <a:solidFill>
            <a:srgbClr val="DA8D64"/>
          </a:solidFill>
          <a:ln w="6350">
            <a:solidFill>
              <a:srgbClr val="FFFFFF"/>
            </a:solidFill>
            <a:prstDash val="solid"/>
          </a:ln>
        </p:spPr>
      </p:sp>
      <p:sp>
        <p:nvSpPr>
          <p:cNvPr id="181" name="Shape 179"/>
          <p:cNvSpPr/>
          <p:nvPr/>
        </p:nvSpPr>
        <p:spPr>
          <a:xfrm>
            <a:off x="4023360" y="4343400"/>
            <a:ext cx="274320" cy="274320"/>
          </a:xfrm>
          <a:prstGeom prst="rect">
            <a:avLst/>
          </a:prstGeom>
          <a:solidFill>
            <a:srgbClr val="E7B79D"/>
          </a:solidFill>
          <a:ln w="6350">
            <a:solidFill>
              <a:srgbClr val="FFFFFF"/>
            </a:solidFill>
            <a:prstDash val="solid"/>
          </a:ln>
        </p:spPr>
      </p:sp>
      <p:sp>
        <p:nvSpPr>
          <p:cNvPr id="182" name="Shape 180"/>
          <p:cNvSpPr/>
          <p:nvPr/>
        </p:nvSpPr>
        <p:spPr>
          <a:xfrm>
            <a:off x="4297680" y="4343400"/>
            <a:ext cx="274320" cy="274320"/>
          </a:xfrm>
          <a:prstGeom prst="rect">
            <a:avLst/>
          </a:prstGeom>
          <a:solidFill>
            <a:srgbClr val="F3DCCF"/>
          </a:solidFill>
          <a:ln w="6350">
            <a:solidFill>
              <a:srgbClr val="FFFFFF"/>
            </a:solidFill>
            <a:prstDash val="solid"/>
          </a:ln>
        </p:spPr>
      </p:sp>
      <p:sp>
        <p:nvSpPr>
          <p:cNvPr id="183" name="Shape 181"/>
          <p:cNvSpPr/>
          <p:nvPr/>
        </p:nvSpPr>
        <p:spPr>
          <a:xfrm>
            <a:off x="4572000" y="4343400"/>
            <a:ext cx="274320" cy="274320"/>
          </a:xfrm>
          <a:prstGeom prst="rect">
            <a:avLst/>
          </a:prstGeom>
          <a:solidFill>
            <a:srgbClr val="CE6832"/>
          </a:solidFill>
          <a:ln w="6350">
            <a:solidFill>
              <a:srgbClr val="FFFFFF"/>
            </a:solidFill>
            <a:prstDash val="solid"/>
          </a:ln>
        </p:spPr>
      </p:sp>
      <p:sp>
        <p:nvSpPr>
          <p:cNvPr id="184" name="Shape 182"/>
          <p:cNvSpPr/>
          <p:nvPr/>
        </p:nvSpPr>
        <p:spPr>
          <a:xfrm>
            <a:off x="4846320" y="4343400"/>
            <a:ext cx="274320" cy="274320"/>
          </a:xfrm>
          <a:prstGeom prst="rect">
            <a:avLst/>
          </a:prstGeom>
          <a:solidFill>
            <a:srgbClr val="DB9069"/>
          </a:solidFill>
          <a:ln w="6350">
            <a:solidFill>
              <a:srgbClr val="FFFFFF"/>
            </a:solidFill>
            <a:prstDash val="solid"/>
          </a:ln>
        </p:spPr>
      </p:sp>
      <p:sp>
        <p:nvSpPr>
          <p:cNvPr id="185" name="Shape 183"/>
          <p:cNvSpPr/>
          <p:nvPr/>
        </p:nvSpPr>
        <p:spPr>
          <a:xfrm>
            <a:off x="5120640" y="4343400"/>
            <a:ext cx="274320" cy="274320"/>
          </a:xfrm>
          <a:prstGeom prst="rect">
            <a:avLst/>
          </a:prstGeom>
          <a:solidFill>
            <a:srgbClr val="C8571B"/>
          </a:solidFill>
          <a:ln w="6350">
            <a:solidFill>
              <a:srgbClr val="FFFFFF"/>
            </a:solidFill>
            <a:prstDash val="solid"/>
          </a:ln>
        </p:spPr>
      </p:sp>
      <p:sp>
        <p:nvSpPr>
          <p:cNvPr id="186" name="Shape 184"/>
          <p:cNvSpPr/>
          <p:nvPr/>
        </p:nvSpPr>
        <p:spPr>
          <a:xfrm>
            <a:off x="5394960" y="4343400"/>
            <a:ext cx="274320" cy="274320"/>
          </a:xfrm>
          <a:prstGeom prst="rect">
            <a:avLst/>
          </a:prstGeom>
          <a:solidFill>
            <a:srgbClr val="E2E8F1"/>
          </a:solidFill>
          <a:ln w="6350">
            <a:solidFill>
              <a:srgbClr val="FFFFFF"/>
            </a:solidFill>
            <a:prstDash val="solid"/>
          </a:ln>
        </p:spPr>
      </p:sp>
      <p:sp>
        <p:nvSpPr>
          <p:cNvPr id="187" name="Shape 185"/>
          <p:cNvSpPr/>
          <p:nvPr/>
        </p:nvSpPr>
        <p:spPr>
          <a:xfrm>
            <a:off x="5669280" y="4343400"/>
            <a:ext cx="274320" cy="274320"/>
          </a:xfrm>
          <a:prstGeom prst="rect">
            <a:avLst/>
          </a:prstGeom>
          <a:solidFill>
            <a:srgbClr val="D1DBEA"/>
          </a:solidFill>
          <a:ln w="6350">
            <a:solidFill>
              <a:srgbClr val="FFFFFF"/>
            </a:solidFill>
            <a:prstDash val="solid"/>
          </a:ln>
        </p:spPr>
      </p:sp>
      <p:sp>
        <p:nvSpPr>
          <p:cNvPr id="188" name="Shape 186"/>
          <p:cNvSpPr/>
          <p:nvPr/>
        </p:nvSpPr>
        <p:spPr>
          <a:xfrm>
            <a:off x="5943600" y="4343400"/>
            <a:ext cx="274320" cy="274320"/>
          </a:xfrm>
          <a:prstGeom prst="rect">
            <a:avLst/>
          </a:prstGeom>
          <a:solidFill>
            <a:srgbClr val="C9D5E6"/>
          </a:solidFill>
          <a:ln w="6350">
            <a:solidFill>
              <a:srgbClr val="FFFFFF"/>
            </a:solidFill>
            <a:prstDash val="solid"/>
          </a:ln>
        </p:spPr>
      </p:sp>
      <p:sp>
        <p:nvSpPr>
          <p:cNvPr id="189" name="Shape 187"/>
          <p:cNvSpPr/>
          <p:nvPr/>
        </p:nvSpPr>
        <p:spPr>
          <a:xfrm>
            <a:off x="6217920" y="4343400"/>
            <a:ext cx="274320" cy="274320"/>
          </a:xfrm>
          <a:prstGeom prst="rect">
            <a:avLst/>
          </a:prstGeom>
          <a:solidFill>
            <a:srgbClr val="A8BBD6"/>
          </a:solidFill>
          <a:ln w="6350">
            <a:solidFill>
              <a:srgbClr val="FFFFFF"/>
            </a:solidFill>
            <a:prstDash val="solid"/>
          </a:ln>
        </p:spPr>
      </p:sp>
      <p:sp>
        <p:nvSpPr>
          <p:cNvPr id="190" name="Text 188"/>
          <p:cNvSpPr txBox="1"/>
          <p:nvPr/>
        </p:nvSpPr>
        <p:spPr>
          <a:xfrm>
            <a:off x="548640" y="4617720"/>
            <a:ext cx="1737360" cy="274320"/>
          </a:xfrm>
          <a:prstGeom prst="rect">
            <a:avLst/>
          </a:prstGeom>
          <a:noFill/>
          <a:ln/>
        </p:spPr>
        <p:txBody>
          <a:bodyPr wrap="square" lIns="0" tIns="0" rIns="0" bIns="0" rtlCol="0" anchor="ctr"/>
          <a:lstStyle/>
          <a:p>
            <a:pPr indent="0" marL="0">
              <a:buNone/>
            </a:pPr>
            <a:r>
              <a:rPr lang="en-US" sz="1000" dirty="0">
                <a:solidFill>
                  <a:schemeClr val="tx2"/>
                </a:solidFill>
              </a:rPr>
              <a:t>12  bb_width</a:t>
            </a:r>
            <a:endParaRPr lang="en-US" sz="1000" dirty="0"/>
          </a:p>
        </p:txBody>
      </p:sp>
      <p:sp>
        <p:nvSpPr>
          <p:cNvPr id="191" name="Text 189"/>
          <p:cNvSpPr txBox="1"/>
          <p:nvPr/>
        </p:nvSpPr>
        <p:spPr>
          <a:xfrm>
            <a:off x="53949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12</a:t>
            </a:r>
            <a:endParaRPr lang="en-US" sz="1000" dirty="0"/>
          </a:p>
        </p:txBody>
      </p:sp>
      <p:sp>
        <p:nvSpPr>
          <p:cNvPr id="192" name="Shape 190"/>
          <p:cNvSpPr/>
          <p:nvPr/>
        </p:nvSpPr>
        <p:spPr>
          <a:xfrm>
            <a:off x="2377440" y="4617720"/>
            <a:ext cx="274320" cy="274320"/>
          </a:xfrm>
          <a:prstGeom prst="rect">
            <a:avLst/>
          </a:prstGeom>
          <a:solidFill>
            <a:srgbClr val="FEFDFD"/>
          </a:solidFill>
          <a:ln w="6350">
            <a:solidFill>
              <a:srgbClr val="FFFFFF"/>
            </a:solidFill>
            <a:prstDash val="solid"/>
          </a:ln>
        </p:spPr>
      </p:sp>
      <p:sp>
        <p:nvSpPr>
          <p:cNvPr id="193" name="Shape 191"/>
          <p:cNvSpPr/>
          <p:nvPr/>
        </p:nvSpPr>
        <p:spPr>
          <a:xfrm>
            <a:off x="2651760" y="4617720"/>
            <a:ext cx="274320" cy="274320"/>
          </a:xfrm>
          <a:prstGeom prst="rect">
            <a:avLst/>
          </a:prstGeom>
          <a:solidFill>
            <a:srgbClr val="F3F5F9"/>
          </a:solidFill>
          <a:ln w="6350">
            <a:solidFill>
              <a:srgbClr val="FFFFFF"/>
            </a:solidFill>
            <a:prstDash val="solid"/>
          </a:ln>
        </p:spPr>
      </p:sp>
      <p:sp>
        <p:nvSpPr>
          <p:cNvPr id="194" name="Shape 192"/>
          <p:cNvSpPr/>
          <p:nvPr/>
        </p:nvSpPr>
        <p:spPr>
          <a:xfrm>
            <a:off x="2926080" y="4617720"/>
            <a:ext cx="274320" cy="274320"/>
          </a:xfrm>
          <a:prstGeom prst="rect">
            <a:avLst/>
          </a:prstGeom>
          <a:solidFill>
            <a:srgbClr val="DAE2EE"/>
          </a:solidFill>
          <a:ln w="6350">
            <a:solidFill>
              <a:srgbClr val="FFFFFF"/>
            </a:solidFill>
            <a:prstDash val="solid"/>
          </a:ln>
        </p:spPr>
      </p:sp>
      <p:sp>
        <p:nvSpPr>
          <p:cNvPr id="195" name="Shape 193"/>
          <p:cNvSpPr/>
          <p:nvPr/>
        </p:nvSpPr>
        <p:spPr>
          <a:xfrm>
            <a:off x="3200400" y="4617720"/>
            <a:ext cx="274320" cy="274320"/>
          </a:xfrm>
          <a:prstGeom prst="rect">
            <a:avLst/>
          </a:prstGeom>
          <a:solidFill>
            <a:srgbClr val="B6C6DD"/>
          </a:solidFill>
          <a:ln w="6350">
            <a:solidFill>
              <a:srgbClr val="FFFFFF"/>
            </a:solidFill>
            <a:prstDash val="solid"/>
          </a:ln>
        </p:spPr>
      </p:sp>
      <p:sp>
        <p:nvSpPr>
          <p:cNvPr id="196" name="Shape 194"/>
          <p:cNvSpPr/>
          <p:nvPr/>
        </p:nvSpPr>
        <p:spPr>
          <a:xfrm>
            <a:off x="3474720" y="4617720"/>
            <a:ext cx="274320" cy="274320"/>
          </a:xfrm>
          <a:prstGeom prst="rect">
            <a:avLst/>
          </a:prstGeom>
          <a:solidFill>
            <a:srgbClr val="C9D5E6"/>
          </a:solidFill>
          <a:ln w="6350">
            <a:solidFill>
              <a:srgbClr val="FFFFFF"/>
            </a:solidFill>
            <a:prstDash val="solid"/>
          </a:ln>
        </p:spPr>
      </p:sp>
      <p:sp>
        <p:nvSpPr>
          <p:cNvPr id="197" name="Shape 195"/>
          <p:cNvSpPr/>
          <p:nvPr/>
        </p:nvSpPr>
        <p:spPr>
          <a:xfrm>
            <a:off x="3749040" y="4617720"/>
            <a:ext cx="274320" cy="274320"/>
          </a:xfrm>
          <a:prstGeom prst="rect">
            <a:avLst/>
          </a:prstGeom>
          <a:solidFill>
            <a:srgbClr val="95ACCE"/>
          </a:solidFill>
          <a:ln w="6350">
            <a:solidFill>
              <a:srgbClr val="FFFFFF"/>
            </a:solidFill>
            <a:prstDash val="solid"/>
          </a:ln>
        </p:spPr>
      </p:sp>
      <p:sp>
        <p:nvSpPr>
          <p:cNvPr id="198" name="Shape 196"/>
          <p:cNvSpPr/>
          <p:nvPr/>
        </p:nvSpPr>
        <p:spPr>
          <a:xfrm>
            <a:off x="4023360" y="4617720"/>
            <a:ext cx="274320" cy="274320"/>
          </a:xfrm>
          <a:prstGeom prst="rect">
            <a:avLst/>
          </a:prstGeom>
          <a:solidFill>
            <a:srgbClr val="88A3C8"/>
          </a:solidFill>
          <a:ln w="6350">
            <a:solidFill>
              <a:srgbClr val="FFFFFF"/>
            </a:solidFill>
            <a:prstDash val="solid"/>
          </a:ln>
        </p:spPr>
      </p:sp>
      <p:sp>
        <p:nvSpPr>
          <p:cNvPr id="199" name="Shape 197"/>
          <p:cNvSpPr/>
          <p:nvPr/>
        </p:nvSpPr>
        <p:spPr>
          <a:xfrm>
            <a:off x="4297680" y="4617720"/>
            <a:ext cx="274320" cy="274320"/>
          </a:xfrm>
          <a:prstGeom prst="rect">
            <a:avLst/>
          </a:prstGeom>
          <a:solidFill>
            <a:srgbClr val="88A3C8"/>
          </a:solidFill>
          <a:ln w="6350">
            <a:solidFill>
              <a:srgbClr val="FFFFFF"/>
            </a:solidFill>
            <a:prstDash val="solid"/>
          </a:ln>
        </p:spPr>
      </p:sp>
      <p:sp>
        <p:nvSpPr>
          <p:cNvPr id="200" name="Shape 198"/>
          <p:cNvSpPr/>
          <p:nvPr/>
        </p:nvSpPr>
        <p:spPr>
          <a:xfrm>
            <a:off x="4572000" y="4617720"/>
            <a:ext cx="274320" cy="274320"/>
          </a:xfrm>
          <a:prstGeom prst="rect">
            <a:avLst/>
          </a:prstGeom>
          <a:solidFill>
            <a:srgbClr val="C9D5E6"/>
          </a:solidFill>
          <a:ln w="6350">
            <a:solidFill>
              <a:srgbClr val="FFFFFF"/>
            </a:solidFill>
            <a:prstDash val="solid"/>
          </a:ln>
        </p:spPr>
      </p:sp>
      <p:sp>
        <p:nvSpPr>
          <p:cNvPr id="201" name="Shape 199"/>
          <p:cNvSpPr/>
          <p:nvPr/>
        </p:nvSpPr>
        <p:spPr>
          <a:xfrm>
            <a:off x="4846320" y="4617720"/>
            <a:ext cx="274320" cy="274320"/>
          </a:xfrm>
          <a:prstGeom prst="rect">
            <a:avLst/>
          </a:prstGeom>
          <a:solidFill>
            <a:srgbClr val="FBFCFD"/>
          </a:solidFill>
          <a:ln w="6350">
            <a:solidFill>
              <a:srgbClr val="FFFFFF"/>
            </a:solidFill>
            <a:prstDash val="solid"/>
          </a:ln>
        </p:spPr>
      </p:sp>
      <p:sp>
        <p:nvSpPr>
          <p:cNvPr id="202" name="Shape 200"/>
          <p:cNvSpPr/>
          <p:nvPr/>
        </p:nvSpPr>
        <p:spPr>
          <a:xfrm>
            <a:off x="5120640" y="4617720"/>
            <a:ext cx="274320" cy="274320"/>
          </a:xfrm>
          <a:prstGeom prst="rect">
            <a:avLst/>
          </a:prstGeom>
          <a:solidFill>
            <a:srgbClr val="E2E8F1"/>
          </a:solidFill>
          <a:ln w="6350">
            <a:solidFill>
              <a:srgbClr val="FFFFFF"/>
            </a:solidFill>
            <a:prstDash val="solid"/>
          </a:ln>
        </p:spPr>
      </p:sp>
      <p:sp>
        <p:nvSpPr>
          <p:cNvPr id="203" name="Shape 201"/>
          <p:cNvSpPr/>
          <p:nvPr/>
        </p:nvSpPr>
        <p:spPr>
          <a:xfrm>
            <a:off x="5394960" y="4617720"/>
            <a:ext cx="274320" cy="274320"/>
          </a:xfrm>
          <a:prstGeom prst="rect">
            <a:avLst/>
          </a:prstGeom>
          <a:solidFill>
            <a:srgbClr val="C8571B"/>
          </a:solidFill>
          <a:ln w="6350">
            <a:solidFill>
              <a:srgbClr val="FFFFFF"/>
            </a:solidFill>
            <a:prstDash val="solid"/>
          </a:ln>
        </p:spPr>
      </p:sp>
      <p:sp>
        <p:nvSpPr>
          <p:cNvPr id="204" name="Shape 202"/>
          <p:cNvSpPr/>
          <p:nvPr/>
        </p:nvSpPr>
        <p:spPr>
          <a:xfrm>
            <a:off x="5669280" y="4617720"/>
            <a:ext cx="274320" cy="274320"/>
          </a:xfrm>
          <a:prstGeom prst="rect">
            <a:avLst/>
          </a:prstGeom>
          <a:solidFill>
            <a:srgbClr val="CF6D39"/>
          </a:solidFill>
          <a:ln w="6350">
            <a:solidFill>
              <a:srgbClr val="FFFFFF"/>
            </a:solidFill>
            <a:prstDash val="solid"/>
          </a:ln>
        </p:spPr>
      </p:sp>
      <p:sp>
        <p:nvSpPr>
          <p:cNvPr id="205" name="Shape 203"/>
          <p:cNvSpPr/>
          <p:nvPr/>
        </p:nvSpPr>
        <p:spPr>
          <a:xfrm>
            <a:off x="5943600" y="4617720"/>
            <a:ext cx="274320" cy="274320"/>
          </a:xfrm>
          <a:prstGeom prst="rect">
            <a:avLst/>
          </a:prstGeom>
          <a:solidFill>
            <a:srgbClr val="D06F3B"/>
          </a:solidFill>
          <a:ln w="6350">
            <a:solidFill>
              <a:srgbClr val="FFFFFF"/>
            </a:solidFill>
            <a:prstDash val="solid"/>
          </a:ln>
        </p:spPr>
      </p:sp>
      <p:sp>
        <p:nvSpPr>
          <p:cNvPr id="206" name="Shape 204"/>
          <p:cNvSpPr/>
          <p:nvPr/>
        </p:nvSpPr>
        <p:spPr>
          <a:xfrm>
            <a:off x="6217920" y="4617720"/>
            <a:ext cx="274320" cy="274320"/>
          </a:xfrm>
          <a:prstGeom prst="rect">
            <a:avLst/>
          </a:prstGeom>
          <a:solidFill>
            <a:srgbClr val="F3F5F9"/>
          </a:solidFill>
          <a:ln w="6350">
            <a:solidFill>
              <a:srgbClr val="FFFFFF"/>
            </a:solidFill>
            <a:prstDash val="solid"/>
          </a:ln>
        </p:spPr>
      </p:sp>
      <p:sp>
        <p:nvSpPr>
          <p:cNvPr id="207" name="Text 205"/>
          <p:cNvSpPr txBox="1"/>
          <p:nvPr/>
        </p:nvSpPr>
        <p:spPr>
          <a:xfrm>
            <a:off x="548640" y="4892040"/>
            <a:ext cx="1737360" cy="274320"/>
          </a:xfrm>
          <a:prstGeom prst="rect">
            <a:avLst/>
          </a:prstGeom>
          <a:noFill/>
          <a:ln/>
        </p:spPr>
        <p:txBody>
          <a:bodyPr wrap="square" lIns="0" tIns="0" rIns="0" bIns="0" rtlCol="0" anchor="ctr"/>
          <a:lstStyle/>
          <a:p>
            <a:pPr indent="0" marL="0">
              <a:buNone/>
            </a:pPr>
            <a:r>
              <a:rPr lang="en-US" sz="1000" dirty="0">
                <a:solidFill>
                  <a:schemeClr val="tx2"/>
                </a:solidFill>
              </a:rPr>
              <a:t>13  vol_20</a:t>
            </a:r>
            <a:endParaRPr lang="en-US" sz="1000" dirty="0"/>
          </a:p>
        </p:txBody>
      </p:sp>
      <p:sp>
        <p:nvSpPr>
          <p:cNvPr id="208" name="Text 206"/>
          <p:cNvSpPr txBox="1"/>
          <p:nvPr/>
        </p:nvSpPr>
        <p:spPr>
          <a:xfrm>
            <a:off x="56692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13</a:t>
            </a:r>
            <a:endParaRPr lang="en-US" sz="1000" dirty="0"/>
          </a:p>
        </p:txBody>
      </p:sp>
      <p:sp>
        <p:nvSpPr>
          <p:cNvPr id="209" name="Shape 207"/>
          <p:cNvSpPr/>
          <p:nvPr/>
        </p:nvSpPr>
        <p:spPr>
          <a:xfrm>
            <a:off x="2377440" y="4892040"/>
            <a:ext cx="274320" cy="274320"/>
          </a:xfrm>
          <a:prstGeom prst="rect">
            <a:avLst/>
          </a:prstGeom>
          <a:solidFill>
            <a:srgbClr val="FEFCFA"/>
          </a:solidFill>
          <a:ln w="6350">
            <a:solidFill>
              <a:srgbClr val="FFFFFF"/>
            </a:solidFill>
            <a:prstDash val="solid"/>
          </a:ln>
        </p:spPr>
      </p:sp>
      <p:sp>
        <p:nvSpPr>
          <p:cNvPr id="210" name="Shape 208"/>
          <p:cNvSpPr/>
          <p:nvPr/>
        </p:nvSpPr>
        <p:spPr>
          <a:xfrm>
            <a:off x="2651760" y="4892040"/>
            <a:ext cx="274320" cy="274320"/>
          </a:xfrm>
          <a:prstGeom prst="rect">
            <a:avLst/>
          </a:prstGeom>
          <a:solidFill>
            <a:srgbClr val="F9FAFC"/>
          </a:solidFill>
          <a:ln w="6350">
            <a:solidFill>
              <a:srgbClr val="FFFFFF"/>
            </a:solidFill>
            <a:prstDash val="solid"/>
          </a:ln>
        </p:spPr>
      </p:sp>
      <p:sp>
        <p:nvSpPr>
          <p:cNvPr id="211" name="Shape 209"/>
          <p:cNvSpPr/>
          <p:nvPr/>
        </p:nvSpPr>
        <p:spPr>
          <a:xfrm>
            <a:off x="2926080" y="4892040"/>
            <a:ext cx="274320" cy="274320"/>
          </a:xfrm>
          <a:prstGeom prst="rect">
            <a:avLst/>
          </a:prstGeom>
          <a:solidFill>
            <a:srgbClr val="E0E7F0"/>
          </a:solidFill>
          <a:ln w="6350">
            <a:solidFill>
              <a:srgbClr val="FFFFFF"/>
            </a:solidFill>
            <a:prstDash val="solid"/>
          </a:ln>
        </p:spPr>
      </p:sp>
      <p:sp>
        <p:nvSpPr>
          <p:cNvPr id="212" name="Shape 210"/>
          <p:cNvSpPr/>
          <p:nvPr/>
        </p:nvSpPr>
        <p:spPr>
          <a:xfrm>
            <a:off x="3200400" y="4892040"/>
            <a:ext cx="274320" cy="274320"/>
          </a:xfrm>
          <a:prstGeom prst="rect">
            <a:avLst/>
          </a:prstGeom>
          <a:solidFill>
            <a:srgbClr val="A8BBD6"/>
          </a:solidFill>
          <a:ln w="6350">
            <a:solidFill>
              <a:srgbClr val="FFFFFF"/>
            </a:solidFill>
            <a:prstDash val="solid"/>
          </a:ln>
        </p:spPr>
      </p:sp>
      <p:sp>
        <p:nvSpPr>
          <p:cNvPr id="213" name="Shape 211"/>
          <p:cNvSpPr/>
          <p:nvPr/>
        </p:nvSpPr>
        <p:spPr>
          <a:xfrm>
            <a:off x="3474720" y="4892040"/>
            <a:ext cx="274320" cy="274320"/>
          </a:xfrm>
          <a:prstGeom prst="rect">
            <a:avLst/>
          </a:prstGeom>
          <a:solidFill>
            <a:srgbClr val="C9D5E6"/>
          </a:solidFill>
          <a:ln w="6350">
            <a:solidFill>
              <a:srgbClr val="FFFFFF"/>
            </a:solidFill>
            <a:prstDash val="solid"/>
          </a:ln>
        </p:spPr>
      </p:sp>
      <p:sp>
        <p:nvSpPr>
          <p:cNvPr id="214" name="Shape 212"/>
          <p:cNvSpPr/>
          <p:nvPr/>
        </p:nvSpPr>
        <p:spPr>
          <a:xfrm>
            <a:off x="3749040" y="4892040"/>
            <a:ext cx="274320" cy="274320"/>
          </a:xfrm>
          <a:prstGeom prst="rect">
            <a:avLst/>
          </a:prstGeom>
          <a:solidFill>
            <a:srgbClr val="849FC6"/>
          </a:solidFill>
          <a:ln w="6350">
            <a:solidFill>
              <a:srgbClr val="FFFFFF"/>
            </a:solidFill>
            <a:prstDash val="solid"/>
          </a:ln>
        </p:spPr>
      </p:sp>
      <p:sp>
        <p:nvSpPr>
          <p:cNvPr id="215" name="Shape 213"/>
          <p:cNvSpPr/>
          <p:nvPr/>
        </p:nvSpPr>
        <p:spPr>
          <a:xfrm>
            <a:off x="4023360" y="4892040"/>
            <a:ext cx="274320" cy="274320"/>
          </a:xfrm>
          <a:prstGeom prst="rect">
            <a:avLst/>
          </a:prstGeom>
          <a:solidFill>
            <a:srgbClr val="7492BE"/>
          </a:solidFill>
          <a:ln w="6350">
            <a:solidFill>
              <a:srgbClr val="FFFFFF"/>
            </a:solidFill>
            <a:prstDash val="solid"/>
          </a:ln>
        </p:spPr>
      </p:sp>
      <p:sp>
        <p:nvSpPr>
          <p:cNvPr id="216" name="Shape 214"/>
          <p:cNvSpPr/>
          <p:nvPr/>
        </p:nvSpPr>
        <p:spPr>
          <a:xfrm>
            <a:off x="4297680" y="4892040"/>
            <a:ext cx="274320" cy="274320"/>
          </a:xfrm>
          <a:prstGeom prst="rect">
            <a:avLst/>
          </a:prstGeom>
          <a:solidFill>
            <a:srgbClr val="7291BD"/>
          </a:solidFill>
          <a:ln w="6350">
            <a:solidFill>
              <a:srgbClr val="FFFFFF"/>
            </a:solidFill>
            <a:prstDash val="solid"/>
          </a:ln>
        </p:spPr>
      </p:sp>
      <p:sp>
        <p:nvSpPr>
          <p:cNvPr id="217" name="Shape 215"/>
          <p:cNvSpPr/>
          <p:nvPr/>
        </p:nvSpPr>
        <p:spPr>
          <a:xfrm>
            <a:off x="4572000" y="4892040"/>
            <a:ext cx="274320" cy="274320"/>
          </a:xfrm>
          <a:prstGeom prst="rect">
            <a:avLst/>
          </a:prstGeom>
          <a:solidFill>
            <a:srgbClr val="AABDD7"/>
          </a:solidFill>
          <a:ln w="6350">
            <a:solidFill>
              <a:srgbClr val="FFFFFF"/>
            </a:solidFill>
            <a:prstDash val="solid"/>
          </a:ln>
        </p:spPr>
      </p:sp>
      <p:sp>
        <p:nvSpPr>
          <p:cNvPr id="218" name="Shape 216"/>
          <p:cNvSpPr/>
          <p:nvPr/>
        </p:nvSpPr>
        <p:spPr>
          <a:xfrm>
            <a:off x="4846320" y="4892040"/>
            <a:ext cx="274320" cy="274320"/>
          </a:xfrm>
          <a:prstGeom prst="rect">
            <a:avLst/>
          </a:prstGeom>
          <a:solidFill>
            <a:srgbClr val="FDF8F6"/>
          </a:solidFill>
          <a:ln w="6350">
            <a:solidFill>
              <a:srgbClr val="FFFFFF"/>
            </a:solidFill>
            <a:prstDash val="solid"/>
          </a:ln>
        </p:spPr>
      </p:sp>
      <p:sp>
        <p:nvSpPr>
          <p:cNvPr id="219" name="Shape 217"/>
          <p:cNvSpPr/>
          <p:nvPr/>
        </p:nvSpPr>
        <p:spPr>
          <a:xfrm>
            <a:off x="5120640" y="4892040"/>
            <a:ext cx="274320" cy="274320"/>
          </a:xfrm>
          <a:prstGeom prst="rect">
            <a:avLst/>
          </a:prstGeom>
          <a:solidFill>
            <a:srgbClr val="D1DBEA"/>
          </a:solidFill>
          <a:ln w="6350">
            <a:solidFill>
              <a:srgbClr val="FFFFFF"/>
            </a:solidFill>
            <a:prstDash val="solid"/>
          </a:ln>
        </p:spPr>
      </p:sp>
      <p:sp>
        <p:nvSpPr>
          <p:cNvPr id="220" name="Shape 218"/>
          <p:cNvSpPr/>
          <p:nvPr/>
        </p:nvSpPr>
        <p:spPr>
          <a:xfrm>
            <a:off x="5394960" y="4892040"/>
            <a:ext cx="274320" cy="274320"/>
          </a:xfrm>
          <a:prstGeom prst="rect">
            <a:avLst/>
          </a:prstGeom>
          <a:solidFill>
            <a:srgbClr val="CF6D39"/>
          </a:solidFill>
          <a:ln w="6350">
            <a:solidFill>
              <a:srgbClr val="FFFFFF"/>
            </a:solidFill>
            <a:prstDash val="solid"/>
          </a:ln>
        </p:spPr>
      </p:sp>
      <p:sp>
        <p:nvSpPr>
          <p:cNvPr id="221" name="Shape 219"/>
          <p:cNvSpPr/>
          <p:nvPr/>
        </p:nvSpPr>
        <p:spPr>
          <a:xfrm>
            <a:off x="5669280" y="4892040"/>
            <a:ext cx="274320" cy="274320"/>
          </a:xfrm>
          <a:prstGeom prst="rect">
            <a:avLst/>
          </a:prstGeom>
          <a:solidFill>
            <a:srgbClr val="C8571B"/>
          </a:solidFill>
          <a:ln w="6350">
            <a:solidFill>
              <a:srgbClr val="FFFFFF"/>
            </a:solidFill>
            <a:prstDash val="solid"/>
          </a:ln>
        </p:spPr>
      </p:sp>
      <p:sp>
        <p:nvSpPr>
          <p:cNvPr id="222" name="Shape 220"/>
          <p:cNvSpPr/>
          <p:nvPr/>
        </p:nvSpPr>
        <p:spPr>
          <a:xfrm>
            <a:off x="5943600" y="4892040"/>
            <a:ext cx="274320" cy="274320"/>
          </a:xfrm>
          <a:prstGeom prst="rect">
            <a:avLst/>
          </a:prstGeom>
          <a:solidFill>
            <a:srgbClr val="CA5E24"/>
          </a:solidFill>
          <a:ln w="6350">
            <a:solidFill>
              <a:srgbClr val="FFFFFF"/>
            </a:solidFill>
            <a:prstDash val="solid"/>
          </a:ln>
        </p:spPr>
      </p:sp>
      <p:sp>
        <p:nvSpPr>
          <p:cNvPr id="223" name="Shape 221"/>
          <p:cNvSpPr/>
          <p:nvPr/>
        </p:nvSpPr>
        <p:spPr>
          <a:xfrm>
            <a:off x="6217920" y="4892040"/>
            <a:ext cx="274320" cy="274320"/>
          </a:xfrm>
          <a:prstGeom prst="rect">
            <a:avLst/>
          </a:prstGeom>
          <a:solidFill>
            <a:srgbClr val="EAEFF5"/>
          </a:solidFill>
          <a:ln w="6350">
            <a:solidFill>
              <a:srgbClr val="FFFFFF"/>
            </a:solidFill>
            <a:prstDash val="solid"/>
          </a:ln>
        </p:spPr>
      </p:sp>
      <p:sp>
        <p:nvSpPr>
          <p:cNvPr id="224" name="Text 222"/>
          <p:cNvSpPr txBox="1"/>
          <p:nvPr/>
        </p:nvSpPr>
        <p:spPr>
          <a:xfrm>
            <a:off x="548640" y="5166360"/>
            <a:ext cx="1737360" cy="274320"/>
          </a:xfrm>
          <a:prstGeom prst="rect">
            <a:avLst/>
          </a:prstGeom>
          <a:noFill/>
          <a:ln/>
        </p:spPr>
        <p:txBody>
          <a:bodyPr wrap="square" lIns="0" tIns="0" rIns="0" bIns="0" rtlCol="0" anchor="ctr"/>
          <a:lstStyle/>
          <a:p>
            <a:pPr indent="0" marL="0">
              <a:buNone/>
            </a:pPr>
            <a:r>
              <a:rPr lang="en-US" sz="1000" dirty="0">
                <a:solidFill>
                  <a:schemeClr val="tx2"/>
                </a:solidFill>
              </a:rPr>
              <a:t>14  atr_14_norm</a:t>
            </a:r>
            <a:endParaRPr lang="en-US" sz="1000" dirty="0"/>
          </a:p>
        </p:txBody>
      </p:sp>
      <p:sp>
        <p:nvSpPr>
          <p:cNvPr id="225" name="Text 223"/>
          <p:cNvSpPr txBox="1"/>
          <p:nvPr/>
        </p:nvSpPr>
        <p:spPr>
          <a:xfrm>
            <a:off x="59436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14</a:t>
            </a:r>
            <a:endParaRPr lang="en-US" sz="1000" dirty="0"/>
          </a:p>
        </p:txBody>
      </p:sp>
      <p:sp>
        <p:nvSpPr>
          <p:cNvPr id="226" name="Shape 224"/>
          <p:cNvSpPr/>
          <p:nvPr/>
        </p:nvSpPr>
        <p:spPr>
          <a:xfrm>
            <a:off x="2377440" y="5166360"/>
            <a:ext cx="274320" cy="274320"/>
          </a:xfrm>
          <a:prstGeom prst="rect">
            <a:avLst/>
          </a:prstGeom>
          <a:solidFill>
            <a:srgbClr val="FDFDFE"/>
          </a:solidFill>
          <a:ln w="6350">
            <a:solidFill>
              <a:srgbClr val="FFFFFF"/>
            </a:solidFill>
            <a:prstDash val="solid"/>
          </a:ln>
        </p:spPr>
      </p:sp>
      <p:sp>
        <p:nvSpPr>
          <p:cNvPr id="227" name="Shape 225"/>
          <p:cNvSpPr/>
          <p:nvPr/>
        </p:nvSpPr>
        <p:spPr>
          <a:xfrm>
            <a:off x="2651760" y="5166360"/>
            <a:ext cx="274320" cy="274320"/>
          </a:xfrm>
          <a:prstGeom prst="rect">
            <a:avLst/>
          </a:prstGeom>
          <a:solidFill>
            <a:srgbClr val="EAEFF5"/>
          </a:solidFill>
          <a:ln w="6350">
            <a:solidFill>
              <a:srgbClr val="FFFFFF"/>
            </a:solidFill>
            <a:prstDash val="solid"/>
          </a:ln>
        </p:spPr>
      </p:sp>
      <p:sp>
        <p:nvSpPr>
          <p:cNvPr id="228" name="Shape 226"/>
          <p:cNvSpPr/>
          <p:nvPr/>
        </p:nvSpPr>
        <p:spPr>
          <a:xfrm>
            <a:off x="2926080" y="5166360"/>
            <a:ext cx="274320" cy="274320"/>
          </a:xfrm>
          <a:prstGeom prst="rect">
            <a:avLst/>
          </a:prstGeom>
          <a:solidFill>
            <a:srgbClr val="D1DBEA"/>
          </a:solidFill>
          <a:ln w="6350">
            <a:solidFill>
              <a:srgbClr val="FFFFFF"/>
            </a:solidFill>
            <a:prstDash val="solid"/>
          </a:ln>
        </p:spPr>
      </p:sp>
      <p:sp>
        <p:nvSpPr>
          <p:cNvPr id="229" name="Shape 227"/>
          <p:cNvSpPr/>
          <p:nvPr/>
        </p:nvSpPr>
        <p:spPr>
          <a:xfrm>
            <a:off x="3200400" y="5166360"/>
            <a:ext cx="274320" cy="274320"/>
          </a:xfrm>
          <a:prstGeom prst="rect">
            <a:avLst/>
          </a:prstGeom>
          <a:solidFill>
            <a:srgbClr val="AABDD7"/>
          </a:solidFill>
          <a:ln w="6350">
            <a:solidFill>
              <a:srgbClr val="FFFFFF"/>
            </a:solidFill>
            <a:prstDash val="solid"/>
          </a:ln>
        </p:spPr>
      </p:sp>
      <p:sp>
        <p:nvSpPr>
          <p:cNvPr id="230" name="Shape 228"/>
          <p:cNvSpPr/>
          <p:nvPr/>
        </p:nvSpPr>
        <p:spPr>
          <a:xfrm>
            <a:off x="3474720" y="5166360"/>
            <a:ext cx="274320" cy="274320"/>
          </a:xfrm>
          <a:prstGeom prst="rect">
            <a:avLst/>
          </a:prstGeom>
          <a:solidFill>
            <a:srgbClr val="BFCDE1"/>
          </a:solidFill>
          <a:ln w="6350">
            <a:solidFill>
              <a:srgbClr val="FFFFFF"/>
            </a:solidFill>
            <a:prstDash val="solid"/>
          </a:ln>
        </p:spPr>
      </p:sp>
      <p:sp>
        <p:nvSpPr>
          <p:cNvPr id="231" name="Shape 229"/>
          <p:cNvSpPr/>
          <p:nvPr/>
        </p:nvSpPr>
        <p:spPr>
          <a:xfrm>
            <a:off x="3749040" y="5166360"/>
            <a:ext cx="274320" cy="274320"/>
          </a:xfrm>
          <a:prstGeom prst="rect">
            <a:avLst/>
          </a:prstGeom>
          <a:solidFill>
            <a:srgbClr val="86A1C7"/>
          </a:solidFill>
          <a:ln w="6350">
            <a:solidFill>
              <a:srgbClr val="FFFFFF"/>
            </a:solidFill>
            <a:prstDash val="solid"/>
          </a:ln>
        </p:spPr>
      </p:sp>
      <p:sp>
        <p:nvSpPr>
          <p:cNvPr id="232" name="Shape 230"/>
          <p:cNvSpPr/>
          <p:nvPr/>
        </p:nvSpPr>
        <p:spPr>
          <a:xfrm>
            <a:off x="4023360" y="5166360"/>
            <a:ext cx="274320" cy="274320"/>
          </a:xfrm>
          <a:prstGeom prst="rect">
            <a:avLst/>
          </a:prstGeom>
          <a:solidFill>
            <a:srgbClr val="6B8CBA"/>
          </a:solidFill>
          <a:ln w="6350">
            <a:solidFill>
              <a:srgbClr val="FFFFFF"/>
            </a:solidFill>
            <a:prstDash val="solid"/>
          </a:ln>
        </p:spPr>
      </p:sp>
      <p:sp>
        <p:nvSpPr>
          <p:cNvPr id="233" name="Shape 231"/>
          <p:cNvSpPr/>
          <p:nvPr/>
        </p:nvSpPr>
        <p:spPr>
          <a:xfrm>
            <a:off x="4297680" y="5166360"/>
            <a:ext cx="274320" cy="274320"/>
          </a:xfrm>
          <a:prstGeom prst="rect">
            <a:avLst/>
          </a:prstGeom>
          <a:solidFill>
            <a:srgbClr val="809CC4"/>
          </a:solidFill>
          <a:ln w="6350">
            <a:solidFill>
              <a:srgbClr val="FFFFFF"/>
            </a:solidFill>
            <a:prstDash val="solid"/>
          </a:ln>
        </p:spPr>
      </p:sp>
      <p:sp>
        <p:nvSpPr>
          <p:cNvPr id="234" name="Shape 232"/>
          <p:cNvSpPr/>
          <p:nvPr/>
        </p:nvSpPr>
        <p:spPr>
          <a:xfrm>
            <a:off x="4572000" y="5166360"/>
            <a:ext cx="274320" cy="274320"/>
          </a:xfrm>
          <a:prstGeom prst="rect">
            <a:avLst/>
          </a:prstGeom>
          <a:solidFill>
            <a:srgbClr val="A3B8D4"/>
          </a:solidFill>
          <a:ln w="6350">
            <a:solidFill>
              <a:srgbClr val="FFFFFF"/>
            </a:solidFill>
            <a:prstDash val="solid"/>
          </a:ln>
        </p:spPr>
      </p:sp>
      <p:sp>
        <p:nvSpPr>
          <p:cNvPr id="235" name="Shape 233"/>
          <p:cNvSpPr/>
          <p:nvPr/>
        </p:nvSpPr>
        <p:spPr>
          <a:xfrm>
            <a:off x="4846320" y="5166360"/>
            <a:ext cx="274320" cy="274320"/>
          </a:xfrm>
          <a:prstGeom prst="rect">
            <a:avLst/>
          </a:prstGeom>
          <a:solidFill>
            <a:srgbClr val="F7F9FB"/>
          </a:solidFill>
          <a:ln w="6350">
            <a:solidFill>
              <a:srgbClr val="FFFFFF"/>
            </a:solidFill>
            <a:prstDash val="solid"/>
          </a:ln>
        </p:spPr>
      </p:sp>
      <p:sp>
        <p:nvSpPr>
          <p:cNvPr id="236" name="Shape 234"/>
          <p:cNvSpPr/>
          <p:nvPr/>
        </p:nvSpPr>
        <p:spPr>
          <a:xfrm>
            <a:off x="5120640" y="5166360"/>
            <a:ext cx="274320" cy="274320"/>
          </a:xfrm>
          <a:prstGeom prst="rect">
            <a:avLst/>
          </a:prstGeom>
          <a:solidFill>
            <a:srgbClr val="C9D5E6"/>
          </a:solidFill>
          <a:ln w="6350">
            <a:solidFill>
              <a:srgbClr val="FFFFFF"/>
            </a:solidFill>
            <a:prstDash val="solid"/>
          </a:ln>
        </p:spPr>
      </p:sp>
      <p:sp>
        <p:nvSpPr>
          <p:cNvPr id="237" name="Shape 235"/>
          <p:cNvSpPr/>
          <p:nvPr/>
        </p:nvSpPr>
        <p:spPr>
          <a:xfrm>
            <a:off x="5394960" y="5166360"/>
            <a:ext cx="274320" cy="274320"/>
          </a:xfrm>
          <a:prstGeom prst="rect">
            <a:avLst/>
          </a:prstGeom>
          <a:solidFill>
            <a:srgbClr val="D06F3B"/>
          </a:solidFill>
          <a:ln w="6350">
            <a:solidFill>
              <a:srgbClr val="FFFFFF"/>
            </a:solidFill>
            <a:prstDash val="solid"/>
          </a:ln>
        </p:spPr>
      </p:sp>
      <p:sp>
        <p:nvSpPr>
          <p:cNvPr id="238" name="Shape 236"/>
          <p:cNvSpPr/>
          <p:nvPr/>
        </p:nvSpPr>
        <p:spPr>
          <a:xfrm>
            <a:off x="5669280" y="5166360"/>
            <a:ext cx="274320" cy="274320"/>
          </a:xfrm>
          <a:prstGeom prst="rect">
            <a:avLst/>
          </a:prstGeom>
          <a:solidFill>
            <a:srgbClr val="CA5E24"/>
          </a:solidFill>
          <a:ln w="6350">
            <a:solidFill>
              <a:srgbClr val="FFFFFF"/>
            </a:solidFill>
            <a:prstDash val="solid"/>
          </a:ln>
        </p:spPr>
      </p:sp>
      <p:sp>
        <p:nvSpPr>
          <p:cNvPr id="239" name="Shape 237"/>
          <p:cNvSpPr/>
          <p:nvPr/>
        </p:nvSpPr>
        <p:spPr>
          <a:xfrm>
            <a:off x="5943600" y="5166360"/>
            <a:ext cx="274320" cy="274320"/>
          </a:xfrm>
          <a:prstGeom prst="rect">
            <a:avLst/>
          </a:prstGeom>
          <a:solidFill>
            <a:srgbClr val="C8571B"/>
          </a:solidFill>
          <a:ln w="6350">
            <a:solidFill>
              <a:srgbClr val="FFFFFF"/>
            </a:solidFill>
            <a:prstDash val="solid"/>
          </a:ln>
        </p:spPr>
      </p:sp>
      <p:sp>
        <p:nvSpPr>
          <p:cNvPr id="240" name="Shape 238"/>
          <p:cNvSpPr/>
          <p:nvPr/>
        </p:nvSpPr>
        <p:spPr>
          <a:xfrm>
            <a:off x="6217920" y="5166360"/>
            <a:ext cx="274320" cy="274320"/>
          </a:xfrm>
          <a:prstGeom prst="rect">
            <a:avLst/>
          </a:prstGeom>
          <a:solidFill>
            <a:srgbClr val="F5F7FA"/>
          </a:solidFill>
          <a:ln w="6350">
            <a:solidFill>
              <a:srgbClr val="FFFFFF"/>
            </a:solidFill>
            <a:prstDash val="solid"/>
          </a:ln>
        </p:spPr>
      </p:sp>
      <p:sp>
        <p:nvSpPr>
          <p:cNvPr id="241" name="Text 239"/>
          <p:cNvSpPr txBox="1"/>
          <p:nvPr/>
        </p:nvSpPr>
        <p:spPr>
          <a:xfrm>
            <a:off x="548640" y="5440680"/>
            <a:ext cx="1737360" cy="274320"/>
          </a:xfrm>
          <a:prstGeom prst="rect">
            <a:avLst/>
          </a:prstGeom>
          <a:noFill/>
          <a:ln/>
        </p:spPr>
        <p:txBody>
          <a:bodyPr wrap="square" lIns="0" tIns="0" rIns="0" bIns="0" rtlCol="0" anchor="ctr"/>
          <a:lstStyle/>
          <a:p>
            <a:pPr indent="0" marL="0">
              <a:buNone/>
            </a:pPr>
            <a:r>
              <a:rPr lang="en-US" sz="1000" dirty="0">
                <a:solidFill>
                  <a:schemeClr val="tx2"/>
                </a:solidFill>
              </a:rPr>
              <a:t>15  vol_z20</a:t>
            </a:r>
            <a:endParaRPr lang="en-US" sz="1000" dirty="0"/>
          </a:p>
        </p:txBody>
      </p:sp>
      <p:sp>
        <p:nvSpPr>
          <p:cNvPr id="242" name="Text 240"/>
          <p:cNvSpPr txBox="1"/>
          <p:nvPr/>
        </p:nvSpPr>
        <p:spPr>
          <a:xfrm>
            <a:off x="62179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15</a:t>
            </a:r>
            <a:endParaRPr lang="en-US" sz="1000" dirty="0"/>
          </a:p>
        </p:txBody>
      </p:sp>
      <p:sp>
        <p:nvSpPr>
          <p:cNvPr id="243" name="Shape 241"/>
          <p:cNvSpPr/>
          <p:nvPr/>
        </p:nvSpPr>
        <p:spPr>
          <a:xfrm>
            <a:off x="2377440" y="5440680"/>
            <a:ext cx="274320" cy="274320"/>
          </a:xfrm>
          <a:prstGeom prst="rect">
            <a:avLst/>
          </a:prstGeom>
          <a:solidFill>
            <a:srgbClr val="CDD8E8"/>
          </a:solidFill>
          <a:ln w="6350">
            <a:solidFill>
              <a:srgbClr val="FFFFFF"/>
            </a:solidFill>
            <a:prstDash val="solid"/>
          </a:ln>
        </p:spPr>
      </p:sp>
      <p:sp>
        <p:nvSpPr>
          <p:cNvPr id="244" name="Shape 242"/>
          <p:cNvSpPr/>
          <p:nvPr/>
        </p:nvSpPr>
        <p:spPr>
          <a:xfrm>
            <a:off x="2651760" y="5440680"/>
            <a:ext cx="274320" cy="274320"/>
          </a:xfrm>
          <a:prstGeom prst="rect">
            <a:avLst/>
          </a:prstGeom>
          <a:solidFill>
            <a:srgbClr val="ACBED8"/>
          </a:solidFill>
          <a:ln w="6350">
            <a:solidFill>
              <a:srgbClr val="FFFFFF"/>
            </a:solidFill>
            <a:prstDash val="solid"/>
          </a:ln>
        </p:spPr>
      </p:sp>
      <p:sp>
        <p:nvSpPr>
          <p:cNvPr id="245" name="Shape 243"/>
          <p:cNvSpPr/>
          <p:nvPr/>
        </p:nvSpPr>
        <p:spPr>
          <a:xfrm>
            <a:off x="2926080" y="5440680"/>
            <a:ext cx="274320" cy="274320"/>
          </a:xfrm>
          <a:prstGeom prst="rect">
            <a:avLst/>
          </a:prstGeom>
          <a:solidFill>
            <a:srgbClr val="B2C3DB"/>
          </a:solidFill>
          <a:ln w="6350">
            <a:solidFill>
              <a:srgbClr val="FFFFFF"/>
            </a:solidFill>
            <a:prstDash val="solid"/>
          </a:ln>
        </p:spPr>
      </p:sp>
      <p:sp>
        <p:nvSpPr>
          <p:cNvPr id="246" name="Shape 244"/>
          <p:cNvSpPr/>
          <p:nvPr/>
        </p:nvSpPr>
        <p:spPr>
          <a:xfrm>
            <a:off x="3200400" y="5440680"/>
            <a:ext cx="274320" cy="274320"/>
          </a:xfrm>
          <a:prstGeom prst="rect">
            <a:avLst/>
          </a:prstGeom>
          <a:solidFill>
            <a:srgbClr val="D3DDEB"/>
          </a:solidFill>
          <a:ln w="6350">
            <a:solidFill>
              <a:srgbClr val="FFFFFF"/>
            </a:solidFill>
            <a:prstDash val="solid"/>
          </a:ln>
        </p:spPr>
      </p:sp>
      <p:sp>
        <p:nvSpPr>
          <p:cNvPr id="247" name="Shape 245"/>
          <p:cNvSpPr/>
          <p:nvPr/>
        </p:nvSpPr>
        <p:spPr>
          <a:xfrm>
            <a:off x="3474720" y="5440680"/>
            <a:ext cx="274320" cy="274320"/>
          </a:xfrm>
          <a:prstGeom prst="rect">
            <a:avLst/>
          </a:prstGeom>
          <a:solidFill>
            <a:srgbClr val="B2C3DB"/>
          </a:solidFill>
          <a:ln w="6350">
            <a:solidFill>
              <a:srgbClr val="FFFFFF"/>
            </a:solidFill>
            <a:prstDash val="solid"/>
          </a:ln>
        </p:spPr>
      </p:sp>
      <p:sp>
        <p:nvSpPr>
          <p:cNvPr id="248" name="Shape 246"/>
          <p:cNvSpPr/>
          <p:nvPr/>
        </p:nvSpPr>
        <p:spPr>
          <a:xfrm>
            <a:off x="3749040" y="5440680"/>
            <a:ext cx="274320" cy="274320"/>
          </a:xfrm>
          <a:prstGeom prst="rect">
            <a:avLst/>
          </a:prstGeom>
          <a:solidFill>
            <a:srgbClr val="DCE3EF"/>
          </a:solidFill>
          <a:ln w="6350">
            <a:solidFill>
              <a:srgbClr val="FFFFFF"/>
            </a:solidFill>
            <a:prstDash val="solid"/>
          </a:ln>
        </p:spPr>
      </p:sp>
      <p:sp>
        <p:nvSpPr>
          <p:cNvPr id="249" name="Shape 247"/>
          <p:cNvSpPr/>
          <p:nvPr/>
        </p:nvSpPr>
        <p:spPr>
          <a:xfrm>
            <a:off x="4023360" y="5440680"/>
            <a:ext cx="274320" cy="274320"/>
          </a:xfrm>
          <a:prstGeom prst="rect">
            <a:avLst/>
          </a:prstGeom>
          <a:solidFill>
            <a:srgbClr val="FBFCFD"/>
          </a:solidFill>
          <a:ln w="6350">
            <a:solidFill>
              <a:srgbClr val="FFFFFF"/>
            </a:solidFill>
            <a:prstDash val="solid"/>
          </a:ln>
        </p:spPr>
      </p:sp>
      <p:sp>
        <p:nvSpPr>
          <p:cNvPr id="250" name="Shape 248"/>
          <p:cNvSpPr/>
          <p:nvPr/>
        </p:nvSpPr>
        <p:spPr>
          <a:xfrm>
            <a:off x="4297680" y="5440680"/>
            <a:ext cx="274320" cy="274320"/>
          </a:xfrm>
          <a:prstGeom prst="rect">
            <a:avLst/>
          </a:prstGeom>
          <a:solidFill>
            <a:srgbClr val="F8E9E1"/>
          </a:solidFill>
          <a:ln w="6350">
            <a:solidFill>
              <a:srgbClr val="FFFFFF"/>
            </a:solidFill>
            <a:prstDash val="solid"/>
          </a:ln>
        </p:spPr>
      </p:sp>
      <p:sp>
        <p:nvSpPr>
          <p:cNvPr id="251" name="Shape 249"/>
          <p:cNvSpPr/>
          <p:nvPr/>
        </p:nvSpPr>
        <p:spPr>
          <a:xfrm>
            <a:off x="4572000" y="5440680"/>
            <a:ext cx="274320" cy="274320"/>
          </a:xfrm>
          <a:prstGeom prst="rect">
            <a:avLst/>
          </a:prstGeom>
          <a:solidFill>
            <a:srgbClr val="C1CEE2"/>
          </a:solidFill>
          <a:ln w="6350">
            <a:solidFill>
              <a:srgbClr val="FFFFFF"/>
            </a:solidFill>
            <a:prstDash val="solid"/>
          </a:ln>
        </p:spPr>
      </p:sp>
      <p:sp>
        <p:nvSpPr>
          <p:cNvPr id="252" name="Shape 250"/>
          <p:cNvSpPr/>
          <p:nvPr/>
        </p:nvSpPr>
        <p:spPr>
          <a:xfrm>
            <a:off x="4846320" y="5440680"/>
            <a:ext cx="274320" cy="274320"/>
          </a:xfrm>
          <a:prstGeom prst="rect">
            <a:avLst/>
          </a:prstGeom>
          <a:solidFill>
            <a:srgbClr val="AEC0D9"/>
          </a:solidFill>
          <a:ln w="6350">
            <a:solidFill>
              <a:srgbClr val="FFFFFF"/>
            </a:solidFill>
            <a:prstDash val="solid"/>
          </a:ln>
        </p:spPr>
      </p:sp>
      <p:sp>
        <p:nvSpPr>
          <p:cNvPr id="253" name="Shape 251"/>
          <p:cNvSpPr/>
          <p:nvPr/>
        </p:nvSpPr>
        <p:spPr>
          <a:xfrm>
            <a:off x="5120640" y="5440680"/>
            <a:ext cx="274320" cy="274320"/>
          </a:xfrm>
          <a:prstGeom prst="rect">
            <a:avLst/>
          </a:prstGeom>
          <a:solidFill>
            <a:srgbClr val="A8BBD6"/>
          </a:solidFill>
          <a:ln w="6350">
            <a:solidFill>
              <a:srgbClr val="FFFFFF"/>
            </a:solidFill>
            <a:prstDash val="solid"/>
          </a:ln>
        </p:spPr>
      </p:sp>
      <p:sp>
        <p:nvSpPr>
          <p:cNvPr id="254" name="Shape 252"/>
          <p:cNvSpPr/>
          <p:nvPr/>
        </p:nvSpPr>
        <p:spPr>
          <a:xfrm>
            <a:off x="5394960" y="5440680"/>
            <a:ext cx="274320" cy="274320"/>
          </a:xfrm>
          <a:prstGeom prst="rect">
            <a:avLst/>
          </a:prstGeom>
          <a:solidFill>
            <a:srgbClr val="F3F5F9"/>
          </a:solidFill>
          <a:ln w="6350">
            <a:solidFill>
              <a:srgbClr val="FFFFFF"/>
            </a:solidFill>
            <a:prstDash val="solid"/>
          </a:ln>
        </p:spPr>
      </p:sp>
      <p:sp>
        <p:nvSpPr>
          <p:cNvPr id="255" name="Shape 253"/>
          <p:cNvSpPr/>
          <p:nvPr/>
        </p:nvSpPr>
        <p:spPr>
          <a:xfrm>
            <a:off x="5669280" y="5440680"/>
            <a:ext cx="274320" cy="274320"/>
          </a:xfrm>
          <a:prstGeom prst="rect">
            <a:avLst/>
          </a:prstGeom>
          <a:solidFill>
            <a:srgbClr val="EAEFF5"/>
          </a:solidFill>
          <a:ln w="6350">
            <a:solidFill>
              <a:srgbClr val="FFFFFF"/>
            </a:solidFill>
            <a:prstDash val="solid"/>
          </a:ln>
        </p:spPr>
      </p:sp>
      <p:sp>
        <p:nvSpPr>
          <p:cNvPr id="256" name="Shape 254"/>
          <p:cNvSpPr/>
          <p:nvPr/>
        </p:nvSpPr>
        <p:spPr>
          <a:xfrm>
            <a:off x="5943600" y="5440680"/>
            <a:ext cx="274320" cy="274320"/>
          </a:xfrm>
          <a:prstGeom prst="rect">
            <a:avLst/>
          </a:prstGeom>
          <a:solidFill>
            <a:srgbClr val="F5F7FA"/>
          </a:solidFill>
          <a:ln w="6350">
            <a:solidFill>
              <a:srgbClr val="FFFFFF"/>
            </a:solidFill>
            <a:prstDash val="solid"/>
          </a:ln>
        </p:spPr>
      </p:sp>
      <p:sp>
        <p:nvSpPr>
          <p:cNvPr id="257" name="Shape 255"/>
          <p:cNvSpPr/>
          <p:nvPr/>
        </p:nvSpPr>
        <p:spPr>
          <a:xfrm>
            <a:off x="6217920" y="5440680"/>
            <a:ext cx="274320" cy="274320"/>
          </a:xfrm>
          <a:prstGeom prst="rect">
            <a:avLst/>
          </a:prstGeom>
          <a:solidFill>
            <a:srgbClr val="C8571B"/>
          </a:solidFill>
          <a:ln w="6350">
            <a:solidFill>
              <a:srgbClr val="FFFFFF"/>
            </a:solidFill>
            <a:prstDash val="solid"/>
          </a:ln>
        </p:spPr>
      </p:sp>
      <p:sp>
        <p:nvSpPr>
          <p:cNvPr id="258" name="Text 256"/>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Orange = positive, blue = negative correlation; darker = stronger.</a:t>
            </a:r>
            <a:endParaRPr lang="en-US" sz="1200" dirty="0"/>
          </a:p>
        </p:txBody>
      </p:sp>
      <p:sp>
        <p:nvSpPr>
          <p:cNvPr id="259" name="Shape 257"/>
          <p:cNvSpPr/>
          <p:nvPr/>
        </p:nvSpPr>
        <p:spPr>
          <a:xfrm>
            <a:off x="6949440" y="1371600"/>
            <a:ext cx="4690872" cy="2377440"/>
          </a:xfrm>
          <a:prstGeom prst="roundRect">
            <a:avLst>
              <a:gd name="adj" fmla="val 3846"/>
            </a:avLst>
          </a:prstGeom>
          <a:solidFill>
            <a:schemeClr val="bg2"/>
          </a:solidFill>
          <a:ln w="12700">
            <a:solidFill>
              <a:schemeClr val="bg2"/>
            </a:solidFill>
            <a:prstDash val="solid"/>
          </a:ln>
        </p:spPr>
      </p:sp>
      <p:sp>
        <p:nvSpPr>
          <p:cNvPr id="260" name="Text 258"/>
          <p:cNvSpPr txBox="1"/>
          <p:nvPr/>
        </p:nvSpPr>
        <p:spPr>
          <a:xfrm>
            <a:off x="7178040" y="1554480"/>
            <a:ext cx="42336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Overlapping indicators</a:t>
            </a:r>
            <a:endParaRPr lang="en-US" sz="1700" dirty="0"/>
          </a:p>
        </p:txBody>
      </p:sp>
      <p:sp>
        <p:nvSpPr>
          <p:cNvPr id="261" name="Text 259"/>
          <p:cNvSpPr txBox="1"/>
          <p:nvPr/>
        </p:nvSpPr>
        <p:spPr>
          <a:xfrm>
            <a:off x="7178040" y="2057400"/>
            <a:ext cx="4233672" cy="1554480"/>
          </a:xfrm>
          <a:prstGeom prst="rect">
            <a:avLst/>
          </a:prstGeom>
          <a:noFill/>
          <a:ln/>
        </p:spPr>
        <p:txBody>
          <a:bodyPr wrap="square" lIns="0" tIns="0" rIns="0" bIns="0" rtlCol="0" anchor="t"/>
          <a:lstStyle/>
          <a:p>
            <a:pPr indent="0" marL="0">
              <a:buNone/>
            </a:pPr>
            <a:r>
              <a:rPr lang="en-US" sz="1300" dirty="0">
                <a:solidFill>
                  <a:schemeClr val="tx2"/>
                </a:solidFill>
              </a:rPr>
              <a:t>11 feature pairs have a correlation above 0.8 in absolute value — for example 10-day return with price vs its 20-day average (0.91), RSI with Bollinger %B (0.90), and the three volatility measures (up to 0.96).</a:t>
            </a:r>
            <a:endParaRPr lang="en-US" sz="1300" dirty="0"/>
          </a:p>
        </p:txBody>
      </p:sp>
      <p:sp>
        <p:nvSpPr>
          <p:cNvPr id="262" name="Shape 260"/>
          <p:cNvSpPr/>
          <p:nvPr/>
        </p:nvSpPr>
        <p:spPr>
          <a:xfrm>
            <a:off x="6949440" y="3931920"/>
            <a:ext cx="4690872" cy="1920240"/>
          </a:xfrm>
          <a:prstGeom prst="roundRect">
            <a:avLst>
              <a:gd name="adj" fmla="val 4762"/>
            </a:avLst>
          </a:prstGeom>
          <a:solidFill>
            <a:schemeClr val="bg2"/>
          </a:solidFill>
          <a:ln w="12700">
            <a:solidFill>
              <a:schemeClr val="bg2"/>
            </a:solidFill>
            <a:prstDash val="solid"/>
          </a:ln>
        </p:spPr>
      </p:sp>
      <p:sp>
        <p:nvSpPr>
          <p:cNvPr id="263" name="Text 261"/>
          <p:cNvSpPr txBox="1"/>
          <p:nvPr/>
        </p:nvSpPr>
        <p:spPr>
          <a:xfrm>
            <a:off x="7178040" y="4114800"/>
            <a:ext cx="42336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Effect on the models</a:t>
            </a:r>
            <a:endParaRPr lang="en-US" sz="1700" dirty="0"/>
          </a:p>
        </p:txBody>
      </p:sp>
      <p:sp>
        <p:nvSpPr>
          <p:cNvPr id="264" name="Text 262"/>
          <p:cNvSpPr txBox="1"/>
          <p:nvPr/>
        </p:nvSpPr>
        <p:spPr>
          <a:xfrm>
            <a:off x="7178040" y="4617720"/>
            <a:ext cx="4233672" cy="1097280"/>
          </a:xfrm>
          <a:prstGeom prst="rect">
            <a:avLst/>
          </a:prstGeom>
          <a:noFill/>
          <a:ln/>
        </p:spPr>
        <p:txBody>
          <a:bodyPr wrap="square" lIns="0" tIns="0" rIns="0" bIns="0" rtlCol="0" anchor="t"/>
          <a:lstStyle/>
          <a:p>
            <a:pPr indent="0" marL="0">
              <a:buNone/>
            </a:pPr>
            <a:r>
              <a:rPr lang="en-US" sz="1300" dirty="0">
                <a:solidFill>
                  <a:schemeClr val="tx2"/>
                </a:solidFill>
              </a:rPr>
              <a:t>A compact 8-feature set was tested to reduce this redundancy; it did not improve validation results, so all 15 features were kept.</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SPY weekly Buy / Hold / Sell model</dc:title>
  <dc:subject>PptxGenJS Presentation</dc:subject>
  <dc:creator>Module 3 Group 7</dc:creator>
  <cp:lastModifiedBy>Module 3 Group 7</cp:lastModifiedBy>
  <cp:revision>1</cp:revision>
  <dcterms:created xsi:type="dcterms:W3CDTF">2026-10-22T14:21:41Z</dcterms:created>
  <dcterms:modified xsi:type="dcterms:W3CDTF">2026-10-22T14:21:41Z</dcterms:modified>
</cp:coreProperties>
</file>