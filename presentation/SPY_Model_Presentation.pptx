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a48fe4d6-686a-2ade-567e-e5558e8b0ae4}">
          <p14:sldIdLst>
            <p14:sldId id="256"/>
            <p14:sldId id="257"/>
            <p14:sldId id="258"/>
            <p14:sldId id="259"/>
            <p14:sldId id="260"/>
          </p14:sldIdLst>
        </p14:section>
        <p14:section name="How the model works" id="{652dff78-8756-06b7-81b2-50b9b84ed9e6}">
          <p14:sldIdLst>
            <p14:sldId id="261"/>
            <p14:sldId id="262"/>
            <p14:sldId id="263"/>
            <p14:sldId id="264"/>
            <p14:sldId id="265"/>
            <p14:sldId id="266"/>
          </p14:sldIdLst>
        </p14:section>
        <p14:section name="What happened" id="{d9fe69da-9cf8-52c8-1add-da88636d47da}">
          <p14:sldIdLst>
            <p14:sldId id="267"/>
            <p14:sldId id="268"/>
            <p14:sldId id="269"/>
            <p14:sldId id="270"/>
          </p14:sldIdLst>
        </p14:section>
        <p14:section name="Version 2" id="{7e8a73f7-c95c-edf8-ed4f-b5f33d0e949d}">
          <p14:sldIdLst>
            <p14:sldId id="271"/>
            <p14:sldId id="272"/>
            <p14:sldId id="273"/>
            <p14:sldId id="274"/>
            <p14:sldId id="275"/>
          </p14:sldIdLst>
        </p14:section>
        <p14:section name="Version 3" id="{2239644b-4aa0-08fd-2857-4115fd8ed6ce}">
          <p14:sldIdLst>
            <p14:sldId id="276"/>
            <p14:sldId id="277"/>
            <p14:sldId id="278"/>
          </p14:sldIdLst>
        </p14:section>
        <p14:section name="Wrap-up" id="{1e260044-1c85-ce86-2434-9ecf3bb5b72b}">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Testing a machine-learning trading model on the US stock market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Let the model decide</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Every evening, a computer model decides whether the money should be in the market or safely in cash the next day.</a:t>
            </a:r>
            <a:endParaRPr lang="en-US" sz="1700" dirty="0"/>
          </a:p>
          <a:p>
            <a:pPr indent="0" marL="0">
              <a:buNone/>
            </a:pPr>
            <a:endParaRPr lang="en-US" sz="1700" dirty="0"/>
          </a:p>
          <a:p>
            <a:pPr indent="0" marL="0">
              <a:buNone/>
            </a:pPr>
            <a:r>
              <a:rPr lang="en-US" sz="1700" dirty="0">
                <a:solidFill>
                  <a:schemeClr val="tx2"/>
                </a:solidFill>
              </a:rPr>
              <a:t>Every switch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paid $3,237 in costs</a:t>
            </a:r>
            <a:endParaRPr lang="en-US" sz="1500" dirty="0"/>
          </a:p>
        </p:txBody>
      </p:sp>
      <p:sp>
        <p:nvSpPr>
          <p:cNvPr id="8" name="Text 5"/>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9" name="Text 6"/>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 every evening</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Will next week be Up (&gt; +1%), Down (&lt; −1%) or Flat?</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Decide</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Turn that prediction into: in the market or in cash tomorrow</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If it switches, buy or sell when the market opens, and pay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what kind of week is next</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71600"/>
            <a:ext cx="11094415" cy="841248"/>
          </a:xfrm>
          <a:prstGeom prst="roundRect">
            <a:avLst>
              <a:gd name="adj" fmla="val 10870"/>
            </a:avLst>
          </a:prstGeom>
          <a:solidFill>
            <a:schemeClr val="bg2"/>
          </a:solidFill>
          <a:ln w="12700">
            <a:solidFill>
              <a:schemeClr val="bg2"/>
            </a:solidFill>
            <a:prstDash val="solid"/>
          </a:ln>
        </p:spPr>
      </p:sp>
      <p:sp>
        <p:nvSpPr>
          <p:cNvPr id="4" name="Shape 2"/>
          <p:cNvSpPr/>
          <p:nvPr/>
        </p:nvSpPr>
        <p:spPr>
          <a:xfrm>
            <a:off x="749808" y="1572768"/>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57276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71600"/>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71600"/>
            <a:ext cx="6751015" cy="841248"/>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304288"/>
            <a:ext cx="11094415" cy="841248"/>
          </a:xfrm>
          <a:prstGeom prst="roundRect">
            <a:avLst>
              <a:gd name="adj" fmla="val 10870"/>
            </a:avLst>
          </a:prstGeom>
          <a:solidFill>
            <a:schemeClr val="bg2"/>
          </a:solidFill>
          <a:ln w="12700">
            <a:solidFill>
              <a:schemeClr val="bg2"/>
            </a:solidFill>
            <a:prstDash val="solid"/>
          </a:ln>
        </p:spPr>
      </p:sp>
      <p:sp>
        <p:nvSpPr>
          <p:cNvPr id="9" name="Shape 7"/>
          <p:cNvSpPr/>
          <p:nvPr/>
        </p:nvSpPr>
        <p:spPr>
          <a:xfrm>
            <a:off x="749808" y="2505456"/>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50545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304288"/>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304288"/>
            <a:ext cx="6751015" cy="841248"/>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3236976"/>
            <a:ext cx="11094415" cy="841248"/>
          </a:xfrm>
          <a:prstGeom prst="roundRect">
            <a:avLst>
              <a:gd name="adj" fmla="val 10870"/>
            </a:avLst>
          </a:prstGeom>
          <a:solidFill>
            <a:schemeClr val="bg2"/>
          </a:solidFill>
          <a:ln w="12700">
            <a:solidFill>
              <a:schemeClr val="bg2"/>
            </a:solidFill>
            <a:prstDash val="solid"/>
          </a:ln>
        </p:spPr>
      </p:sp>
      <p:sp>
        <p:nvSpPr>
          <p:cNvPr id="14" name="Shape 12"/>
          <p:cNvSpPr/>
          <p:nvPr/>
        </p:nvSpPr>
        <p:spPr>
          <a:xfrm>
            <a:off x="749808" y="3438144"/>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43814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236976"/>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3236976"/>
            <a:ext cx="6751015" cy="841248"/>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4169664"/>
            <a:ext cx="11094415" cy="841248"/>
          </a:xfrm>
          <a:prstGeom prst="roundRect">
            <a:avLst>
              <a:gd name="adj" fmla="val 10870"/>
            </a:avLst>
          </a:prstGeom>
          <a:solidFill>
            <a:schemeClr val="bg2"/>
          </a:solidFill>
          <a:ln w="12700">
            <a:solidFill>
              <a:schemeClr val="bg2"/>
            </a:solidFill>
            <a:prstDash val="solid"/>
          </a:ln>
        </p:spPr>
      </p:sp>
      <p:sp>
        <p:nvSpPr>
          <p:cNvPr id="19" name="Shape 17"/>
          <p:cNvSpPr/>
          <p:nvPr/>
        </p:nvSpPr>
        <p:spPr>
          <a:xfrm>
            <a:off x="749808" y="437083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437083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4169664"/>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4169664"/>
            <a:ext cx="6751015" cy="841248"/>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5102352"/>
            <a:ext cx="11094415" cy="841248"/>
          </a:xfrm>
          <a:prstGeom prst="roundRect">
            <a:avLst>
              <a:gd name="adj" fmla="val 10870"/>
            </a:avLst>
          </a:prstGeom>
          <a:solidFill>
            <a:schemeClr val="bg2"/>
          </a:solidFill>
          <a:ln w="12700">
            <a:solidFill>
              <a:schemeClr val="bg2"/>
            </a:solidFill>
            <a:prstDash val="solid"/>
          </a:ln>
        </p:spPr>
      </p:sp>
      <p:sp>
        <p:nvSpPr>
          <p:cNvPr id="24" name="Shape 22"/>
          <p:cNvSpPr/>
          <p:nvPr/>
        </p:nvSpPr>
        <p:spPr>
          <a:xfrm>
            <a:off x="749808" y="5303520"/>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53035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5102352"/>
            <a:ext cx="3200400" cy="8412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5102352"/>
            <a:ext cx="6751015" cy="841248"/>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Profit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+$23,714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500" dirty="0">
                <a:solidFill>
                  <a:schemeClr val="tx2"/>
                </a:solidFill>
              </a:rPr>
              <a:t>Chosen by a rule fixed in advance. In ten years it never stepped out of the market: it is Buy &amp; Hold, and it ties Buy &amp; Hold.</a:t>
            </a:r>
            <a:endParaRPr lang="en-US" sz="15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Still to come: the frozen pick on 2025–26 data and a live paper-trade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46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$123,714 with v1, $121,812 with v2.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2026-10-22T12:08:12Z</dcterms:created>
  <dcterms:modified xsi:type="dcterms:W3CDTF">2026-10-22T12:08:12Z</dcterms:modified>
</cp:coreProperties>
</file>