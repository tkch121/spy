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5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6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bjective and approach" id="{e4cb4da8-8af6-52fa-40f8-17218e29b5ea}">
          <p14:sldIdLst>
            <p14:sldId id="256"/>
            <p14:sldId id="257"/>
            <p14:sldId id="258"/>
          </p14:sldIdLst>
        </p14:section>
        <p14:section name="Exploratory analysis" id="{7376a1c0-a995-f247-7b2a-bd43d82f313e}">
          <p14:sldIdLst>
            <p14:sldId id="259"/>
            <p14:sldId id="260"/>
          </p14:sldIdLst>
        </p14:section>
        <p14:section name="Method" id="{8af376a0-76ed-ff62-4912-9f244f8c1b2b}">
          <p14:sldIdLst>
            <p14:sldId id="261"/>
            <p14:sldId id="262"/>
            <p14:sldId id="263"/>
            <p14:sldId id="264"/>
          </p14:sldIdLst>
        </p14:section>
        <p14:section name="Results" id="{4d6415af-6467-85ba-fcdb-a24c5e393871}">
          <p14:sldIdLst>
            <p14:sldId id="265"/>
            <p14:sldId id="266"/>
            <p14:sldId id="267"/>
          </p14:sldIdLst>
        </p14:section>
        <p14:section name="Interpretation" id="{99e509fb-0ebb-8272-73b6-a1d5810c9581}">
          <p14:sldIdLst>
            <p14:sldId id="268"/>
            <p14:sldId id="269"/>
            <p14:sldId id="270"/>
            <p14:sldId id="271"/>
            <p14:sldId id="272"/>
            <p14:sldId id="273"/>
          </p14:sldIdLst>
        </p14:section>
        <p14:section name="Appendix" id="{0ff1b70f-4720-5379-714c-6323bc728723}">
          <p14:sldIdLst>
            <p14:sldId id="274"/>
            <p14:sldId id="275"/>
            <p14:sldId id="27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4213D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4213D"/>
                </a:solidFill>
                <a:latin typeface="+mn-lt"/>
              </a:rPr>
              <a:t>SPY month-end price, 2005–2024 (dividend-adjusted)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SPY</c:v>
                </c:pt>
              </c:strCache>
            </c:strRef>
          </c:tx>
          <c:spPr>
            <a:solidFill>
              <a:srgbClr val="14213D"/>
            </a:solidFill>
            <a:ln w="25400" cap="flat">
              <a:solidFill>
                <a:srgbClr val="14213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4213D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14213D"/>
              </a:solidFill>
              <a:ln w="9525" cap="flat">
                <a:solidFill>
                  <a:srgbClr val="14213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Sheet1!$A$2:$A$241</c:f>
              <c:multiLvlStrCache>
                <c:ptCount val="240"/>
                <c:lvl>
                  <c:pt idx="0">
                    <c:v>2005</c:v>
                  </c:pt>
                  <c:pt idx="1">
                    <c:v>2005</c:v>
                  </c:pt>
                  <c:pt idx="2">
                    <c:v>2005</c:v>
                  </c:pt>
                  <c:pt idx="3">
                    <c:v>2005</c:v>
                  </c:pt>
                  <c:pt idx="4">
                    <c:v>2005</c:v>
                  </c:pt>
                  <c:pt idx="5">
                    <c:v>2005</c:v>
                  </c:pt>
                  <c:pt idx="6">
                    <c:v>2005</c:v>
                  </c:pt>
                  <c:pt idx="7">
                    <c:v>2005</c:v>
                  </c:pt>
                  <c:pt idx="8">
                    <c:v>2005</c:v>
                  </c:pt>
                  <c:pt idx="9">
                    <c:v>2005</c:v>
                  </c:pt>
                  <c:pt idx="10">
                    <c:v>2005</c:v>
                  </c:pt>
                  <c:pt idx="11">
                    <c:v>2005</c:v>
                  </c:pt>
                  <c:pt idx="12">
                    <c:v>2006</c:v>
                  </c:pt>
                  <c:pt idx="13">
                    <c:v>2006</c:v>
                  </c:pt>
                  <c:pt idx="14">
                    <c:v>2006</c:v>
                  </c:pt>
                  <c:pt idx="15">
                    <c:v>2006</c:v>
                  </c:pt>
                  <c:pt idx="16">
                    <c:v>2006</c:v>
                  </c:pt>
                  <c:pt idx="17">
                    <c:v>2006</c:v>
                  </c:pt>
                  <c:pt idx="18">
                    <c:v>2006</c:v>
                  </c:pt>
                  <c:pt idx="19">
                    <c:v>2006</c:v>
                  </c:pt>
                  <c:pt idx="20">
                    <c:v>2006</c:v>
                  </c:pt>
                  <c:pt idx="21">
                    <c:v>2006</c:v>
                  </c:pt>
                  <c:pt idx="22">
                    <c:v>2006</c:v>
                  </c:pt>
                  <c:pt idx="23">
                    <c:v>2006</c:v>
                  </c:pt>
                  <c:pt idx="24">
                    <c:v>2007</c:v>
                  </c:pt>
                  <c:pt idx="25">
                    <c:v>2007</c:v>
                  </c:pt>
                  <c:pt idx="26">
                    <c:v>2007</c:v>
                  </c:pt>
                  <c:pt idx="27">
                    <c:v>2007</c:v>
                  </c:pt>
                  <c:pt idx="28">
                    <c:v>2007</c:v>
                  </c:pt>
                  <c:pt idx="29">
                    <c:v>2007</c:v>
                  </c:pt>
                  <c:pt idx="30">
                    <c:v>2007</c:v>
                  </c:pt>
                  <c:pt idx="31">
                    <c:v>2007</c:v>
                  </c:pt>
                  <c:pt idx="32">
                    <c:v>2007</c:v>
                  </c:pt>
                  <c:pt idx="33">
                    <c:v>2007</c:v>
                  </c:pt>
                  <c:pt idx="34">
                    <c:v>2007</c:v>
                  </c:pt>
                  <c:pt idx="35">
                    <c:v>2007</c:v>
                  </c:pt>
                  <c:pt idx="36">
                    <c:v>2008</c:v>
                  </c:pt>
                  <c:pt idx="37">
                    <c:v>2008</c:v>
                  </c:pt>
                  <c:pt idx="38">
                    <c:v>2008</c:v>
                  </c:pt>
                  <c:pt idx="39">
                    <c:v>2008</c:v>
                  </c:pt>
                  <c:pt idx="40">
                    <c:v>2008</c:v>
                  </c:pt>
                  <c:pt idx="41">
                    <c:v>2008</c:v>
                  </c:pt>
                  <c:pt idx="42">
                    <c:v>2008</c:v>
                  </c:pt>
                  <c:pt idx="43">
                    <c:v>2008</c:v>
                  </c:pt>
                  <c:pt idx="44">
                    <c:v>2008</c:v>
                  </c:pt>
                  <c:pt idx="45">
                    <c:v>2008</c:v>
                  </c:pt>
                  <c:pt idx="46">
                    <c:v>2008</c:v>
                  </c:pt>
                  <c:pt idx="47">
                    <c:v>2008</c:v>
                  </c:pt>
                  <c:pt idx="48">
                    <c:v>2009</c:v>
                  </c:pt>
                  <c:pt idx="49">
                    <c:v>2009</c:v>
                  </c:pt>
                  <c:pt idx="50">
                    <c:v>2009</c:v>
                  </c:pt>
                  <c:pt idx="51">
                    <c:v>2009</c:v>
                  </c:pt>
                  <c:pt idx="52">
                    <c:v>2009</c:v>
                  </c:pt>
                  <c:pt idx="53">
                    <c:v>2009</c:v>
                  </c:pt>
                  <c:pt idx="54">
                    <c:v>2009</c:v>
                  </c:pt>
                  <c:pt idx="55">
                    <c:v>2009</c:v>
                  </c:pt>
                  <c:pt idx="56">
                    <c:v>2009</c:v>
                  </c:pt>
                  <c:pt idx="57">
                    <c:v>2009</c:v>
                  </c:pt>
                  <c:pt idx="58">
                    <c:v>2009</c:v>
                  </c:pt>
                  <c:pt idx="59">
                    <c:v>2009</c:v>
                  </c:pt>
                  <c:pt idx="60">
                    <c:v>2010</c:v>
                  </c:pt>
                  <c:pt idx="61">
                    <c:v>2010</c:v>
                  </c:pt>
                  <c:pt idx="62">
                    <c:v>2010</c:v>
                  </c:pt>
                  <c:pt idx="63">
                    <c:v>2010</c:v>
                  </c:pt>
                  <c:pt idx="64">
                    <c:v>2010</c:v>
                  </c:pt>
                  <c:pt idx="65">
                    <c:v>2010</c:v>
                  </c:pt>
                  <c:pt idx="66">
                    <c:v>2010</c:v>
                  </c:pt>
                  <c:pt idx="67">
                    <c:v>2010</c:v>
                  </c:pt>
                  <c:pt idx="68">
                    <c:v>2010</c:v>
                  </c:pt>
                  <c:pt idx="69">
                    <c:v>2010</c:v>
                  </c:pt>
                  <c:pt idx="70">
                    <c:v>2010</c:v>
                  </c:pt>
                  <c:pt idx="71">
                    <c:v>2010</c:v>
                  </c:pt>
                  <c:pt idx="72">
                    <c:v>2011</c:v>
                  </c:pt>
                  <c:pt idx="73">
                    <c:v>2011</c:v>
                  </c:pt>
                  <c:pt idx="74">
                    <c:v>2011</c:v>
                  </c:pt>
                  <c:pt idx="75">
                    <c:v>2011</c:v>
                  </c:pt>
                  <c:pt idx="76">
                    <c:v>2011</c:v>
                  </c:pt>
                  <c:pt idx="77">
                    <c:v>2011</c:v>
                  </c:pt>
                  <c:pt idx="78">
                    <c:v>2011</c:v>
                  </c:pt>
                  <c:pt idx="79">
                    <c:v>2011</c:v>
                  </c:pt>
                  <c:pt idx="80">
                    <c:v>2011</c:v>
                  </c:pt>
                  <c:pt idx="81">
                    <c:v>2011</c:v>
                  </c:pt>
                  <c:pt idx="82">
                    <c:v>2011</c:v>
                  </c:pt>
                  <c:pt idx="83">
                    <c:v>2011</c:v>
                  </c:pt>
                  <c:pt idx="84">
                    <c:v>2012</c:v>
                  </c:pt>
                  <c:pt idx="85">
                    <c:v>2012</c:v>
                  </c:pt>
                  <c:pt idx="86">
                    <c:v>2012</c:v>
                  </c:pt>
                  <c:pt idx="87">
                    <c:v>2012</c:v>
                  </c:pt>
                  <c:pt idx="88">
                    <c:v>2012</c:v>
                  </c:pt>
                  <c:pt idx="89">
                    <c:v>2012</c:v>
                  </c:pt>
                  <c:pt idx="90">
                    <c:v>2012</c:v>
                  </c:pt>
                  <c:pt idx="91">
                    <c:v>2012</c:v>
                  </c:pt>
                  <c:pt idx="92">
                    <c:v>2012</c:v>
                  </c:pt>
                  <c:pt idx="93">
                    <c:v>2012</c:v>
                  </c:pt>
                  <c:pt idx="94">
                    <c:v>2012</c:v>
                  </c:pt>
                  <c:pt idx="95">
                    <c:v>2012</c:v>
                  </c:pt>
                  <c:pt idx="96">
                    <c:v>2013</c:v>
                  </c:pt>
                  <c:pt idx="97">
                    <c:v>2013</c:v>
                  </c:pt>
                  <c:pt idx="98">
                    <c:v>2013</c:v>
                  </c:pt>
                  <c:pt idx="99">
                    <c:v>2013</c:v>
                  </c:pt>
                  <c:pt idx="100">
                    <c:v>2013</c:v>
                  </c:pt>
                  <c:pt idx="101">
                    <c:v>2013</c:v>
                  </c:pt>
                  <c:pt idx="102">
                    <c:v>2013</c:v>
                  </c:pt>
                  <c:pt idx="103">
                    <c:v>2013</c:v>
                  </c:pt>
                  <c:pt idx="104">
                    <c:v>2013</c:v>
                  </c:pt>
                  <c:pt idx="105">
                    <c:v>2013</c:v>
                  </c:pt>
                  <c:pt idx="106">
                    <c:v>2013</c:v>
                  </c:pt>
                  <c:pt idx="107">
                    <c:v>2013</c:v>
                  </c:pt>
                  <c:pt idx="108">
                    <c:v>2014</c:v>
                  </c:pt>
                  <c:pt idx="109">
                    <c:v>2014</c:v>
                  </c:pt>
                  <c:pt idx="110">
                    <c:v>2014</c:v>
                  </c:pt>
                  <c:pt idx="111">
                    <c:v>2014</c:v>
                  </c:pt>
                  <c:pt idx="112">
                    <c:v>2014</c:v>
                  </c:pt>
                  <c:pt idx="113">
                    <c:v>2014</c:v>
                  </c:pt>
                  <c:pt idx="114">
                    <c:v>2014</c:v>
                  </c:pt>
                  <c:pt idx="115">
                    <c:v>2014</c:v>
                  </c:pt>
                  <c:pt idx="116">
                    <c:v>2014</c:v>
                  </c:pt>
                  <c:pt idx="117">
                    <c:v>2014</c:v>
                  </c:pt>
                  <c:pt idx="118">
                    <c:v>2014</c:v>
                  </c:pt>
                  <c:pt idx="119">
                    <c:v>2014</c:v>
                  </c:pt>
                  <c:pt idx="120">
                    <c:v>2015</c:v>
                  </c:pt>
                  <c:pt idx="121">
                    <c:v>2015</c:v>
                  </c:pt>
                  <c:pt idx="122">
                    <c:v>2015</c:v>
                  </c:pt>
                  <c:pt idx="123">
                    <c:v>2015</c:v>
                  </c:pt>
                  <c:pt idx="124">
                    <c:v>2015</c:v>
                  </c:pt>
                  <c:pt idx="125">
                    <c:v>2015</c:v>
                  </c:pt>
                  <c:pt idx="126">
                    <c:v>2015</c:v>
                  </c:pt>
                  <c:pt idx="127">
                    <c:v>2015</c:v>
                  </c:pt>
                  <c:pt idx="128">
                    <c:v>2015</c:v>
                  </c:pt>
                  <c:pt idx="129">
                    <c:v>2015</c:v>
                  </c:pt>
                  <c:pt idx="130">
                    <c:v>2015</c:v>
                  </c:pt>
                  <c:pt idx="131">
                    <c:v>2015</c:v>
                  </c:pt>
                  <c:pt idx="132">
                    <c:v>2016</c:v>
                  </c:pt>
                  <c:pt idx="133">
                    <c:v>2016</c:v>
                  </c:pt>
                  <c:pt idx="134">
                    <c:v>2016</c:v>
                  </c:pt>
                  <c:pt idx="135">
                    <c:v>2016</c:v>
                  </c:pt>
                  <c:pt idx="136">
                    <c:v>2016</c:v>
                  </c:pt>
                  <c:pt idx="137">
                    <c:v>2016</c:v>
                  </c:pt>
                  <c:pt idx="138">
                    <c:v>2016</c:v>
                  </c:pt>
                  <c:pt idx="139">
                    <c:v>2016</c:v>
                  </c:pt>
                  <c:pt idx="140">
                    <c:v>2016</c:v>
                  </c:pt>
                  <c:pt idx="141">
                    <c:v>2016</c:v>
                  </c:pt>
                  <c:pt idx="142">
                    <c:v>2016</c:v>
                  </c:pt>
                  <c:pt idx="143">
                    <c:v>2016</c:v>
                  </c:pt>
                  <c:pt idx="144">
                    <c:v>2017</c:v>
                  </c:pt>
                  <c:pt idx="145">
                    <c:v>2017</c:v>
                  </c:pt>
                  <c:pt idx="146">
                    <c:v>2017</c:v>
                  </c:pt>
                  <c:pt idx="147">
                    <c:v>2017</c:v>
                  </c:pt>
                  <c:pt idx="148">
                    <c:v>2017</c:v>
                  </c:pt>
                  <c:pt idx="149">
                    <c:v>2017</c:v>
                  </c:pt>
                  <c:pt idx="150">
                    <c:v>2017</c:v>
                  </c:pt>
                  <c:pt idx="151">
                    <c:v>2017</c:v>
                  </c:pt>
                  <c:pt idx="152">
                    <c:v>2017</c:v>
                  </c:pt>
                  <c:pt idx="153">
                    <c:v>2017</c:v>
                  </c:pt>
                  <c:pt idx="154">
                    <c:v>2017</c:v>
                  </c:pt>
                  <c:pt idx="155">
                    <c:v>2017</c:v>
                  </c:pt>
                  <c:pt idx="156">
                    <c:v>2018</c:v>
                  </c:pt>
                  <c:pt idx="157">
                    <c:v>2018</c:v>
                  </c:pt>
                  <c:pt idx="158">
                    <c:v>2018</c:v>
                  </c:pt>
                  <c:pt idx="159">
                    <c:v>2018</c:v>
                  </c:pt>
                  <c:pt idx="160">
                    <c:v>2018</c:v>
                  </c:pt>
                  <c:pt idx="161">
                    <c:v>2018</c:v>
                  </c:pt>
                  <c:pt idx="162">
                    <c:v>2018</c:v>
                  </c:pt>
                  <c:pt idx="163">
                    <c:v>2018</c:v>
                  </c:pt>
                  <c:pt idx="164">
                    <c:v>2018</c:v>
                  </c:pt>
                  <c:pt idx="165">
                    <c:v>2018</c:v>
                  </c:pt>
                  <c:pt idx="166">
                    <c:v>2018</c:v>
                  </c:pt>
                  <c:pt idx="167">
                    <c:v>2018</c:v>
                  </c:pt>
                  <c:pt idx="168">
                    <c:v>2019</c:v>
                  </c:pt>
                  <c:pt idx="169">
                    <c:v>2019</c:v>
                  </c:pt>
                  <c:pt idx="170">
                    <c:v>2019</c:v>
                  </c:pt>
                  <c:pt idx="171">
                    <c:v>2019</c:v>
                  </c:pt>
                  <c:pt idx="172">
                    <c:v>2019</c:v>
                  </c:pt>
                  <c:pt idx="173">
                    <c:v>2019</c:v>
                  </c:pt>
                  <c:pt idx="174">
                    <c:v>2019</c:v>
                  </c:pt>
                  <c:pt idx="175">
                    <c:v>2019</c:v>
                  </c:pt>
                  <c:pt idx="176">
                    <c:v>2019</c:v>
                  </c:pt>
                  <c:pt idx="177">
                    <c:v>2019</c:v>
                  </c:pt>
                  <c:pt idx="178">
                    <c:v>2019</c:v>
                  </c:pt>
                  <c:pt idx="179">
                    <c:v>2019</c:v>
                  </c:pt>
                  <c:pt idx="180">
                    <c:v>2020</c:v>
                  </c:pt>
                  <c:pt idx="181">
                    <c:v>2020</c:v>
                  </c:pt>
                  <c:pt idx="182">
                    <c:v>2020</c:v>
                  </c:pt>
                  <c:pt idx="183">
                    <c:v>2020</c:v>
                  </c:pt>
                  <c:pt idx="184">
                    <c:v>2020</c:v>
                  </c:pt>
                  <c:pt idx="185">
                    <c:v>2020</c:v>
                  </c:pt>
                  <c:pt idx="186">
                    <c:v>2020</c:v>
                  </c:pt>
                  <c:pt idx="187">
                    <c:v>2020</c:v>
                  </c:pt>
                  <c:pt idx="188">
                    <c:v>2020</c:v>
                  </c:pt>
                  <c:pt idx="189">
                    <c:v>2020</c:v>
                  </c:pt>
                  <c:pt idx="190">
                    <c:v>2020</c:v>
                  </c:pt>
                  <c:pt idx="191">
                    <c:v>2020</c:v>
                  </c:pt>
                  <c:pt idx="192">
                    <c:v>2021</c:v>
                  </c:pt>
                  <c:pt idx="193">
                    <c:v>2021</c:v>
                  </c:pt>
                  <c:pt idx="194">
                    <c:v>2021</c:v>
                  </c:pt>
                  <c:pt idx="195">
                    <c:v>2021</c:v>
                  </c:pt>
                  <c:pt idx="196">
                    <c:v>2021</c:v>
                  </c:pt>
                  <c:pt idx="197">
                    <c:v>2021</c:v>
                  </c:pt>
                  <c:pt idx="198">
                    <c:v>2021</c:v>
                  </c:pt>
                  <c:pt idx="199">
                    <c:v>2021</c:v>
                  </c:pt>
                  <c:pt idx="200">
                    <c:v>2021</c:v>
                  </c:pt>
                  <c:pt idx="201">
                    <c:v>2021</c:v>
                  </c:pt>
                  <c:pt idx="202">
                    <c:v>2021</c:v>
                  </c:pt>
                  <c:pt idx="203">
                    <c:v>2021</c:v>
                  </c:pt>
                  <c:pt idx="204">
                    <c:v>2022</c:v>
                  </c:pt>
                  <c:pt idx="205">
                    <c:v>2022</c:v>
                  </c:pt>
                  <c:pt idx="206">
                    <c:v>2022</c:v>
                  </c:pt>
                  <c:pt idx="207">
                    <c:v>2022</c:v>
                  </c:pt>
                  <c:pt idx="208">
                    <c:v>2022</c:v>
                  </c:pt>
                  <c:pt idx="209">
                    <c:v>2022</c:v>
                  </c:pt>
                  <c:pt idx="210">
                    <c:v>2022</c:v>
                  </c:pt>
                  <c:pt idx="211">
                    <c:v>2022</c:v>
                  </c:pt>
                  <c:pt idx="212">
                    <c:v>2022</c:v>
                  </c:pt>
                  <c:pt idx="213">
                    <c:v>2022</c:v>
                  </c:pt>
                  <c:pt idx="214">
                    <c:v>2022</c:v>
                  </c:pt>
                  <c:pt idx="215">
                    <c:v>2022</c:v>
                  </c:pt>
                  <c:pt idx="216">
                    <c:v>2023</c:v>
                  </c:pt>
                  <c:pt idx="217">
                    <c:v>2023</c:v>
                  </c:pt>
                  <c:pt idx="218">
                    <c:v>2023</c:v>
                  </c:pt>
                  <c:pt idx="219">
                    <c:v>2023</c:v>
                  </c:pt>
                  <c:pt idx="220">
                    <c:v>2023</c:v>
                  </c:pt>
                  <c:pt idx="221">
                    <c:v>2023</c:v>
                  </c:pt>
                  <c:pt idx="222">
                    <c:v>2023</c:v>
                  </c:pt>
                  <c:pt idx="223">
                    <c:v>2023</c:v>
                  </c:pt>
                  <c:pt idx="224">
                    <c:v>2023</c:v>
                  </c:pt>
                  <c:pt idx="225">
                    <c:v>2023</c:v>
                  </c:pt>
                  <c:pt idx="226">
                    <c:v>2023</c:v>
                  </c:pt>
                  <c:pt idx="227">
                    <c:v>2023</c:v>
                  </c:pt>
                  <c:pt idx="228">
                    <c:v>2024</c:v>
                  </c:pt>
                  <c:pt idx="229">
                    <c:v>2024</c:v>
                  </c:pt>
                  <c:pt idx="230">
                    <c:v>2024</c:v>
                  </c:pt>
                  <c:pt idx="231">
                    <c:v>2024</c:v>
                  </c:pt>
                  <c:pt idx="232">
                    <c:v>2024</c:v>
                  </c:pt>
                  <c:pt idx="233">
                    <c:v>2024</c:v>
                  </c:pt>
                  <c:pt idx="234">
                    <c:v>2024</c:v>
                  </c:pt>
                  <c:pt idx="235">
                    <c:v>2024</c:v>
                  </c:pt>
                  <c:pt idx="236">
                    <c:v>2024</c:v>
                  </c:pt>
                  <c:pt idx="237">
                    <c:v>2024</c:v>
                  </c:pt>
                  <c:pt idx="238">
                    <c:v>2024</c:v>
                  </c:pt>
                  <c:pt idx="239">
                    <c:v>2024</c:v>
                  </c:pt>
                </c:lvl>
              </c:multiLvlStrCache>
            </c:multiLvlStrRef>
          </c:cat>
          <c:val>
            <c:numRef>
              <c:f>Sheet1!$B$2:$B$241</c:f>
              <c:numCache>
                <c:formatCode>General</c:formatCode>
                <c:ptCount val="240"/>
                <c:pt idx="0">
                  <c:v>79.53</c:v>
                </c:pt>
                <c:pt idx="1">
                  <c:v>81.2</c:v>
                </c:pt>
                <c:pt idx="2">
                  <c:v>79.71</c:v>
                </c:pt>
                <c:pt idx="3">
                  <c:v>78.22</c:v>
                </c:pt>
                <c:pt idx="4">
                  <c:v>80.74</c:v>
                </c:pt>
                <c:pt idx="5">
                  <c:v>80.86</c:v>
                </c:pt>
                <c:pt idx="6">
                  <c:v>83.95</c:v>
                </c:pt>
                <c:pt idx="7">
                  <c:v>83.17</c:v>
                </c:pt>
                <c:pt idx="8">
                  <c:v>83.83</c:v>
                </c:pt>
                <c:pt idx="9">
                  <c:v>81.85</c:v>
                </c:pt>
                <c:pt idx="10">
                  <c:v>85.45</c:v>
                </c:pt>
                <c:pt idx="11">
                  <c:v>85.29</c:v>
                </c:pt>
                <c:pt idx="12">
                  <c:v>87.33</c:v>
                </c:pt>
                <c:pt idx="13">
                  <c:v>87.83</c:v>
                </c:pt>
                <c:pt idx="14">
                  <c:v>89.28</c:v>
                </c:pt>
                <c:pt idx="15">
                  <c:v>90.41</c:v>
                </c:pt>
                <c:pt idx="16">
                  <c:v>87.69</c:v>
                </c:pt>
                <c:pt idx="17">
                  <c:v>87.92</c:v>
                </c:pt>
                <c:pt idx="18">
                  <c:v>88.31</c:v>
                </c:pt>
                <c:pt idx="19">
                  <c:v>90.24</c:v>
                </c:pt>
                <c:pt idx="20">
                  <c:v>92.67</c:v>
                </c:pt>
                <c:pt idx="21">
                  <c:v>95.59</c:v>
                </c:pt>
                <c:pt idx="22">
                  <c:v>97.5</c:v>
                </c:pt>
                <c:pt idx="23">
                  <c:v>98.8</c:v>
                </c:pt>
                <c:pt idx="24">
                  <c:v>100.28</c:v>
                </c:pt>
                <c:pt idx="25">
                  <c:v>98.32</c:v>
                </c:pt>
                <c:pt idx="26">
                  <c:v>99.46</c:v>
                </c:pt>
                <c:pt idx="27">
                  <c:v>103.86</c:v>
                </c:pt>
                <c:pt idx="28">
                  <c:v>107.39</c:v>
                </c:pt>
                <c:pt idx="29">
                  <c:v>105.82</c:v>
                </c:pt>
                <c:pt idx="30">
                  <c:v>102.5</c:v>
                </c:pt>
                <c:pt idx="31">
                  <c:v>103.82</c:v>
                </c:pt>
                <c:pt idx="32">
                  <c:v>107.84</c:v>
                </c:pt>
                <c:pt idx="33">
                  <c:v>109.3</c:v>
                </c:pt>
                <c:pt idx="34">
                  <c:v>105.07</c:v>
                </c:pt>
                <c:pt idx="35">
                  <c:v>103.88</c:v>
                </c:pt>
                <c:pt idx="36">
                  <c:v>97.6</c:v>
                </c:pt>
                <c:pt idx="37">
                  <c:v>95.08</c:v>
                </c:pt>
                <c:pt idx="38">
                  <c:v>94.23</c:v>
                </c:pt>
                <c:pt idx="39">
                  <c:v>98.72</c:v>
                </c:pt>
                <c:pt idx="40">
                  <c:v>100.21</c:v>
                </c:pt>
                <c:pt idx="41">
                  <c:v>91.84</c:v>
                </c:pt>
                <c:pt idx="42">
                  <c:v>91.01</c:v>
                </c:pt>
                <c:pt idx="43">
                  <c:v>92.42</c:v>
                </c:pt>
                <c:pt idx="44">
                  <c:v>83.72</c:v>
                </c:pt>
                <c:pt idx="45">
                  <c:v>69.89</c:v>
                </c:pt>
                <c:pt idx="46">
                  <c:v>65.02</c:v>
                </c:pt>
                <c:pt idx="47">
                  <c:v>65.66</c:v>
                </c:pt>
                <c:pt idx="48">
                  <c:v>60.27</c:v>
                </c:pt>
                <c:pt idx="49">
                  <c:v>53.79</c:v>
                </c:pt>
                <c:pt idx="50">
                  <c:v>58.27</c:v>
                </c:pt>
                <c:pt idx="51">
                  <c:v>64.06</c:v>
                </c:pt>
                <c:pt idx="52">
                  <c:v>67.81</c:v>
                </c:pt>
                <c:pt idx="53">
                  <c:v>67.76</c:v>
                </c:pt>
                <c:pt idx="54">
                  <c:v>72.82</c:v>
                </c:pt>
                <c:pt idx="55">
                  <c:v>75.51</c:v>
                </c:pt>
                <c:pt idx="56">
                  <c:v>78.19</c:v>
                </c:pt>
                <c:pt idx="57">
                  <c:v>76.68</c:v>
                </c:pt>
                <c:pt idx="58">
                  <c:v>81.41</c:v>
                </c:pt>
                <c:pt idx="59">
                  <c:v>82.96</c:v>
                </c:pt>
                <c:pt idx="60">
                  <c:v>79.95</c:v>
                </c:pt>
                <c:pt idx="61">
                  <c:v>82.44</c:v>
                </c:pt>
                <c:pt idx="62">
                  <c:v>87.46</c:v>
                </c:pt>
                <c:pt idx="63">
                  <c:v>88.81</c:v>
                </c:pt>
                <c:pt idx="64">
                  <c:v>81.76</c:v>
                </c:pt>
                <c:pt idx="65">
                  <c:v>77.53</c:v>
                </c:pt>
                <c:pt idx="66">
                  <c:v>82.82</c:v>
                </c:pt>
                <c:pt idx="67">
                  <c:v>79.1</c:v>
                </c:pt>
                <c:pt idx="68">
                  <c:v>86.18</c:v>
                </c:pt>
                <c:pt idx="69">
                  <c:v>89.47</c:v>
                </c:pt>
                <c:pt idx="70">
                  <c:v>89.47</c:v>
                </c:pt>
                <c:pt idx="71">
                  <c:v>95.45</c:v>
                </c:pt>
                <c:pt idx="72">
                  <c:v>97.68</c:v>
                </c:pt>
                <c:pt idx="73">
                  <c:v>101.07</c:v>
                </c:pt>
                <c:pt idx="74">
                  <c:v>101.08</c:v>
                </c:pt>
                <c:pt idx="75">
                  <c:v>104.01</c:v>
                </c:pt>
                <c:pt idx="76">
                  <c:v>102.84</c:v>
                </c:pt>
                <c:pt idx="77">
                  <c:v>101.11</c:v>
                </c:pt>
                <c:pt idx="78">
                  <c:v>99.09</c:v>
                </c:pt>
                <c:pt idx="79">
                  <c:v>93.64</c:v>
                </c:pt>
                <c:pt idx="80">
                  <c:v>87.14</c:v>
                </c:pt>
                <c:pt idx="81">
                  <c:v>96.65</c:v>
                </c:pt>
                <c:pt idx="82">
                  <c:v>96.26</c:v>
                </c:pt>
                <c:pt idx="83">
                  <c:v>97.26</c:v>
                </c:pt>
                <c:pt idx="84">
                  <c:v>101.77</c:v>
                </c:pt>
                <c:pt idx="85">
                  <c:v>106.19</c:v>
                </c:pt>
                <c:pt idx="86">
                  <c:v>109.61</c:v>
                </c:pt>
                <c:pt idx="87">
                  <c:v>108.87</c:v>
                </c:pt>
                <c:pt idx="88">
                  <c:v>102.33</c:v>
                </c:pt>
                <c:pt idx="89">
                  <c:v>106.49</c:v>
                </c:pt>
                <c:pt idx="90">
                  <c:v>107.75</c:v>
                </c:pt>
                <c:pt idx="91">
                  <c:v>110.45</c:v>
                </c:pt>
                <c:pt idx="92">
                  <c:v>113.25</c:v>
                </c:pt>
                <c:pt idx="93">
                  <c:v>111.19</c:v>
                </c:pt>
                <c:pt idx="94">
                  <c:v>111.82</c:v>
                </c:pt>
                <c:pt idx="95">
                  <c:v>112.81</c:v>
                </c:pt>
                <c:pt idx="96">
                  <c:v>118.59</c:v>
                </c:pt>
                <c:pt idx="97">
                  <c:v>120.1</c:v>
                </c:pt>
                <c:pt idx="98">
                  <c:v>124.66</c:v>
                </c:pt>
                <c:pt idx="99">
                  <c:v>127.06</c:v>
                </c:pt>
                <c:pt idx="100">
                  <c:v>130.06</c:v>
                </c:pt>
                <c:pt idx="101">
                  <c:v>128.32</c:v>
                </c:pt>
                <c:pt idx="102">
                  <c:v>134.95</c:v>
                </c:pt>
                <c:pt idx="103">
                  <c:v>130.91</c:v>
                </c:pt>
                <c:pt idx="104">
                  <c:v>135.05</c:v>
                </c:pt>
                <c:pt idx="105">
                  <c:v>141.3</c:v>
                </c:pt>
                <c:pt idx="106">
                  <c:v>145.49</c:v>
                </c:pt>
                <c:pt idx="107">
                  <c:v>149.26</c:v>
                </c:pt>
                <c:pt idx="108">
                  <c:v>144</c:v>
                </c:pt>
                <c:pt idx="109">
                  <c:v>150.55</c:v>
                </c:pt>
                <c:pt idx="110">
                  <c:v>151.8</c:v>
                </c:pt>
                <c:pt idx="111">
                  <c:v>152.86</c:v>
                </c:pt>
                <c:pt idx="112">
                  <c:v>156.41</c:v>
                </c:pt>
                <c:pt idx="113">
                  <c:v>159.64</c:v>
                </c:pt>
                <c:pt idx="114">
                  <c:v>157.49</c:v>
                </c:pt>
                <c:pt idx="115">
                  <c:v>163.71</c:v>
                </c:pt>
                <c:pt idx="116">
                  <c:v>161.45</c:v>
                </c:pt>
                <c:pt idx="117">
                  <c:v>165.25</c:v>
                </c:pt>
                <c:pt idx="118">
                  <c:v>169.79</c:v>
                </c:pt>
                <c:pt idx="119">
                  <c:v>169.36</c:v>
                </c:pt>
                <c:pt idx="120">
                  <c:v>164.34</c:v>
                </c:pt>
                <c:pt idx="121">
                  <c:v>173.58</c:v>
                </c:pt>
                <c:pt idx="122">
                  <c:v>170.85</c:v>
                </c:pt>
                <c:pt idx="123">
                  <c:v>172.53</c:v>
                </c:pt>
                <c:pt idx="124">
                  <c:v>174.75</c:v>
                </c:pt>
                <c:pt idx="125">
                  <c:v>171.2</c:v>
                </c:pt>
                <c:pt idx="126">
                  <c:v>175.07</c:v>
                </c:pt>
                <c:pt idx="127">
                  <c:v>164.4</c:v>
                </c:pt>
                <c:pt idx="128">
                  <c:v>160.2</c:v>
                </c:pt>
                <c:pt idx="129">
                  <c:v>173.83</c:v>
                </c:pt>
                <c:pt idx="130">
                  <c:v>174.46</c:v>
                </c:pt>
                <c:pt idx="131">
                  <c:v>171.45</c:v>
                </c:pt>
                <c:pt idx="132">
                  <c:v>162.91</c:v>
                </c:pt>
                <c:pt idx="133">
                  <c:v>162.78</c:v>
                </c:pt>
                <c:pt idx="134">
                  <c:v>173.73</c:v>
                </c:pt>
                <c:pt idx="135">
                  <c:v>174.41</c:v>
                </c:pt>
                <c:pt idx="136">
                  <c:v>177.38</c:v>
                </c:pt>
                <c:pt idx="137">
                  <c:v>178</c:v>
                </c:pt>
                <c:pt idx="138">
                  <c:v>184.49</c:v>
                </c:pt>
                <c:pt idx="139">
                  <c:v>184.71</c:v>
                </c:pt>
                <c:pt idx="140">
                  <c:v>184.72</c:v>
                </c:pt>
                <c:pt idx="141">
                  <c:v>181.52</c:v>
                </c:pt>
                <c:pt idx="142">
                  <c:v>188.2</c:v>
                </c:pt>
                <c:pt idx="143">
                  <c:v>192.02</c:v>
                </c:pt>
                <c:pt idx="144">
                  <c:v>195.45</c:v>
                </c:pt>
                <c:pt idx="145">
                  <c:v>203.13</c:v>
                </c:pt>
                <c:pt idx="146">
                  <c:v>203.39</c:v>
                </c:pt>
                <c:pt idx="147">
                  <c:v>205.41</c:v>
                </c:pt>
                <c:pt idx="148">
                  <c:v>208.31</c:v>
                </c:pt>
                <c:pt idx="149">
                  <c:v>209.63</c:v>
                </c:pt>
                <c:pt idx="150">
                  <c:v>213.94</c:v>
                </c:pt>
                <c:pt idx="151">
                  <c:v>214.57</c:v>
                </c:pt>
                <c:pt idx="152">
                  <c:v>218.89</c:v>
                </c:pt>
                <c:pt idx="153">
                  <c:v>224.05</c:v>
                </c:pt>
                <c:pt idx="154">
                  <c:v>230.9</c:v>
                </c:pt>
                <c:pt idx="155">
                  <c:v>233.7</c:v>
                </c:pt>
                <c:pt idx="156">
                  <c:v>246.87</c:v>
                </c:pt>
                <c:pt idx="157">
                  <c:v>237.89</c:v>
                </c:pt>
                <c:pt idx="158">
                  <c:v>231.37</c:v>
                </c:pt>
                <c:pt idx="159">
                  <c:v>232.57</c:v>
                </c:pt>
                <c:pt idx="160">
                  <c:v>238.22</c:v>
                </c:pt>
                <c:pt idx="161">
                  <c:v>239.59</c:v>
                </c:pt>
                <c:pt idx="162">
                  <c:v>248.47</c:v>
                </c:pt>
                <c:pt idx="163">
                  <c:v>256.4</c:v>
                </c:pt>
                <c:pt idx="164">
                  <c:v>257.92</c:v>
                </c:pt>
                <c:pt idx="165">
                  <c:v>240.1</c:v>
                </c:pt>
                <c:pt idx="166">
                  <c:v>244.55</c:v>
                </c:pt>
                <c:pt idx="167">
                  <c:v>223.02</c:v>
                </c:pt>
                <c:pt idx="168">
                  <c:v>240.88</c:v>
                </c:pt>
                <c:pt idx="169">
                  <c:v>248.68</c:v>
                </c:pt>
                <c:pt idx="170">
                  <c:v>253.19</c:v>
                </c:pt>
                <c:pt idx="171">
                  <c:v>263.53</c:v>
                </c:pt>
                <c:pt idx="172">
                  <c:v>246.72</c:v>
                </c:pt>
                <c:pt idx="173">
                  <c:v>263.89</c:v>
                </c:pt>
                <c:pt idx="174">
                  <c:v>267.88</c:v>
                </c:pt>
                <c:pt idx="175">
                  <c:v>263.4</c:v>
                </c:pt>
                <c:pt idx="176">
                  <c:v>268.52</c:v>
                </c:pt>
                <c:pt idx="177">
                  <c:v>274.46</c:v>
                </c:pt>
                <c:pt idx="178">
                  <c:v>284.39</c:v>
                </c:pt>
                <c:pt idx="179">
                  <c:v>292.65</c:v>
                </c:pt>
                <c:pt idx="180">
                  <c:v>292.54</c:v>
                </c:pt>
                <c:pt idx="181">
                  <c:v>269.38</c:v>
                </c:pt>
                <c:pt idx="182">
                  <c:v>235.74</c:v>
                </c:pt>
                <c:pt idx="183">
                  <c:v>265.68</c:v>
                </c:pt>
                <c:pt idx="184">
                  <c:v>278.33</c:v>
                </c:pt>
                <c:pt idx="185">
                  <c:v>283.27</c:v>
                </c:pt>
                <c:pt idx="186">
                  <c:v>299.95</c:v>
                </c:pt>
                <c:pt idx="187">
                  <c:v>320.89</c:v>
                </c:pt>
                <c:pt idx="188">
                  <c:v>308.87</c:v>
                </c:pt>
                <c:pt idx="189">
                  <c:v>301.17</c:v>
                </c:pt>
                <c:pt idx="190">
                  <c:v>333.93</c:v>
                </c:pt>
                <c:pt idx="191">
                  <c:v>346.3</c:v>
                </c:pt>
                <c:pt idx="192">
                  <c:v>342.77</c:v>
                </c:pt>
                <c:pt idx="193">
                  <c:v>352.31</c:v>
                </c:pt>
                <c:pt idx="194">
                  <c:v>368.3</c:v>
                </c:pt>
                <c:pt idx="195">
                  <c:v>387.79</c:v>
                </c:pt>
                <c:pt idx="196">
                  <c:v>390.33</c:v>
                </c:pt>
                <c:pt idx="197">
                  <c:v>399.09</c:v>
                </c:pt>
                <c:pt idx="198">
                  <c:v>408.83</c:v>
                </c:pt>
                <c:pt idx="199">
                  <c:v>421</c:v>
                </c:pt>
                <c:pt idx="200">
                  <c:v>401.38</c:v>
                </c:pt>
                <c:pt idx="201">
                  <c:v>429.54</c:v>
                </c:pt>
                <c:pt idx="202">
                  <c:v>426.09</c:v>
                </c:pt>
                <c:pt idx="203">
                  <c:v>445.79</c:v>
                </c:pt>
                <c:pt idx="204">
                  <c:v>422.28</c:v>
                </c:pt>
                <c:pt idx="205">
                  <c:v>409.82</c:v>
                </c:pt>
                <c:pt idx="206">
                  <c:v>425.22</c:v>
                </c:pt>
                <c:pt idx="207">
                  <c:v>387.9</c:v>
                </c:pt>
                <c:pt idx="208">
                  <c:v>388.78</c:v>
                </c:pt>
                <c:pt idx="209">
                  <c:v>356.72</c:v>
                </c:pt>
                <c:pt idx="210">
                  <c:v>389.57</c:v>
                </c:pt>
                <c:pt idx="211">
                  <c:v>373.67</c:v>
                </c:pt>
                <c:pt idx="212">
                  <c:v>339.13</c:v>
                </c:pt>
                <c:pt idx="213">
                  <c:v>366.69</c:v>
                </c:pt>
                <c:pt idx="214">
                  <c:v>387.07</c:v>
                </c:pt>
                <c:pt idx="215">
                  <c:v>364.77</c:v>
                </c:pt>
                <c:pt idx="216">
                  <c:v>387.71</c:v>
                </c:pt>
                <c:pt idx="217">
                  <c:v>377.96</c:v>
                </c:pt>
                <c:pt idx="218">
                  <c:v>391.97</c:v>
                </c:pt>
                <c:pt idx="219">
                  <c:v>398.23</c:v>
                </c:pt>
                <c:pt idx="220">
                  <c:v>400.07</c:v>
                </c:pt>
                <c:pt idx="221">
                  <c:v>426</c:v>
                </c:pt>
                <c:pt idx="222">
                  <c:v>439.94</c:v>
                </c:pt>
                <c:pt idx="223">
                  <c:v>432.79</c:v>
                </c:pt>
                <c:pt idx="224">
                  <c:v>412.26</c:v>
                </c:pt>
                <c:pt idx="225">
                  <c:v>403.31</c:v>
                </c:pt>
                <c:pt idx="226">
                  <c:v>440.15</c:v>
                </c:pt>
                <c:pt idx="227">
                  <c:v>460.25</c:v>
                </c:pt>
                <c:pt idx="228">
                  <c:v>467.58</c:v>
                </c:pt>
                <c:pt idx="229">
                  <c:v>491.98</c:v>
                </c:pt>
                <c:pt idx="230">
                  <c:v>508.07</c:v>
                </c:pt>
                <c:pt idx="231">
                  <c:v>487.58</c:v>
                </c:pt>
                <c:pt idx="232">
                  <c:v>512.25</c:v>
                </c:pt>
                <c:pt idx="233">
                  <c:v>530.32</c:v>
                </c:pt>
                <c:pt idx="234">
                  <c:v>536.74</c:v>
                </c:pt>
                <c:pt idx="235">
                  <c:v>549.28</c:v>
                </c:pt>
                <c:pt idx="236">
                  <c:v>560.82</c:v>
                </c:pt>
                <c:pt idx="237">
                  <c:v>555.81</c:v>
                </c:pt>
                <c:pt idx="238">
                  <c:v>588.96</c:v>
                </c:pt>
                <c:pt idx="239">
                  <c:v>574.79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4213D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B4A6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36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3E7EE"/>
              </a:solidFill>
              <a:prstDash val="solid"/>
              <a:round/>
            </a:ln>
          </c:spPr>
        </c:majorGridlines>
        <c:numFmt formatCode="$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B4A63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4213D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4213D"/>
                </a:solidFill>
                <a:latin typeface="+mn-lt"/>
              </a:rPr>
              <a:t>Correlation with the same measure 1–10 days earlier (autocorrelation)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Direction: daily return</c:v>
                </c:pt>
              </c:strCache>
            </c:strRef>
          </c:tx>
          <c:spPr>
            <a:solidFill>
              <a:srgbClr val="2F5D9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4213D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-0.103</c:v>
                </c:pt>
                <c:pt idx="1">
                  <c:v>-0.019</c:v>
                </c:pt>
                <c:pt idx="2">
                  <c:v>0.014</c:v>
                </c:pt>
                <c:pt idx="3">
                  <c:v>-0.033</c:v>
                </c:pt>
                <c:pt idx="4">
                  <c:v>-0.017</c:v>
                </c:pt>
                <c:pt idx="5">
                  <c:v>-0.037</c:v>
                </c:pt>
                <c:pt idx="6">
                  <c:v>0.052</c:v>
                </c:pt>
                <c:pt idx="7">
                  <c:v>-0.041</c:v>
                </c:pt>
                <c:pt idx="8">
                  <c:v>0.039</c:v>
                </c:pt>
                <c:pt idx="9">
                  <c:v>-0.007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Size: absolute daily return</c:v>
                </c:pt>
              </c:strCache>
            </c:strRef>
          </c:tx>
          <c:spPr>
            <a:solidFill>
              <a:srgbClr val="C8571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4213D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0.319</c:v>
                </c:pt>
                <c:pt idx="1">
                  <c:v>0.423</c:v>
                </c:pt>
                <c:pt idx="2">
                  <c:v>0.346</c:v>
                </c:pt>
                <c:pt idx="3">
                  <c:v>0.359</c:v>
                </c:pt>
                <c:pt idx="4">
                  <c:v>0.369</c:v>
                </c:pt>
                <c:pt idx="5">
                  <c:v>0.361</c:v>
                </c:pt>
                <c:pt idx="6">
                  <c:v>0.342</c:v>
                </c:pt>
                <c:pt idx="7">
                  <c:v>0.324</c:v>
                </c:pt>
                <c:pt idx="8">
                  <c:v>0.331</c:v>
                </c:pt>
                <c:pt idx="9">
                  <c:v>0.318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4213D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B4A6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"/>
          <c:min val="-0.2"/>
        </c:scaling>
        <c:delete val="0"/>
        <c:axPos val="l"/>
        <c:majorGridlines>
          <c:spPr>
            <a:ln w="9525" cap="flat">
              <a:solidFill>
                <a:srgbClr val="E3E7EE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B4A63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0.1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3B4A63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4213D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4213D"/>
                </a:solidFill>
                <a:latin typeface="+mn-lt"/>
              </a:rPr>
              <a:t>Share of 5-day outcomes in each class, by year</a:t>
            </a:r>
          </a:p>
        </c:rich>
      </c:tx>
      <c:layout/>
      <c:overlay val="0"/>
    </c:title>
    <c:autoTitleDeleted val="0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Sell (&lt; −1%)</c:v>
                </c:pt>
              </c:strCache>
            </c:strRef>
          </c:tx>
          <c:spPr>
            <a:solidFill>
              <a:srgbClr val="2F5D9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4213D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Sheet1!$A$2:$A$16</c:f>
              <c:multiLvlStrCache>
                <c:ptCount val="15"/>
                <c:lvl>
                  <c:pt idx="0">
                    <c:v>2010</c:v>
                  </c:pt>
                  <c:pt idx="1">
                    <c:v>2011</c:v>
                  </c:pt>
                  <c:pt idx="2">
                    <c:v>2012</c:v>
                  </c:pt>
                  <c:pt idx="3">
                    <c:v>2013</c:v>
                  </c:pt>
                  <c:pt idx="4">
                    <c:v>2014</c:v>
                  </c:pt>
                  <c:pt idx="5">
                    <c:v>2015</c:v>
                  </c:pt>
                  <c:pt idx="6">
                    <c:v>2016</c:v>
                  </c:pt>
                  <c:pt idx="7">
                    <c:v>2017</c:v>
                  </c:pt>
                  <c:pt idx="8">
                    <c:v>2018</c:v>
                  </c:pt>
                  <c:pt idx="9">
                    <c:v>2019</c:v>
                  </c:pt>
                  <c:pt idx="10">
                    <c:v>2020</c:v>
                  </c:pt>
                  <c:pt idx="11">
                    <c:v>2021</c:v>
                  </c:pt>
                  <c:pt idx="12">
                    <c:v>2022</c:v>
                  </c:pt>
                  <c:pt idx="13">
                    <c:v>2023</c:v>
                  </c:pt>
                  <c:pt idx="14">
                    <c:v>2024</c:v>
                  </c:pt>
                </c:lvl>
              </c:multiLvlStrCache>
            </c:multiLvl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23.8</c:v>
                </c:pt>
                <c:pt idx="1">
                  <c:v>34.5</c:v>
                </c:pt>
                <c:pt idx="2">
                  <c:v>21.2</c:v>
                </c:pt>
                <c:pt idx="3">
                  <c:v>14.3</c:v>
                </c:pt>
                <c:pt idx="4">
                  <c:v>17.1</c:v>
                </c:pt>
                <c:pt idx="5">
                  <c:v>26.6</c:v>
                </c:pt>
                <c:pt idx="6">
                  <c:v>16.7</c:v>
                </c:pt>
                <c:pt idx="7">
                  <c:v>5.2</c:v>
                </c:pt>
                <c:pt idx="8">
                  <c:v>27.5</c:v>
                </c:pt>
                <c:pt idx="9">
                  <c:v>15.1</c:v>
                </c:pt>
                <c:pt idx="10">
                  <c:v>24.5</c:v>
                </c:pt>
                <c:pt idx="11">
                  <c:v>17.1</c:v>
                </c:pt>
                <c:pt idx="12">
                  <c:v>40.6</c:v>
                </c:pt>
                <c:pt idx="13">
                  <c:v>20.8</c:v>
                </c:pt>
                <c:pt idx="14">
                  <c:v>16.2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Hold</c:v>
                </c:pt>
              </c:strCache>
            </c:strRef>
          </c:tx>
          <c:spPr>
            <a:solidFill>
              <a:srgbClr val="8A96A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4213D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Sheet1!$A$2:$A$16</c:f>
              <c:multiLvlStrCache>
                <c:ptCount val="15"/>
                <c:lvl>
                  <c:pt idx="0">
                    <c:v>2010</c:v>
                  </c:pt>
                  <c:pt idx="1">
                    <c:v>2011</c:v>
                  </c:pt>
                  <c:pt idx="2">
                    <c:v>2012</c:v>
                  </c:pt>
                  <c:pt idx="3">
                    <c:v>2013</c:v>
                  </c:pt>
                  <c:pt idx="4">
                    <c:v>2014</c:v>
                  </c:pt>
                  <c:pt idx="5">
                    <c:v>2015</c:v>
                  </c:pt>
                  <c:pt idx="6">
                    <c:v>2016</c:v>
                  </c:pt>
                  <c:pt idx="7">
                    <c:v>2017</c:v>
                  </c:pt>
                  <c:pt idx="8">
                    <c:v>2018</c:v>
                  </c:pt>
                  <c:pt idx="9">
                    <c:v>2019</c:v>
                  </c:pt>
                  <c:pt idx="10">
                    <c:v>2020</c:v>
                  </c:pt>
                  <c:pt idx="11">
                    <c:v>2021</c:v>
                  </c:pt>
                  <c:pt idx="12">
                    <c:v>2022</c:v>
                  </c:pt>
                  <c:pt idx="13">
                    <c:v>2023</c:v>
                  </c:pt>
                  <c:pt idx="14">
                    <c:v>2024</c:v>
                  </c:pt>
                </c:lvl>
              </c:multiLvlStrCache>
            </c:multiLvlStrRef>
          </c:cat>
          <c:val>
            <c:numRef>
              <c:f>Sheet1!$C$2:$C$16</c:f>
              <c:numCache>
                <c:formatCode>General</c:formatCode>
                <c:ptCount val="15"/>
                <c:pt idx="0">
                  <c:v>33.7</c:v>
                </c:pt>
                <c:pt idx="1">
                  <c:v>29</c:v>
                </c:pt>
                <c:pt idx="2">
                  <c:v>43.6</c:v>
                </c:pt>
                <c:pt idx="3">
                  <c:v>48.4</c:v>
                </c:pt>
                <c:pt idx="4">
                  <c:v>52</c:v>
                </c:pt>
                <c:pt idx="5">
                  <c:v>43.7</c:v>
                </c:pt>
                <c:pt idx="6">
                  <c:v>52</c:v>
                </c:pt>
                <c:pt idx="7">
                  <c:v>73.7</c:v>
                </c:pt>
                <c:pt idx="8">
                  <c:v>39</c:v>
                </c:pt>
                <c:pt idx="9">
                  <c:v>44.4</c:v>
                </c:pt>
                <c:pt idx="10">
                  <c:v>25.7</c:v>
                </c:pt>
                <c:pt idx="11">
                  <c:v>44</c:v>
                </c:pt>
                <c:pt idx="12">
                  <c:v>25.1</c:v>
                </c:pt>
                <c:pt idx="13">
                  <c:v>41.2</c:v>
                </c:pt>
                <c:pt idx="14">
                  <c:v>42.1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Buy (&gt; +1%)</c:v>
                </c:pt>
              </c:strCache>
            </c:strRef>
          </c:tx>
          <c:spPr>
            <a:solidFill>
              <a:srgbClr val="C8571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4213D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Sheet1!$A$2:$A$16</c:f>
              <c:multiLvlStrCache>
                <c:ptCount val="15"/>
                <c:lvl>
                  <c:pt idx="0">
                    <c:v>2010</c:v>
                  </c:pt>
                  <c:pt idx="1">
                    <c:v>2011</c:v>
                  </c:pt>
                  <c:pt idx="2">
                    <c:v>2012</c:v>
                  </c:pt>
                  <c:pt idx="3">
                    <c:v>2013</c:v>
                  </c:pt>
                  <c:pt idx="4">
                    <c:v>2014</c:v>
                  </c:pt>
                  <c:pt idx="5">
                    <c:v>2015</c:v>
                  </c:pt>
                  <c:pt idx="6">
                    <c:v>2016</c:v>
                  </c:pt>
                  <c:pt idx="7">
                    <c:v>2017</c:v>
                  </c:pt>
                  <c:pt idx="8">
                    <c:v>2018</c:v>
                  </c:pt>
                  <c:pt idx="9">
                    <c:v>2019</c:v>
                  </c:pt>
                  <c:pt idx="10">
                    <c:v>2020</c:v>
                  </c:pt>
                  <c:pt idx="11">
                    <c:v>2021</c:v>
                  </c:pt>
                  <c:pt idx="12">
                    <c:v>2022</c:v>
                  </c:pt>
                  <c:pt idx="13">
                    <c:v>2023</c:v>
                  </c:pt>
                  <c:pt idx="14">
                    <c:v>2024</c:v>
                  </c:pt>
                </c:lvl>
              </c:multiLvlStrCache>
            </c:multiLvlStrRef>
          </c:cat>
          <c:val>
            <c:numRef>
              <c:f>Sheet1!$D$2:$D$16</c:f>
              <c:numCache>
                <c:formatCode>General</c:formatCode>
                <c:ptCount val="15"/>
                <c:pt idx="0">
                  <c:v>42.5</c:v>
                </c:pt>
                <c:pt idx="1">
                  <c:v>36.5</c:v>
                </c:pt>
                <c:pt idx="2">
                  <c:v>35.2</c:v>
                </c:pt>
                <c:pt idx="3">
                  <c:v>37.3</c:v>
                </c:pt>
                <c:pt idx="4">
                  <c:v>31</c:v>
                </c:pt>
                <c:pt idx="5">
                  <c:v>29.8</c:v>
                </c:pt>
                <c:pt idx="6">
                  <c:v>31.3</c:v>
                </c:pt>
                <c:pt idx="7">
                  <c:v>21.1</c:v>
                </c:pt>
                <c:pt idx="8">
                  <c:v>33.5</c:v>
                </c:pt>
                <c:pt idx="9">
                  <c:v>40.5</c:v>
                </c:pt>
                <c:pt idx="10">
                  <c:v>49.8</c:v>
                </c:pt>
                <c:pt idx="11">
                  <c:v>38.9</c:v>
                </c:pt>
                <c:pt idx="12">
                  <c:v>34.3</c:v>
                </c:pt>
                <c:pt idx="13">
                  <c:v>38</c:v>
                </c:pt>
                <c:pt idx="14">
                  <c:v>41.7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4213D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B4A6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3E7EE"/>
              </a:solidFill>
              <a:prstDash val="solid"/>
              <a:round/>
            </a:ln>
          </c:spPr>
        </c:majorGridlines>
        <c:numFmt formatCode="0%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B4A63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solidFill>
                <a:srgbClr val="3B4A63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4213D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4213D"/>
                </a:solidFill>
                <a:latin typeface="+mn-lt"/>
              </a:rPr>
              <a:t>v1 model selection: validation macro-F1 (2021–22)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Validation macro-F1</c:v>
                </c:pt>
              </c:strCache>
            </c:strRef>
          </c:tx>
          <c:spPr>
            <a:solidFill>
              <a:srgbClr val="C8571B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4213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8571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A96A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A96A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3B4A6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8A96A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Random forest</c:v>
                  </c:pt>
                  <c:pt idx="1">
                    <c:v>Logistic regression + SMOTE</c:v>
                  </c:pt>
                  <c:pt idx="2">
                    <c:v>Logistic regression</c:v>
                  </c:pt>
                  <c:pt idx="3">
                    <c:v>Stratified random baseline</c:v>
                  </c:pt>
                  <c:pt idx="4">
                    <c:v>Gradient boosting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0.4036</c:v>
                </c:pt>
                <c:pt idx="1">
                  <c:v>0.364</c:v>
                </c:pt>
                <c:pt idx="2">
                  <c:v>0.3593</c:v>
                </c:pt>
                <c:pt idx="3">
                  <c:v>0.3328</c:v>
                </c:pt>
                <c:pt idx="4">
                  <c:v>0.322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200" u="none">
                  <a:solidFill>
                    <a:srgbClr val="14213D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B4A6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B4A63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4213D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4213D"/>
                </a:solidFill>
                <a:latin typeface="+mn-lt"/>
              </a:rPr>
              <a:t>$100,000 invested, test period 2023–24, after costs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Buy &amp; Hold (= v3)</c:v>
                </c:pt>
              </c:strCache>
            </c:strRef>
          </c:tx>
          <c:spPr>
            <a:solidFill>
              <a:srgbClr val="14213D"/>
            </a:solidFill>
            <a:ln w="31750" cap="flat">
              <a:solidFill>
                <a:srgbClr val="14213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4213D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14213D"/>
              </a:solidFill>
              <a:ln w="9525" cap="flat">
                <a:solidFill>
                  <a:srgbClr val="14213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Sheet1!$A$2:$A$103</c:f>
              <c:multiLvlStrCache>
                <c:ptCount val="102"/>
                <c:lvl>
                  <c:pt idx="0">
                    <c:v>Jan 23</c:v>
                  </c:pt>
                  <c:pt idx="1">
                    <c:v>Jan 23</c:v>
                  </c:pt>
                  <c:pt idx="2">
                    <c:v>Jan 23</c:v>
                  </c:pt>
                  <c:pt idx="3">
                    <c:v>Jan 23</c:v>
                  </c:pt>
                  <c:pt idx="4">
                    <c:v>Feb 23</c:v>
                  </c:pt>
                  <c:pt idx="5">
                    <c:v>Feb 23</c:v>
                  </c:pt>
                  <c:pt idx="6">
                    <c:v>Feb 23</c:v>
                  </c:pt>
                  <c:pt idx="7">
                    <c:v>Feb 23</c:v>
                  </c:pt>
                  <c:pt idx="8">
                    <c:v>Mar 23</c:v>
                  </c:pt>
                  <c:pt idx="9">
                    <c:v>Mar 23</c:v>
                  </c:pt>
                  <c:pt idx="10">
                    <c:v>Mar 23</c:v>
                  </c:pt>
                  <c:pt idx="11">
                    <c:v>Mar 23</c:v>
                  </c:pt>
                  <c:pt idx="12">
                    <c:v>Mar 23</c:v>
                  </c:pt>
                  <c:pt idx="13">
                    <c:v>Apr 23</c:v>
                  </c:pt>
                  <c:pt idx="14">
                    <c:v>Apr 23</c:v>
                  </c:pt>
                  <c:pt idx="15">
                    <c:v>Apr 23</c:v>
                  </c:pt>
                  <c:pt idx="16">
                    <c:v>Apr 23</c:v>
                  </c:pt>
                  <c:pt idx="17">
                    <c:v>May 23</c:v>
                  </c:pt>
                  <c:pt idx="18">
                    <c:v>May 23</c:v>
                  </c:pt>
                  <c:pt idx="19">
                    <c:v>May 23</c:v>
                  </c:pt>
                  <c:pt idx="20">
                    <c:v>May 23</c:v>
                  </c:pt>
                  <c:pt idx="21">
                    <c:v>Jun 23</c:v>
                  </c:pt>
                  <c:pt idx="22">
                    <c:v>Jun 23</c:v>
                  </c:pt>
                  <c:pt idx="23">
                    <c:v>Jun 23</c:v>
                  </c:pt>
                  <c:pt idx="24">
                    <c:v>Jun 23</c:v>
                  </c:pt>
                  <c:pt idx="25">
                    <c:v>Jul 23</c:v>
                  </c:pt>
                  <c:pt idx="26">
                    <c:v>Jul 23</c:v>
                  </c:pt>
                  <c:pt idx="27">
                    <c:v>Jul 23</c:v>
                  </c:pt>
                  <c:pt idx="28">
                    <c:v>Jul 23</c:v>
                  </c:pt>
                  <c:pt idx="29">
                    <c:v>Aug 23</c:v>
                  </c:pt>
                  <c:pt idx="30">
                    <c:v>Aug 23</c:v>
                  </c:pt>
                  <c:pt idx="31">
                    <c:v>Aug 23</c:v>
                  </c:pt>
                  <c:pt idx="32">
                    <c:v>Aug 23</c:v>
                  </c:pt>
                  <c:pt idx="33">
                    <c:v>Aug 23</c:v>
                  </c:pt>
                  <c:pt idx="34">
                    <c:v>Sep 23</c:v>
                  </c:pt>
                  <c:pt idx="35">
                    <c:v>Sep 23</c:v>
                  </c:pt>
                  <c:pt idx="36">
                    <c:v>Sep 23</c:v>
                  </c:pt>
                  <c:pt idx="37">
                    <c:v>Sep 23</c:v>
                  </c:pt>
                  <c:pt idx="38">
                    <c:v>Oct 23</c:v>
                  </c:pt>
                  <c:pt idx="39">
                    <c:v>Oct 23</c:v>
                  </c:pt>
                  <c:pt idx="40">
                    <c:v>Oct 23</c:v>
                  </c:pt>
                  <c:pt idx="41">
                    <c:v>Oct 23</c:v>
                  </c:pt>
                  <c:pt idx="42">
                    <c:v>Nov 23</c:v>
                  </c:pt>
                  <c:pt idx="43">
                    <c:v>Nov 23</c:v>
                  </c:pt>
                  <c:pt idx="44">
                    <c:v>Nov 23</c:v>
                  </c:pt>
                  <c:pt idx="45">
                    <c:v>Nov 23</c:v>
                  </c:pt>
                  <c:pt idx="46">
                    <c:v>Dec 23</c:v>
                  </c:pt>
                  <c:pt idx="47">
                    <c:v>Dec 23</c:v>
                  </c:pt>
                  <c:pt idx="48">
                    <c:v>Dec 23</c:v>
                  </c:pt>
                  <c:pt idx="49">
                    <c:v>Dec 23</c:v>
                  </c:pt>
                  <c:pt idx="50">
                    <c:v>Jan 24</c:v>
                  </c:pt>
                  <c:pt idx="51">
                    <c:v>Jan 24</c:v>
                  </c:pt>
                  <c:pt idx="52">
                    <c:v>Jan 24</c:v>
                  </c:pt>
                  <c:pt idx="53">
                    <c:v>Jan 24</c:v>
                  </c:pt>
                  <c:pt idx="54">
                    <c:v>Jan 24</c:v>
                  </c:pt>
                  <c:pt idx="55">
                    <c:v>Feb 24</c:v>
                  </c:pt>
                  <c:pt idx="56">
                    <c:v>Feb 24</c:v>
                  </c:pt>
                  <c:pt idx="57">
                    <c:v>Feb 24</c:v>
                  </c:pt>
                  <c:pt idx="58">
                    <c:v>Feb 24</c:v>
                  </c:pt>
                  <c:pt idx="59">
                    <c:v>Mar 24</c:v>
                  </c:pt>
                  <c:pt idx="60">
                    <c:v>Mar 24</c:v>
                  </c:pt>
                  <c:pt idx="61">
                    <c:v>Mar 24</c:v>
                  </c:pt>
                  <c:pt idx="62">
                    <c:v>Mar 24</c:v>
                  </c:pt>
                  <c:pt idx="63">
                    <c:v>Apr 24</c:v>
                  </c:pt>
                  <c:pt idx="64">
                    <c:v>Apr 24</c:v>
                  </c:pt>
                  <c:pt idx="65">
                    <c:v>Apr 24</c:v>
                  </c:pt>
                  <c:pt idx="66">
                    <c:v>Apr 24</c:v>
                  </c:pt>
                  <c:pt idx="67">
                    <c:v>May 24</c:v>
                  </c:pt>
                  <c:pt idx="68">
                    <c:v>May 24</c:v>
                  </c:pt>
                  <c:pt idx="69">
                    <c:v>May 24</c:v>
                  </c:pt>
                  <c:pt idx="70">
                    <c:v>May 24</c:v>
                  </c:pt>
                  <c:pt idx="71">
                    <c:v>Jun 24</c:v>
                  </c:pt>
                  <c:pt idx="72">
                    <c:v>Jun 24</c:v>
                  </c:pt>
                  <c:pt idx="73">
                    <c:v>Jun 24</c:v>
                  </c:pt>
                  <c:pt idx="74">
                    <c:v>Jun 24</c:v>
                  </c:pt>
                  <c:pt idx="75">
                    <c:v>Jul 24</c:v>
                  </c:pt>
                  <c:pt idx="76">
                    <c:v>Jul 24</c:v>
                  </c:pt>
                  <c:pt idx="77">
                    <c:v>Jul 24</c:v>
                  </c:pt>
                  <c:pt idx="78">
                    <c:v>Jul 24</c:v>
                  </c:pt>
                  <c:pt idx="79">
                    <c:v>Jul 24</c:v>
                  </c:pt>
                  <c:pt idx="80">
                    <c:v>Aug 24</c:v>
                  </c:pt>
                  <c:pt idx="81">
                    <c:v>Aug 24</c:v>
                  </c:pt>
                  <c:pt idx="82">
                    <c:v>Aug 24</c:v>
                  </c:pt>
                  <c:pt idx="83">
                    <c:v>Aug 24</c:v>
                  </c:pt>
                  <c:pt idx="84">
                    <c:v>Sep 24</c:v>
                  </c:pt>
                  <c:pt idx="85">
                    <c:v>Sep 24</c:v>
                  </c:pt>
                  <c:pt idx="86">
                    <c:v>Sep 24</c:v>
                  </c:pt>
                  <c:pt idx="87">
                    <c:v>Sep 24</c:v>
                  </c:pt>
                  <c:pt idx="88">
                    <c:v>Oct 24</c:v>
                  </c:pt>
                  <c:pt idx="89">
                    <c:v>Oct 24</c:v>
                  </c:pt>
                  <c:pt idx="90">
                    <c:v>Oct 24</c:v>
                  </c:pt>
                  <c:pt idx="91">
                    <c:v>Oct 24</c:v>
                  </c:pt>
                  <c:pt idx="92">
                    <c:v>Oct 24</c:v>
                  </c:pt>
                  <c:pt idx="93">
                    <c:v>Nov 24</c:v>
                  </c:pt>
                  <c:pt idx="94">
                    <c:v>Nov 24</c:v>
                  </c:pt>
                  <c:pt idx="95">
                    <c:v>Nov 24</c:v>
                  </c:pt>
                  <c:pt idx="96">
                    <c:v>Nov 24</c:v>
                  </c:pt>
                  <c:pt idx="97">
                    <c:v>Dec 24</c:v>
                  </c:pt>
                  <c:pt idx="98">
                    <c:v>Dec 24</c:v>
                  </c:pt>
                  <c:pt idx="99">
                    <c:v>Dec 24</c:v>
                  </c:pt>
                  <c:pt idx="100">
                    <c:v>Dec 24</c:v>
                  </c:pt>
                  <c:pt idx="101">
                    <c:v>Dec 24</c:v>
                  </c:pt>
                </c:lvl>
              </c:multiLvlStrCache>
            </c:multiLvlStrRef>
          </c:cat>
          <c:val>
            <c:numRef>
              <c:f>Sheet1!$B$2:$B$103</c:f>
              <c:numCache>
                <c:formatCode>General</c:formatCode>
                <c:ptCount val="102"/>
                <c:pt idx="0">
                  <c:v>98928</c:v>
                </c:pt>
                <c:pt idx="1">
                  <c:v>101463</c:v>
                </c:pt>
                <c:pt idx="2">
                  <c:v>101700</c:v>
                </c:pt>
                <c:pt idx="3">
                  <c:v>104001</c:v>
                </c:pt>
                <c:pt idx="4">
                  <c:v>106716</c:v>
                </c:pt>
                <c:pt idx="5">
                  <c:v>106677</c:v>
                </c:pt>
                <c:pt idx="6">
                  <c:v>107542</c:v>
                </c:pt>
                <c:pt idx="7">
                  <c:v>104082</c:v>
                </c:pt>
                <c:pt idx="8">
                  <c:v>103342</c:v>
                </c:pt>
                <c:pt idx="9">
                  <c:v>101718</c:v>
                </c:pt>
                <c:pt idx="10">
                  <c:v>102900</c:v>
                </c:pt>
                <c:pt idx="11">
                  <c:v>102526</c:v>
                </c:pt>
                <c:pt idx="12">
                  <c:v>105272</c:v>
                </c:pt>
                <c:pt idx="13">
                  <c:v>106704</c:v>
                </c:pt>
                <c:pt idx="14">
                  <c:v>107556</c:v>
                </c:pt>
                <c:pt idx="15">
                  <c:v>107488</c:v>
                </c:pt>
                <c:pt idx="16">
                  <c:v>108461</c:v>
                </c:pt>
                <c:pt idx="17">
                  <c:v>107601</c:v>
                </c:pt>
                <c:pt idx="18">
                  <c:v>107329</c:v>
                </c:pt>
                <c:pt idx="19">
                  <c:v>109163</c:v>
                </c:pt>
                <c:pt idx="20">
                  <c:v>109528</c:v>
                </c:pt>
                <c:pt idx="21">
                  <c:v>111374</c:v>
                </c:pt>
                <c:pt idx="22">
                  <c:v>113121</c:v>
                </c:pt>
                <c:pt idx="23">
                  <c:v>114426</c:v>
                </c:pt>
                <c:pt idx="24">
                  <c:v>114162</c:v>
                </c:pt>
                <c:pt idx="25">
                  <c:v>115983</c:v>
                </c:pt>
                <c:pt idx="26">
                  <c:v>116740</c:v>
                </c:pt>
                <c:pt idx="27">
                  <c:v>119142</c:v>
                </c:pt>
                <c:pt idx="28">
                  <c:v>119223</c:v>
                </c:pt>
                <c:pt idx="29">
                  <c:v>117815</c:v>
                </c:pt>
                <c:pt idx="30">
                  <c:v>116669</c:v>
                </c:pt>
                <c:pt idx="31">
                  <c:v>115070</c:v>
                </c:pt>
                <c:pt idx="32">
                  <c:v>115957</c:v>
                </c:pt>
                <c:pt idx="33">
                  <c:v>118046</c:v>
                </c:pt>
                <c:pt idx="34">
                  <c:v>116433</c:v>
                </c:pt>
                <c:pt idx="35">
                  <c:v>117876</c:v>
                </c:pt>
                <c:pt idx="36">
                  <c:v>113309</c:v>
                </c:pt>
                <c:pt idx="37">
                  <c:v>112555</c:v>
                </c:pt>
                <c:pt idx="38">
                  <c:v>111499</c:v>
                </c:pt>
                <c:pt idx="39">
                  <c:v>113905</c:v>
                </c:pt>
                <c:pt idx="40">
                  <c:v>112006</c:v>
                </c:pt>
                <c:pt idx="41">
                  <c:v>108360</c:v>
                </c:pt>
                <c:pt idx="42">
                  <c:v>113143</c:v>
                </c:pt>
                <c:pt idx="43">
                  <c:v>113952</c:v>
                </c:pt>
                <c:pt idx="44">
                  <c:v>118257</c:v>
                </c:pt>
                <c:pt idx="45">
                  <c:v>119589</c:v>
                </c:pt>
                <c:pt idx="46">
                  <c:v>120587</c:v>
                </c:pt>
                <c:pt idx="47">
                  <c:v>120876</c:v>
                </c:pt>
                <c:pt idx="48">
                  <c:v>123774</c:v>
                </c:pt>
                <c:pt idx="49">
                  <c:v>124913</c:v>
                </c:pt>
                <c:pt idx="50">
                  <c:v>124649</c:v>
                </c:pt>
                <c:pt idx="51">
                  <c:v>124974</c:v>
                </c:pt>
                <c:pt idx="52">
                  <c:v>124554</c:v>
                </c:pt>
                <c:pt idx="53">
                  <c:v>128009</c:v>
                </c:pt>
                <c:pt idx="54">
                  <c:v>127347</c:v>
                </c:pt>
                <c:pt idx="55">
                  <c:v>131361</c:v>
                </c:pt>
                <c:pt idx="56">
                  <c:v>131485</c:v>
                </c:pt>
                <c:pt idx="57">
                  <c:v>133840</c:v>
                </c:pt>
                <c:pt idx="58">
                  <c:v>133993</c:v>
                </c:pt>
                <c:pt idx="59">
                  <c:v>135768</c:v>
                </c:pt>
                <c:pt idx="60">
                  <c:v>135805</c:v>
                </c:pt>
                <c:pt idx="61">
                  <c:v>138145</c:v>
                </c:pt>
                <c:pt idx="62">
                  <c:v>138375</c:v>
                </c:pt>
                <c:pt idx="63">
                  <c:v>137147</c:v>
                </c:pt>
                <c:pt idx="64">
                  <c:v>135142</c:v>
                </c:pt>
                <c:pt idx="65">
                  <c:v>130992</c:v>
                </c:pt>
                <c:pt idx="66">
                  <c:v>134457</c:v>
                </c:pt>
                <c:pt idx="67">
                  <c:v>135259</c:v>
                </c:pt>
                <c:pt idx="68">
                  <c:v>137785</c:v>
                </c:pt>
                <c:pt idx="69">
                  <c:v>140063</c:v>
                </c:pt>
                <c:pt idx="70">
                  <c:v>140060</c:v>
                </c:pt>
                <c:pt idx="71">
                  <c:v>139626</c:v>
                </c:pt>
                <c:pt idx="72">
                  <c:v>141706</c:v>
                </c:pt>
                <c:pt idx="73">
                  <c:v>144732</c:v>
                </c:pt>
                <c:pt idx="74">
                  <c:v>144596</c:v>
                </c:pt>
                <c:pt idx="75">
                  <c:v>145706</c:v>
                </c:pt>
                <c:pt idx="76">
                  <c:v>148973</c:v>
                </c:pt>
                <c:pt idx="77">
                  <c:v>147810</c:v>
                </c:pt>
                <c:pt idx="78">
                  <c:v>143641</c:v>
                </c:pt>
                <c:pt idx="79">
                  <c:v>146183</c:v>
                </c:pt>
                <c:pt idx="80">
                  <c:v>137651</c:v>
                </c:pt>
                <c:pt idx="81">
                  <c:v>144310</c:v>
                </c:pt>
                <c:pt idx="82">
                  <c:v>148787</c:v>
                </c:pt>
                <c:pt idx="83">
                  <c:v>148171</c:v>
                </c:pt>
                <c:pt idx="84">
                  <c:v>145865</c:v>
                </c:pt>
                <c:pt idx="85">
                  <c:v>148381</c:v>
                </c:pt>
                <c:pt idx="86">
                  <c:v>151537</c:v>
                </c:pt>
                <c:pt idx="87">
                  <c:v>152353</c:v>
                </c:pt>
                <c:pt idx="88">
                  <c:v>151160</c:v>
                </c:pt>
                <c:pt idx="89">
                  <c:v>153372</c:v>
                </c:pt>
                <c:pt idx="90">
                  <c:v>155028</c:v>
                </c:pt>
                <c:pt idx="91">
                  <c:v>154200</c:v>
                </c:pt>
                <c:pt idx="92">
                  <c:v>151378</c:v>
                </c:pt>
                <c:pt idx="93">
                  <c:v>158558</c:v>
                </c:pt>
                <c:pt idx="94">
                  <c:v>157956</c:v>
                </c:pt>
                <c:pt idx="95">
                  <c:v>158042</c:v>
                </c:pt>
                <c:pt idx="96">
                  <c:v>160406</c:v>
                </c:pt>
                <c:pt idx="97">
                  <c:v>161806</c:v>
                </c:pt>
                <c:pt idx="98">
                  <c:v>160848</c:v>
                </c:pt>
                <c:pt idx="99">
                  <c:v>157900</c:v>
                </c:pt>
                <c:pt idx="100">
                  <c:v>157118</c:v>
                </c:pt>
                <c:pt idx="101">
                  <c:v>156546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v1 weekly</c:v>
                </c:pt>
              </c:strCache>
            </c:strRef>
          </c:tx>
          <c:spPr>
            <a:solidFill>
              <a:srgbClr val="C8571B"/>
            </a:solidFill>
            <a:ln w="31750" cap="flat">
              <a:solidFill>
                <a:srgbClr val="C8571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4213D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C8571B"/>
              </a:solidFill>
              <a:ln w="9525" cap="flat">
                <a:solidFill>
                  <a:srgbClr val="C8571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Sheet1!$A$2:$A$103</c:f>
              <c:multiLvlStrCache>
                <c:ptCount val="102"/>
                <c:lvl>
                  <c:pt idx="0">
                    <c:v>Jan 23</c:v>
                  </c:pt>
                  <c:pt idx="1">
                    <c:v>Jan 23</c:v>
                  </c:pt>
                  <c:pt idx="2">
                    <c:v>Jan 23</c:v>
                  </c:pt>
                  <c:pt idx="3">
                    <c:v>Jan 23</c:v>
                  </c:pt>
                  <c:pt idx="4">
                    <c:v>Feb 23</c:v>
                  </c:pt>
                  <c:pt idx="5">
                    <c:v>Feb 23</c:v>
                  </c:pt>
                  <c:pt idx="6">
                    <c:v>Feb 23</c:v>
                  </c:pt>
                  <c:pt idx="7">
                    <c:v>Feb 23</c:v>
                  </c:pt>
                  <c:pt idx="8">
                    <c:v>Mar 23</c:v>
                  </c:pt>
                  <c:pt idx="9">
                    <c:v>Mar 23</c:v>
                  </c:pt>
                  <c:pt idx="10">
                    <c:v>Mar 23</c:v>
                  </c:pt>
                  <c:pt idx="11">
                    <c:v>Mar 23</c:v>
                  </c:pt>
                  <c:pt idx="12">
                    <c:v>Mar 23</c:v>
                  </c:pt>
                  <c:pt idx="13">
                    <c:v>Apr 23</c:v>
                  </c:pt>
                  <c:pt idx="14">
                    <c:v>Apr 23</c:v>
                  </c:pt>
                  <c:pt idx="15">
                    <c:v>Apr 23</c:v>
                  </c:pt>
                  <c:pt idx="16">
                    <c:v>Apr 23</c:v>
                  </c:pt>
                  <c:pt idx="17">
                    <c:v>May 23</c:v>
                  </c:pt>
                  <c:pt idx="18">
                    <c:v>May 23</c:v>
                  </c:pt>
                  <c:pt idx="19">
                    <c:v>May 23</c:v>
                  </c:pt>
                  <c:pt idx="20">
                    <c:v>May 23</c:v>
                  </c:pt>
                  <c:pt idx="21">
                    <c:v>Jun 23</c:v>
                  </c:pt>
                  <c:pt idx="22">
                    <c:v>Jun 23</c:v>
                  </c:pt>
                  <c:pt idx="23">
                    <c:v>Jun 23</c:v>
                  </c:pt>
                  <c:pt idx="24">
                    <c:v>Jun 23</c:v>
                  </c:pt>
                  <c:pt idx="25">
                    <c:v>Jul 23</c:v>
                  </c:pt>
                  <c:pt idx="26">
                    <c:v>Jul 23</c:v>
                  </c:pt>
                  <c:pt idx="27">
                    <c:v>Jul 23</c:v>
                  </c:pt>
                  <c:pt idx="28">
                    <c:v>Jul 23</c:v>
                  </c:pt>
                  <c:pt idx="29">
                    <c:v>Aug 23</c:v>
                  </c:pt>
                  <c:pt idx="30">
                    <c:v>Aug 23</c:v>
                  </c:pt>
                  <c:pt idx="31">
                    <c:v>Aug 23</c:v>
                  </c:pt>
                  <c:pt idx="32">
                    <c:v>Aug 23</c:v>
                  </c:pt>
                  <c:pt idx="33">
                    <c:v>Aug 23</c:v>
                  </c:pt>
                  <c:pt idx="34">
                    <c:v>Sep 23</c:v>
                  </c:pt>
                  <c:pt idx="35">
                    <c:v>Sep 23</c:v>
                  </c:pt>
                  <c:pt idx="36">
                    <c:v>Sep 23</c:v>
                  </c:pt>
                  <c:pt idx="37">
                    <c:v>Sep 23</c:v>
                  </c:pt>
                  <c:pt idx="38">
                    <c:v>Oct 23</c:v>
                  </c:pt>
                  <c:pt idx="39">
                    <c:v>Oct 23</c:v>
                  </c:pt>
                  <c:pt idx="40">
                    <c:v>Oct 23</c:v>
                  </c:pt>
                  <c:pt idx="41">
                    <c:v>Oct 23</c:v>
                  </c:pt>
                  <c:pt idx="42">
                    <c:v>Nov 23</c:v>
                  </c:pt>
                  <c:pt idx="43">
                    <c:v>Nov 23</c:v>
                  </c:pt>
                  <c:pt idx="44">
                    <c:v>Nov 23</c:v>
                  </c:pt>
                  <c:pt idx="45">
                    <c:v>Nov 23</c:v>
                  </c:pt>
                  <c:pt idx="46">
                    <c:v>Dec 23</c:v>
                  </c:pt>
                  <c:pt idx="47">
                    <c:v>Dec 23</c:v>
                  </c:pt>
                  <c:pt idx="48">
                    <c:v>Dec 23</c:v>
                  </c:pt>
                  <c:pt idx="49">
                    <c:v>Dec 23</c:v>
                  </c:pt>
                  <c:pt idx="50">
                    <c:v>Jan 24</c:v>
                  </c:pt>
                  <c:pt idx="51">
                    <c:v>Jan 24</c:v>
                  </c:pt>
                  <c:pt idx="52">
                    <c:v>Jan 24</c:v>
                  </c:pt>
                  <c:pt idx="53">
                    <c:v>Jan 24</c:v>
                  </c:pt>
                  <c:pt idx="54">
                    <c:v>Jan 24</c:v>
                  </c:pt>
                  <c:pt idx="55">
                    <c:v>Feb 24</c:v>
                  </c:pt>
                  <c:pt idx="56">
                    <c:v>Feb 24</c:v>
                  </c:pt>
                  <c:pt idx="57">
                    <c:v>Feb 24</c:v>
                  </c:pt>
                  <c:pt idx="58">
                    <c:v>Feb 24</c:v>
                  </c:pt>
                  <c:pt idx="59">
                    <c:v>Mar 24</c:v>
                  </c:pt>
                  <c:pt idx="60">
                    <c:v>Mar 24</c:v>
                  </c:pt>
                  <c:pt idx="61">
                    <c:v>Mar 24</c:v>
                  </c:pt>
                  <c:pt idx="62">
                    <c:v>Mar 24</c:v>
                  </c:pt>
                  <c:pt idx="63">
                    <c:v>Apr 24</c:v>
                  </c:pt>
                  <c:pt idx="64">
                    <c:v>Apr 24</c:v>
                  </c:pt>
                  <c:pt idx="65">
                    <c:v>Apr 24</c:v>
                  </c:pt>
                  <c:pt idx="66">
                    <c:v>Apr 24</c:v>
                  </c:pt>
                  <c:pt idx="67">
                    <c:v>May 24</c:v>
                  </c:pt>
                  <c:pt idx="68">
                    <c:v>May 24</c:v>
                  </c:pt>
                  <c:pt idx="69">
                    <c:v>May 24</c:v>
                  </c:pt>
                  <c:pt idx="70">
                    <c:v>May 24</c:v>
                  </c:pt>
                  <c:pt idx="71">
                    <c:v>Jun 24</c:v>
                  </c:pt>
                  <c:pt idx="72">
                    <c:v>Jun 24</c:v>
                  </c:pt>
                  <c:pt idx="73">
                    <c:v>Jun 24</c:v>
                  </c:pt>
                  <c:pt idx="74">
                    <c:v>Jun 24</c:v>
                  </c:pt>
                  <c:pt idx="75">
                    <c:v>Jul 24</c:v>
                  </c:pt>
                  <c:pt idx="76">
                    <c:v>Jul 24</c:v>
                  </c:pt>
                  <c:pt idx="77">
                    <c:v>Jul 24</c:v>
                  </c:pt>
                  <c:pt idx="78">
                    <c:v>Jul 24</c:v>
                  </c:pt>
                  <c:pt idx="79">
                    <c:v>Jul 24</c:v>
                  </c:pt>
                  <c:pt idx="80">
                    <c:v>Aug 24</c:v>
                  </c:pt>
                  <c:pt idx="81">
                    <c:v>Aug 24</c:v>
                  </c:pt>
                  <c:pt idx="82">
                    <c:v>Aug 24</c:v>
                  </c:pt>
                  <c:pt idx="83">
                    <c:v>Aug 24</c:v>
                  </c:pt>
                  <c:pt idx="84">
                    <c:v>Sep 24</c:v>
                  </c:pt>
                  <c:pt idx="85">
                    <c:v>Sep 24</c:v>
                  </c:pt>
                  <c:pt idx="86">
                    <c:v>Sep 24</c:v>
                  </c:pt>
                  <c:pt idx="87">
                    <c:v>Sep 24</c:v>
                  </c:pt>
                  <c:pt idx="88">
                    <c:v>Oct 24</c:v>
                  </c:pt>
                  <c:pt idx="89">
                    <c:v>Oct 24</c:v>
                  </c:pt>
                  <c:pt idx="90">
                    <c:v>Oct 24</c:v>
                  </c:pt>
                  <c:pt idx="91">
                    <c:v>Oct 24</c:v>
                  </c:pt>
                  <c:pt idx="92">
                    <c:v>Oct 24</c:v>
                  </c:pt>
                  <c:pt idx="93">
                    <c:v>Nov 24</c:v>
                  </c:pt>
                  <c:pt idx="94">
                    <c:v>Nov 24</c:v>
                  </c:pt>
                  <c:pt idx="95">
                    <c:v>Nov 24</c:v>
                  </c:pt>
                  <c:pt idx="96">
                    <c:v>Nov 24</c:v>
                  </c:pt>
                  <c:pt idx="97">
                    <c:v>Dec 24</c:v>
                  </c:pt>
                  <c:pt idx="98">
                    <c:v>Dec 24</c:v>
                  </c:pt>
                  <c:pt idx="99">
                    <c:v>Dec 24</c:v>
                  </c:pt>
                  <c:pt idx="100">
                    <c:v>Dec 24</c:v>
                  </c:pt>
                  <c:pt idx="101">
                    <c:v>Dec 24</c:v>
                  </c:pt>
                </c:lvl>
              </c:multiLvlStrCache>
            </c:multiLvlStrRef>
          </c:cat>
          <c:val>
            <c:numRef>
              <c:f>Sheet1!$C$2:$C$103</c:f>
              <c:numCache>
                <c:formatCode>General</c:formatCode>
                <c:ptCount val="102"/>
                <c:pt idx="0">
                  <c:v>100000</c:v>
                </c:pt>
                <c:pt idx="1">
                  <c:v>100088</c:v>
                </c:pt>
                <c:pt idx="2">
                  <c:v>98255</c:v>
                </c:pt>
                <c:pt idx="3">
                  <c:v>100479</c:v>
                </c:pt>
                <c:pt idx="4">
                  <c:v>103102</c:v>
                </c:pt>
                <c:pt idx="5">
                  <c:v>103064</c:v>
                </c:pt>
                <c:pt idx="6">
                  <c:v>103900</c:v>
                </c:pt>
                <c:pt idx="7">
                  <c:v>101045</c:v>
                </c:pt>
                <c:pt idx="8">
                  <c:v>101139</c:v>
                </c:pt>
                <c:pt idx="9">
                  <c:v>101235</c:v>
                </c:pt>
                <c:pt idx="10">
                  <c:v>101330</c:v>
                </c:pt>
                <c:pt idx="11">
                  <c:v>101420</c:v>
                </c:pt>
                <c:pt idx="12">
                  <c:v>102724</c:v>
                </c:pt>
                <c:pt idx="13">
                  <c:v>104121</c:v>
                </c:pt>
                <c:pt idx="14">
                  <c:v>104953</c:v>
                </c:pt>
                <c:pt idx="15">
                  <c:v>104887</c:v>
                </c:pt>
                <c:pt idx="16">
                  <c:v>105836</c:v>
                </c:pt>
                <c:pt idx="17">
                  <c:v>104997</c:v>
                </c:pt>
                <c:pt idx="18">
                  <c:v>105010</c:v>
                </c:pt>
                <c:pt idx="19">
                  <c:v>105115</c:v>
                </c:pt>
                <c:pt idx="20">
                  <c:v>105223</c:v>
                </c:pt>
                <c:pt idx="21">
                  <c:v>105331</c:v>
                </c:pt>
                <c:pt idx="22">
                  <c:v>105438</c:v>
                </c:pt>
                <c:pt idx="23">
                  <c:v>105544</c:v>
                </c:pt>
                <c:pt idx="24">
                  <c:v>106338</c:v>
                </c:pt>
                <c:pt idx="25">
                  <c:v>108034</c:v>
                </c:pt>
                <c:pt idx="26">
                  <c:v>106712</c:v>
                </c:pt>
                <c:pt idx="27">
                  <c:v>106822</c:v>
                </c:pt>
                <c:pt idx="28">
                  <c:v>106934</c:v>
                </c:pt>
                <c:pt idx="29">
                  <c:v>107045</c:v>
                </c:pt>
                <c:pt idx="30">
                  <c:v>106246</c:v>
                </c:pt>
                <c:pt idx="31">
                  <c:v>104790</c:v>
                </c:pt>
                <c:pt idx="32">
                  <c:v>105598</c:v>
                </c:pt>
                <c:pt idx="33">
                  <c:v>105296</c:v>
                </c:pt>
                <c:pt idx="34">
                  <c:v>105407</c:v>
                </c:pt>
                <c:pt idx="35">
                  <c:v>105518</c:v>
                </c:pt>
                <c:pt idx="36">
                  <c:v>102630</c:v>
                </c:pt>
                <c:pt idx="37">
                  <c:v>101947</c:v>
                </c:pt>
                <c:pt idx="38">
                  <c:v>100991</c:v>
                </c:pt>
                <c:pt idx="39">
                  <c:v>103170</c:v>
                </c:pt>
                <c:pt idx="40">
                  <c:v>101450</c:v>
                </c:pt>
                <c:pt idx="41">
                  <c:v>98148</c:v>
                </c:pt>
                <c:pt idx="42">
                  <c:v>102480</c:v>
                </c:pt>
                <c:pt idx="43">
                  <c:v>103213</c:v>
                </c:pt>
                <c:pt idx="44">
                  <c:v>107112</c:v>
                </c:pt>
                <c:pt idx="45">
                  <c:v>108318</c:v>
                </c:pt>
                <c:pt idx="46">
                  <c:v>109222</c:v>
                </c:pt>
                <c:pt idx="47">
                  <c:v>109484</c:v>
                </c:pt>
                <c:pt idx="48">
                  <c:v>112109</c:v>
                </c:pt>
                <c:pt idx="49">
                  <c:v>113141</c:v>
                </c:pt>
                <c:pt idx="50">
                  <c:v>112902</c:v>
                </c:pt>
                <c:pt idx="51">
                  <c:v>113195</c:v>
                </c:pt>
                <c:pt idx="52">
                  <c:v>112816</c:v>
                </c:pt>
                <c:pt idx="53">
                  <c:v>115945</c:v>
                </c:pt>
                <c:pt idx="54">
                  <c:v>115345</c:v>
                </c:pt>
                <c:pt idx="55">
                  <c:v>118981</c:v>
                </c:pt>
                <c:pt idx="56">
                  <c:v>119093</c:v>
                </c:pt>
                <c:pt idx="57">
                  <c:v>121226</c:v>
                </c:pt>
                <c:pt idx="58">
                  <c:v>121365</c:v>
                </c:pt>
                <c:pt idx="59">
                  <c:v>122972</c:v>
                </c:pt>
                <c:pt idx="60">
                  <c:v>123006</c:v>
                </c:pt>
                <c:pt idx="61">
                  <c:v>123052</c:v>
                </c:pt>
                <c:pt idx="62">
                  <c:v>123180</c:v>
                </c:pt>
                <c:pt idx="63">
                  <c:v>123307</c:v>
                </c:pt>
                <c:pt idx="64">
                  <c:v>123435</c:v>
                </c:pt>
                <c:pt idx="65">
                  <c:v>118497</c:v>
                </c:pt>
                <c:pt idx="66">
                  <c:v>121632</c:v>
                </c:pt>
                <c:pt idx="67">
                  <c:v>121988</c:v>
                </c:pt>
                <c:pt idx="68">
                  <c:v>123512</c:v>
                </c:pt>
                <c:pt idx="69">
                  <c:v>125554</c:v>
                </c:pt>
                <c:pt idx="70">
                  <c:v>125551</c:v>
                </c:pt>
                <c:pt idx="71">
                  <c:v>125264</c:v>
                </c:pt>
                <c:pt idx="72">
                  <c:v>125394</c:v>
                </c:pt>
                <c:pt idx="73">
                  <c:v>125524</c:v>
                </c:pt>
                <c:pt idx="74">
                  <c:v>125655</c:v>
                </c:pt>
                <c:pt idx="75">
                  <c:v>125785</c:v>
                </c:pt>
                <c:pt idx="76">
                  <c:v>125915</c:v>
                </c:pt>
                <c:pt idx="77">
                  <c:v>126045</c:v>
                </c:pt>
                <c:pt idx="78">
                  <c:v>123254</c:v>
                </c:pt>
                <c:pt idx="79">
                  <c:v>124209</c:v>
                </c:pt>
                <c:pt idx="80">
                  <c:v>124334</c:v>
                </c:pt>
                <c:pt idx="81">
                  <c:v>124459</c:v>
                </c:pt>
                <c:pt idx="82">
                  <c:v>125668</c:v>
                </c:pt>
                <c:pt idx="83">
                  <c:v>125148</c:v>
                </c:pt>
                <c:pt idx="84">
                  <c:v>123200</c:v>
                </c:pt>
                <c:pt idx="85">
                  <c:v>121976</c:v>
                </c:pt>
                <c:pt idx="86">
                  <c:v>123844</c:v>
                </c:pt>
                <c:pt idx="87">
                  <c:v>124511</c:v>
                </c:pt>
                <c:pt idx="88">
                  <c:v>123536</c:v>
                </c:pt>
                <c:pt idx="89">
                  <c:v>125344</c:v>
                </c:pt>
                <c:pt idx="90">
                  <c:v>126698</c:v>
                </c:pt>
                <c:pt idx="91">
                  <c:v>126021</c:v>
                </c:pt>
                <c:pt idx="92">
                  <c:v>123715</c:v>
                </c:pt>
                <c:pt idx="93">
                  <c:v>129582</c:v>
                </c:pt>
                <c:pt idx="94">
                  <c:v>129091</c:v>
                </c:pt>
                <c:pt idx="95">
                  <c:v>127415</c:v>
                </c:pt>
                <c:pt idx="96">
                  <c:v>127526</c:v>
                </c:pt>
                <c:pt idx="97">
                  <c:v>127637</c:v>
                </c:pt>
                <c:pt idx="98">
                  <c:v>127745</c:v>
                </c:pt>
                <c:pt idx="99">
                  <c:v>127852</c:v>
                </c:pt>
                <c:pt idx="100">
                  <c:v>126843</c:v>
                </c:pt>
                <c:pt idx="101">
                  <c:v>126864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v2 weekly</c:v>
                </c:pt>
              </c:strCache>
            </c:strRef>
          </c:tx>
          <c:spPr>
            <a:solidFill>
              <a:srgbClr val="2F5D9E"/>
            </a:solidFill>
            <a:ln w="31750" cap="flat">
              <a:solidFill>
                <a:srgbClr val="2F5D9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4213D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F5D9E"/>
              </a:solidFill>
              <a:ln w="9525" cap="flat">
                <a:solidFill>
                  <a:srgbClr val="2F5D9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Sheet1!$A$2:$A$103</c:f>
              <c:multiLvlStrCache>
                <c:ptCount val="102"/>
                <c:lvl>
                  <c:pt idx="0">
                    <c:v>Jan 23</c:v>
                  </c:pt>
                  <c:pt idx="1">
                    <c:v>Jan 23</c:v>
                  </c:pt>
                  <c:pt idx="2">
                    <c:v>Jan 23</c:v>
                  </c:pt>
                  <c:pt idx="3">
                    <c:v>Jan 23</c:v>
                  </c:pt>
                  <c:pt idx="4">
                    <c:v>Feb 23</c:v>
                  </c:pt>
                  <c:pt idx="5">
                    <c:v>Feb 23</c:v>
                  </c:pt>
                  <c:pt idx="6">
                    <c:v>Feb 23</c:v>
                  </c:pt>
                  <c:pt idx="7">
                    <c:v>Feb 23</c:v>
                  </c:pt>
                  <c:pt idx="8">
                    <c:v>Mar 23</c:v>
                  </c:pt>
                  <c:pt idx="9">
                    <c:v>Mar 23</c:v>
                  </c:pt>
                  <c:pt idx="10">
                    <c:v>Mar 23</c:v>
                  </c:pt>
                  <c:pt idx="11">
                    <c:v>Mar 23</c:v>
                  </c:pt>
                  <c:pt idx="12">
                    <c:v>Mar 23</c:v>
                  </c:pt>
                  <c:pt idx="13">
                    <c:v>Apr 23</c:v>
                  </c:pt>
                  <c:pt idx="14">
                    <c:v>Apr 23</c:v>
                  </c:pt>
                  <c:pt idx="15">
                    <c:v>Apr 23</c:v>
                  </c:pt>
                  <c:pt idx="16">
                    <c:v>Apr 23</c:v>
                  </c:pt>
                  <c:pt idx="17">
                    <c:v>May 23</c:v>
                  </c:pt>
                  <c:pt idx="18">
                    <c:v>May 23</c:v>
                  </c:pt>
                  <c:pt idx="19">
                    <c:v>May 23</c:v>
                  </c:pt>
                  <c:pt idx="20">
                    <c:v>May 23</c:v>
                  </c:pt>
                  <c:pt idx="21">
                    <c:v>Jun 23</c:v>
                  </c:pt>
                  <c:pt idx="22">
                    <c:v>Jun 23</c:v>
                  </c:pt>
                  <c:pt idx="23">
                    <c:v>Jun 23</c:v>
                  </c:pt>
                  <c:pt idx="24">
                    <c:v>Jun 23</c:v>
                  </c:pt>
                  <c:pt idx="25">
                    <c:v>Jul 23</c:v>
                  </c:pt>
                  <c:pt idx="26">
                    <c:v>Jul 23</c:v>
                  </c:pt>
                  <c:pt idx="27">
                    <c:v>Jul 23</c:v>
                  </c:pt>
                  <c:pt idx="28">
                    <c:v>Jul 23</c:v>
                  </c:pt>
                  <c:pt idx="29">
                    <c:v>Aug 23</c:v>
                  </c:pt>
                  <c:pt idx="30">
                    <c:v>Aug 23</c:v>
                  </c:pt>
                  <c:pt idx="31">
                    <c:v>Aug 23</c:v>
                  </c:pt>
                  <c:pt idx="32">
                    <c:v>Aug 23</c:v>
                  </c:pt>
                  <c:pt idx="33">
                    <c:v>Aug 23</c:v>
                  </c:pt>
                  <c:pt idx="34">
                    <c:v>Sep 23</c:v>
                  </c:pt>
                  <c:pt idx="35">
                    <c:v>Sep 23</c:v>
                  </c:pt>
                  <c:pt idx="36">
                    <c:v>Sep 23</c:v>
                  </c:pt>
                  <c:pt idx="37">
                    <c:v>Sep 23</c:v>
                  </c:pt>
                  <c:pt idx="38">
                    <c:v>Oct 23</c:v>
                  </c:pt>
                  <c:pt idx="39">
                    <c:v>Oct 23</c:v>
                  </c:pt>
                  <c:pt idx="40">
                    <c:v>Oct 23</c:v>
                  </c:pt>
                  <c:pt idx="41">
                    <c:v>Oct 23</c:v>
                  </c:pt>
                  <c:pt idx="42">
                    <c:v>Nov 23</c:v>
                  </c:pt>
                  <c:pt idx="43">
                    <c:v>Nov 23</c:v>
                  </c:pt>
                  <c:pt idx="44">
                    <c:v>Nov 23</c:v>
                  </c:pt>
                  <c:pt idx="45">
                    <c:v>Nov 23</c:v>
                  </c:pt>
                  <c:pt idx="46">
                    <c:v>Dec 23</c:v>
                  </c:pt>
                  <c:pt idx="47">
                    <c:v>Dec 23</c:v>
                  </c:pt>
                  <c:pt idx="48">
                    <c:v>Dec 23</c:v>
                  </c:pt>
                  <c:pt idx="49">
                    <c:v>Dec 23</c:v>
                  </c:pt>
                  <c:pt idx="50">
                    <c:v>Jan 24</c:v>
                  </c:pt>
                  <c:pt idx="51">
                    <c:v>Jan 24</c:v>
                  </c:pt>
                  <c:pt idx="52">
                    <c:v>Jan 24</c:v>
                  </c:pt>
                  <c:pt idx="53">
                    <c:v>Jan 24</c:v>
                  </c:pt>
                  <c:pt idx="54">
                    <c:v>Jan 24</c:v>
                  </c:pt>
                  <c:pt idx="55">
                    <c:v>Feb 24</c:v>
                  </c:pt>
                  <c:pt idx="56">
                    <c:v>Feb 24</c:v>
                  </c:pt>
                  <c:pt idx="57">
                    <c:v>Feb 24</c:v>
                  </c:pt>
                  <c:pt idx="58">
                    <c:v>Feb 24</c:v>
                  </c:pt>
                  <c:pt idx="59">
                    <c:v>Mar 24</c:v>
                  </c:pt>
                  <c:pt idx="60">
                    <c:v>Mar 24</c:v>
                  </c:pt>
                  <c:pt idx="61">
                    <c:v>Mar 24</c:v>
                  </c:pt>
                  <c:pt idx="62">
                    <c:v>Mar 24</c:v>
                  </c:pt>
                  <c:pt idx="63">
                    <c:v>Apr 24</c:v>
                  </c:pt>
                  <c:pt idx="64">
                    <c:v>Apr 24</c:v>
                  </c:pt>
                  <c:pt idx="65">
                    <c:v>Apr 24</c:v>
                  </c:pt>
                  <c:pt idx="66">
                    <c:v>Apr 24</c:v>
                  </c:pt>
                  <c:pt idx="67">
                    <c:v>May 24</c:v>
                  </c:pt>
                  <c:pt idx="68">
                    <c:v>May 24</c:v>
                  </c:pt>
                  <c:pt idx="69">
                    <c:v>May 24</c:v>
                  </c:pt>
                  <c:pt idx="70">
                    <c:v>May 24</c:v>
                  </c:pt>
                  <c:pt idx="71">
                    <c:v>Jun 24</c:v>
                  </c:pt>
                  <c:pt idx="72">
                    <c:v>Jun 24</c:v>
                  </c:pt>
                  <c:pt idx="73">
                    <c:v>Jun 24</c:v>
                  </c:pt>
                  <c:pt idx="74">
                    <c:v>Jun 24</c:v>
                  </c:pt>
                  <c:pt idx="75">
                    <c:v>Jul 24</c:v>
                  </c:pt>
                  <c:pt idx="76">
                    <c:v>Jul 24</c:v>
                  </c:pt>
                  <c:pt idx="77">
                    <c:v>Jul 24</c:v>
                  </c:pt>
                  <c:pt idx="78">
                    <c:v>Jul 24</c:v>
                  </c:pt>
                  <c:pt idx="79">
                    <c:v>Jul 24</c:v>
                  </c:pt>
                  <c:pt idx="80">
                    <c:v>Aug 24</c:v>
                  </c:pt>
                  <c:pt idx="81">
                    <c:v>Aug 24</c:v>
                  </c:pt>
                  <c:pt idx="82">
                    <c:v>Aug 24</c:v>
                  </c:pt>
                  <c:pt idx="83">
                    <c:v>Aug 24</c:v>
                  </c:pt>
                  <c:pt idx="84">
                    <c:v>Sep 24</c:v>
                  </c:pt>
                  <c:pt idx="85">
                    <c:v>Sep 24</c:v>
                  </c:pt>
                  <c:pt idx="86">
                    <c:v>Sep 24</c:v>
                  </c:pt>
                  <c:pt idx="87">
                    <c:v>Sep 24</c:v>
                  </c:pt>
                  <c:pt idx="88">
                    <c:v>Oct 24</c:v>
                  </c:pt>
                  <c:pt idx="89">
                    <c:v>Oct 24</c:v>
                  </c:pt>
                  <c:pt idx="90">
                    <c:v>Oct 24</c:v>
                  </c:pt>
                  <c:pt idx="91">
                    <c:v>Oct 24</c:v>
                  </c:pt>
                  <c:pt idx="92">
                    <c:v>Oct 24</c:v>
                  </c:pt>
                  <c:pt idx="93">
                    <c:v>Nov 24</c:v>
                  </c:pt>
                  <c:pt idx="94">
                    <c:v>Nov 24</c:v>
                  </c:pt>
                  <c:pt idx="95">
                    <c:v>Nov 24</c:v>
                  </c:pt>
                  <c:pt idx="96">
                    <c:v>Nov 24</c:v>
                  </c:pt>
                  <c:pt idx="97">
                    <c:v>Dec 24</c:v>
                  </c:pt>
                  <c:pt idx="98">
                    <c:v>Dec 24</c:v>
                  </c:pt>
                  <c:pt idx="99">
                    <c:v>Dec 24</c:v>
                  </c:pt>
                  <c:pt idx="100">
                    <c:v>Dec 24</c:v>
                  </c:pt>
                  <c:pt idx="101">
                    <c:v>Dec 24</c:v>
                  </c:pt>
                </c:lvl>
              </c:multiLvlStrCache>
            </c:multiLvlStrRef>
          </c:cat>
          <c:val>
            <c:numRef>
              <c:f>Sheet1!$D$2:$D$103</c:f>
              <c:numCache>
                <c:formatCode>General</c:formatCode>
                <c:ptCount val="102"/>
                <c:pt idx="0">
                  <c:v>100000</c:v>
                </c:pt>
                <c:pt idx="1">
                  <c:v>100088</c:v>
                </c:pt>
                <c:pt idx="2">
                  <c:v>100178</c:v>
                </c:pt>
                <c:pt idx="3">
                  <c:v>100268</c:v>
                </c:pt>
                <c:pt idx="4">
                  <c:v>100358</c:v>
                </c:pt>
                <c:pt idx="5">
                  <c:v>100449</c:v>
                </c:pt>
                <c:pt idx="6">
                  <c:v>100541</c:v>
                </c:pt>
                <c:pt idx="7">
                  <c:v>100634</c:v>
                </c:pt>
                <c:pt idx="8">
                  <c:v>100728</c:v>
                </c:pt>
                <c:pt idx="9">
                  <c:v>100824</c:v>
                </c:pt>
                <c:pt idx="10">
                  <c:v>100918</c:v>
                </c:pt>
                <c:pt idx="11">
                  <c:v>101008</c:v>
                </c:pt>
                <c:pt idx="12">
                  <c:v>101099</c:v>
                </c:pt>
                <c:pt idx="13">
                  <c:v>101193</c:v>
                </c:pt>
                <c:pt idx="14">
                  <c:v>101290</c:v>
                </c:pt>
                <c:pt idx="15">
                  <c:v>101389</c:v>
                </c:pt>
                <c:pt idx="16">
                  <c:v>101489</c:v>
                </c:pt>
                <c:pt idx="17">
                  <c:v>101590</c:v>
                </c:pt>
                <c:pt idx="18">
                  <c:v>101692</c:v>
                </c:pt>
                <c:pt idx="19">
                  <c:v>101794</c:v>
                </c:pt>
                <c:pt idx="20">
                  <c:v>101898</c:v>
                </c:pt>
                <c:pt idx="21">
                  <c:v>102003</c:v>
                </c:pt>
                <c:pt idx="22">
                  <c:v>102107</c:v>
                </c:pt>
                <c:pt idx="23">
                  <c:v>102210</c:v>
                </c:pt>
                <c:pt idx="24">
                  <c:v>102314</c:v>
                </c:pt>
                <c:pt idx="25">
                  <c:v>102418</c:v>
                </c:pt>
                <c:pt idx="26">
                  <c:v>102525</c:v>
                </c:pt>
                <c:pt idx="27">
                  <c:v>102631</c:v>
                </c:pt>
                <c:pt idx="28">
                  <c:v>102738</c:v>
                </c:pt>
                <c:pt idx="29">
                  <c:v>102845</c:v>
                </c:pt>
                <c:pt idx="30">
                  <c:v>102953</c:v>
                </c:pt>
                <c:pt idx="31">
                  <c:v>103060</c:v>
                </c:pt>
                <c:pt idx="32">
                  <c:v>103168</c:v>
                </c:pt>
                <c:pt idx="33">
                  <c:v>103277</c:v>
                </c:pt>
                <c:pt idx="34">
                  <c:v>103386</c:v>
                </c:pt>
                <c:pt idx="35">
                  <c:v>103494</c:v>
                </c:pt>
                <c:pt idx="36">
                  <c:v>103603</c:v>
                </c:pt>
                <c:pt idx="37">
                  <c:v>103713</c:v>
                </c:pt>
                <c:pt idx="38">
                  <c:v>103822</c:v>
                </c:pt>
                <c:pt idx="39">
                  <c:v>103932</c:v>
                </c:pt>
                <c:pt idx="40">
                  <c:v>104042</c:v>
                </c:pt>
                <c:pt idx="41">
                  <c:v>104152</c:v>
                </c:pt>
                <c:pt idx="42">
                  <c:v>104261</c:v>
                </c:pt>
                <c:pt idx="43">
                  <c:v>104370</c:v>
                </c:pt>
                <c:pt idx="44">
                  <c:v>104479</c:v>
                </c:pt>
                <c:pt idx="45">
                  <c:v>104588</c:v>
                </c:pt>
                <c:pt idx="46">
                  <c:v>104697</c:v>
                </c:pt>
                <c:pt idx="47">
                  <c:v>104806</c:v>
                </c:pt>
                <c:pt idx="48">
                  <c:v>104915</c:v>
                </c:pt>
                <c:pt idx="49">
                  <c:v>105023</c:v>
                </c:pt>
                <c:pt idx="50">
                  <c:v>105132</c:v>
                </c:pt>
                <c:pt idx="51">
                  <c:v>105241</c:v>
                </c:pt>
                <c:pt idx="52">
                  <c:v>105350</c:v>
                </c:pt>
                <c:pt idx="53">
                  <c:v>105459</c:v>
                </c:pt>
                <c:pt idx="54">
                  <c:v>105568</c:v>
                </c:pt>
                <c:pt idx="55">
                  <c:v>105677</c:v>
                </c:pt>
                <c:pt idx="56">
                  <c:v>105786</c:v>
                </c:pt>
                <c:pt idx="57">
                  <c:v>105896</c:v>
                </c:pt>
                <c:pt idx="58">
                  <c:v>106006</c:v>
                </c:pt>
                <c:pt idx="59">
                  <c:v>106116</c:v>
                </c:pt>
                <c:pt idx="60">
                  <c:v>106226</c:v>
                </c:pt>
                <c:pt idx="61">
                  <c:v>106337</c:v>
                </c:pt>
                <c:pt idx="62">
                  <c:v>106447</c:v>
                </c:pt>
                <c:pt idx="63">
                  <c:v>106557</c:v>
                </c:pt>
                <c:pt idx="64">
                  <c:v>106668</c:v>
                </c:pt>
                <c:pt idx="65">
                  <c:v>106778</c:v>
                </c:pt>
                <c:pt idx="66">
                  <c:v>106890</c:v>
                </c:pt>
                <c:pt idx="67">
                  <c:v>107001</c:v>
                </c:pt>
                <c:pt idx="68">
                  <c:v>107112</c:v>
                </c:pt>
                <c:pt idx="69">
                  <c:v>107224</c:v>
                </c:pt>
                <c:pt idx="70">
                  <c:v>107335</c:v>
                </c:pt>
                <c:pt idx="71">
                  <c:v>107447</c:v>
                </c:pt>
                <c:pt idx="72">
                  <c:v>107559</c:v>
                </c:pt>
                <c:pt idx="73">
                  <c:v>107671</c:v>
                </c:pt>
                <c:pt idx="74">
                  <c:v>107782</c:v>
                </c:pt>
                <c:pt idx="75">
                  <c:v>107894</c:v>
                </c:pt>
                <c:pt idx="76">
                  <c:v>108006</c:v>
                </c:pt>
                <c:pt idx="77">
                  <c:v>108117</c:v>
                </c:pt>
                <c:pt idx="78">
                  <c:v>108229</c:v>
                </c:pt>
                <c:pt idx="79">
                  <c:v>108339</c:v>
                </c:pt>
                <c:pt idx="80">
                  <c:v>108449</c:v>
                </c:pt>
                <c:pt idx="81">
                  <c:v>108558</c:v>
                </c:pt>
                <c:pt idx="82">
                  <c:v>108667</c:v>
                </c:pt>
                <c:pt idx="83">
                  <c:v>108775</c:v>
                </c:pt>
                <c:pt idx="84">
                  <c:v>108882</c:v>
                </c:pt>
                <c:pt idx="85">
                  <c:v>108988</c:v>
                </c:pt>
                <c:pt idx="86">
                  <c:v>109090</c:v>
                </c:pt>
                <c:pt idx="87">
                  <c:v>109188</c:v>
                </c:pt>
                <c:pt idx="88">
                  <c:v>109285</c:v>
                </c:pt>
                <c:pt idx="89">
                  <c:v>109383</c:v>
                </c:pt>
                <c:pt idx="90">
                  <c:v>109481</c:v>
                </c:pt>
                <c:pt idx="91">
                  <c:v>109579</c:v>
                </c:pt>
                <c:pt idx="92">
                  <c:v>109677</c:v>
                </c:pt>
                <c:pt idx="93">
                  <c:v>109773</c:v>
                </c:pt>
                <c:pt idx="94">
                  <c:v>109869</c:v>
                </c:pt>
                <c:pt idx="95">
                  <c:v>109965</c:v>
                </c:pt>
                <c:pt idx="96">
                  <c:v>110061</c:v>
                </c:pt>
                <c:pt idx="97">
                  <c:v>110156</c:v>
                </c:pt>
                <c:pt idx="98">
                  <c:v>110250</c:v>
                </c:pt>
                <c:pt idx="99">
                  <c:v>110342</c:v>
                </c:pt>
                <c:pt idx="100">
                  <c:v>110434</c:v>
                </c:pt>
                <c:pt idx="101">
                  <c:v>110453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4213D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B4A6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3"/>
      </c:catAx>
      <c:valAx>
        <c:axId val="2094734552"/>
        <c:scaling>
          <c:orientation val="minMax"/>
          <c:max val="170000"/>
          <c:min val="90000"/>
        </c:scaling>
        <c:delete val="0"/>
        <c:axPos val="l"/>
        <c:majorGridlines>
          <c:spPr>
            <a:ln w="9525" cap="flat">
              <a:solidFill>
                <a:srgbClr val="E3E7EE"/>
              </a:solidFill>
              <a:prstDash val="solid"/>
              <a:round/>
            </a:ln>
          </c:spPr>
        </c:majorGridlines>
        <c:numFmt formatCode="$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B4A63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000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solidFill>
                <a:srgbClr val="3B4A63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4213D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4213D"/>
                </a:solidFill>
                <a:latin typeface="+mn-lt"/>
              </a:rPr>
              <a:t>Average predicted probability of a Sell week (walk-forward, 2013–22)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Average predicted P(Sell)</c:v>
                </c:pt>
              </c:strCache>
            </c:strRef>
          </c:tx>
          <c:spPr>
            <a:solidFill>
              <a:srgbClr val="8A96A8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4213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A96A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8571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8571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9A46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4213D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Class weights (v2)</c:v>
                  </c:pt>
                  <c:pt idx="1">
                    <c:v>No weights</c:v>
                  </c:pt>
                  <c:pt idx="2">
                    <c:v>Weights + prior correction</c:v>
                  </c:pt>
                  <c:pt idx="3">
                    <c:v>Sigmoid calibration</c:v>
                  </c:pt>
                  <c:pt idx="4">
                    <c:v>Actual share of Sell weeks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30.5</c:v>
                </c:pt>
                <c:pt idx="1">
                  <c:v>21.7</c:v>
                </c:pt>
                <c:pt idx="2">
                  <c:v>21.6</c:v>
                </c:pt>
                <c:pt idx="3">
                  <c:v>24.1</c:v>
                </c:pt>
                <c:pt idx="4">
                  <c:v>20.7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14213D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B4A6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B4A63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28800"/>
            <a:ext cx="10789920" cy="21945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4206240"/>
            <a:ext cx="1005840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SPY weekly Buy / Hold / Sell model · Module 3 Group 7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2801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4"/>
                </a:solidFill>
              </a:rPr>
              <a:t>MODULE 3 · MACHINE LEARNING PROJECT · GROUP 7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828800"/>
            <a:ext cx="10789920" cy="21945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4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Predicting weekly Buy / Hold / Sell decisions for SPY</a:t>
            </a:r>
            <a:endParaRPr lang="en-US" sz="46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4206240"/>
            <a:ext cx="1005840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A machine-learning trading strategy, tested against buy-and-hold</a:t>
            </a:r>
            <a:endParaRPr lang="en-US" sz="2000" dirty="0"/>
          </a:p>
          <a:p>
            <a:pPr indent="0" marL="0">
              <a:buNone/>
            </a:pPr>
            <a:r>
              <a:rPr lang="en-US" sz="1600" dirty="0">
                <a:solidFill>
                  <a:schemeClr val="accent3"/>
                </a:solidFill>
              </a:rPr>
              <a:t>[Presenter names] · [Date]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Objective and deliverables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Objective. </a:t>
            </a:r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Predict the best action for SPY (the S&amp;P 500 ETF) over the next 5 trading days — Buy, Hold or Sell — and test whether trading on it beats buying and holding, after costs. The emphasis is on sound validation, not profit.</a:t>
            </a:r>
            <a:endParaRPr lang="en-US" sz="16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33172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566160"/>
                <a:gridCol w="5148072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Deliverable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Where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Content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Exploratory analysis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notebooks/01_eda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Feature distributions, indicator correlations, class balance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Modelling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notebooks/02_modeling, weekly_v1–v3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Lagged features, time-ordered splits, tuning, model selection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Backtest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notebooks/03_backtest, scorecard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Costs, comparison with buy-and-hold, risk metrics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Lessons learned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outputs/SUMMARY.md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Why the strategies underperformed; limits of prediction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0749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3"/>
                </a:solidFill>
              </a:rPr>
              <a:t>Code, data snapshots and 51 automated tests: github.com/TKCH121/spy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Approach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1627632" cy="2468880"/>
          </a:xfrm>
          <a:prstGeom prst="roundRect">
            <a:avLst>
              <a:gd name="adj" fmla="val 561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11704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48840"/>
            <a:ext cx="117043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SPY daily prices and volume, 2005–2026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199406" y="2560320"/>
            <a:ext cx="219456" cy="256032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441997" y="1463040"/>
            <a:ext cx="1627632" cy="2468880"/>
          </a:xfrm>
          <a:prstGeom prst="roundRect">
            <a:avLst>
              <a:gd name="adj" fmla="val 561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670597" y="1645920"/>
            <a:ext cx="11704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Features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2670597" y="2148840"/>
            <a:ext cx="117043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15 indicators, each using data up to the decision date only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092763" y="2560320"/>
            <a:ext cx="219456" cy="256032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335353" y="1463040"/>
            <a:ext cx="1627632" cy="2468880"/>
          </a:xfrm>
          <a:prstGeom prst="roundRect">
            <a:avLst>
              <a:gd name="adj" fmla="val 561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63953" y="1645920"/>
            <a:ext cx="11704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Target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563953" y="2148840"/>
            <a:ext cx="117043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Buy &gt; +1%, Sell &lt; −1%, else Hold, over the next 5 trading days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986120" y="2560320"/>
            <a:ext cx="219456" cy="256032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28710" y="1463040"/>
            <a:ext cx="1627632" cy="2468880"/>
          </a:xfrm>
          <a:prstGeom prst="roundRect">
            <a:avLst>
              <a:gd name="adj" fmla="val 561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57310" y="1645920"/>
            <a:ext cx="11704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57310" y="2148840"/>
            <a:ext cx="117043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Classifier tuned with time-series cross-validation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7879476" y="2560320"/>
            <a:ext cx="219456" cy="256032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122067" y="1463040"/>
            <a:ext cx="1627632" cy="2468880"/>
          </a:xfrm>
          <a:prstGeom prst="roundRect">
            <a:avLst>
              <a:gd name="adj" fmla="val 561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350667" y="1645920"/>
            <a:ext cx="11704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Decision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8350667" y="2148840"/>
            <a:ext cx="117043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Weekly: after Friday’s close; trade at Monday’s open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9772833" y="2560320"/>
            <a:ext cx="219456" cy="256032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015423" y="1463040"/>
            <a:ext cx="1627632" cy="2468880"/>
          </a:xfrm>
          <a:prstGeom prst="roundRect">
            <a:avLst>
              <a:gd name="adj" fmla="val 561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0244023" y="1645920"/>
            <a:ext cx="11704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Backtest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10244023" y="2148840"/>
            <a:ext cx="117043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0.15% cost per trade, cash earns T-bills, vs buy-and-hold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42976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Positions: </a:t>
            </a:r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Buy → fully invested for the week · Sell → in cash for the week · Hold → keep the current position. Training uses every trading day’s 5-day outcome; decisions are made once a week.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EDA: size is predictable, direction is not</a:t>
            </a:r>
            <a:endParaRPr lang="en-US" sz="30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280160"/>
          <a:ext cx="539496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Chart 1" descr=""/>
          <p:cNvGraphicFramePr/>
          <p:nvPr/>
        </p:nvGraphicFramePr>
        <p:xfrm>
          <a:off x="6126480" y="1280160"/>
          <a:ext cx="5513832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Shape 1"/>
          <p:cNvSpPr/>
          <p:nvPr/>
        </p:nvSpPr>
        <p:spPr>
          <a:xfrm>
            <a:off x="548640" y="4526280"/>
            <a:ext cx="3593592" cy="1417320"/>
          </a:xfrm>
          <a:prstGeom prst="roundRect">
            <a:avLst>
              <a:gd name="adj" fmla="val 6452"/>
            </a:avLst>
          </a:prstGeom>
          <a:solidFill>
            <a:srgbClr val="FBEDE4"/>
          </a:solidFill>
          <a:ln w="12700">
            <a:solidFill>
              <a:srgbClr val="FBEDE4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777240" y="4709160"/>
            <a:ext cx="31363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Direction has no memory</a:t>
            </a:r>
            <a:endParaRPr lang="en-US" sz="1500" dirty="0"/>
          </a:p>
        </p:txBody>
      </p:sp>
      <p:sp>
        <p:nvSpPr>
          <p:cNvPr id="7" name="Text 3"/>
          <p:cNvSpPr txBox="1"/>
          <p:nvPr/>
        </p:nvSpPr>
        <p:spPr>
          <a:xfrm>
            <a:off x="777240" y="5212080"/>
            <a:ext cx="31363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Today’s return barely predicts the next days’: correlations -0.10 to +0.05.</a:t>
            </a:r>
            <a:endParaRPr lang="en-US" sz="1300" dirty="0"/>
          </a:p>
        </p:txBody>
      </p:sp>
      <p:sp>
        <p:nvSpPr>
          <p:cNvPr id="8" name="Shape 4"/>
          <p:cNvSpPr/>
          <p:nvPr/>
        </p:nvSpPr>
        <p:spPr>
          <a:xfrm>
            <a:off x="4297680" y="4526280"/>
            <a:ext cx="3593592" cy="1417320"/>
          </a:xfrm>
          <a:prstGeom prst="roundRect">
            <a:avLst>
              <a:gd name="adj" fmla="val 645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4526280" y="4709160"/>
            <a:ext cx="31363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Size has memory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4526280" y="5212080"/>
            <a:ext cx="31363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Large moves cluster: correlation 0.32–0.42 with the next days’ size.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8046720" y="4526280"/>
            <a:ext cx="3593592" cy="1417320"/>
          </a:xfrm>
          <a:prstGeom prst="roundRect">
            <a:avLst>
              <a:gd name="adj" fmla="val 645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275320" y="4709160"/>
            <a:ext cx="31363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Extreme days are common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8275320" y="5212080"/>
            <a:ext cx="31363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80 days beyond 3 standard deviations vs about 14 if returns were normal.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EDA: the class mix shifts year to year</a:t>
            </a:r>
            <a:endParaRPr lang="en-US" sz="30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280160"/>
          <a:ext cx="75895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hape 1"/>
          <p:cNvSpPr/>
          <p:nvPr/>
        </p:nvSpPr>
        <p:spPr>
          <a:xfrm>
            <a:off x="8321040" y="1371600"/>
            <a:ext cx="3319272" cy="2103120"/>
          </a:xfrm>
          <a:prstGeom prst="roundRect">
            <a:avLst>
              <a:gd name="adj" fmla="val 43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549640" y="1554480"/>
            <a:ext cx="28620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Imbalanced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8549640" y="2057400"/>
            <a:ext cx="28620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Sell is the minority class in almost every year, about one week in five on average.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8321040" y="3657600"/>
            <a:ext cx="3319272" cy="2194560"/>
          </a:xfrm>
          <a:prstGeom prst="roundRect">
            <a:avLst>
              <a:gd name="adj" fmla="val 4167"/>
            </a:avLst>
          </a:prstGeom>
          <a:solidFill>
            <a:srgbClr val="FBEDE4"/>
          </a:solidFill>
          <a:ln w="12700">
            <a:solidFill>
              <a:srgbClr val="FBEDE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549640" y="3840480"/>
            <a:ext cx="28620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Unstable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8549640" y="4343400"/>
            <a:ext cx="28620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Sell weeks were 5% of 2017 and 41% of 2022. A model trained on one period meets a different mix in the next.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Features and target</a:t>
            </a:r>
            <a:endParaRPr lang="en-US" sz="3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585216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6576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Feature group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Indicators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Momentum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1, 5, 10, 20-day returns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Trend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Price vs 20/50/200-day averages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Overbought / oversold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RSI-14, MACD histogram, Bollinger %B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Volatility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20-day volatility, ATR, band width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Activity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Volume relative to its 20-day norm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6766560" y="137160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Class mix, training data 2010–2020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6766560" y="1828800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Sell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7498080" y="1874520"/>
            <a:ext cx="1641856" cy="320040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231376" y="1828800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20%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766560" y="2395728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Hold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7498080" y="2441448"/>
            <a:ext cx="3641344" cy="320040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1230864" y="2395728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45%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6766560" y="2962656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Buy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7498080" y="3008376"/>
            <a:ext cx="2844800" cy="32004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434320" y="2962656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35%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6766560" y="3657600"/>
            <a:ext cx="4873752" cy="2103120"/>
          </a:xfrm>
          <a:prstGeom prst="roundRect">
            <a:avLst>
              <a:gd name="adj" fmla="val 43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995160" y="3840480"/>
            <a:ext cx="4416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 imbalance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6995160" y="4343400"/>
            <a:ext cx="441655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Sell weeks are the minority. Class weights were used (SMOTE and no weighting were tested and scored lower). This improves recall of the minority class but inflates its predicted probability — see slide 14.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43434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3"/>
                </a:solidFill>
              </a:rPr>
              <a:t>All features are strictly lagged; tests confirm that changing future prices never changes a past feature.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Validation design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001792" cy="68580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417320"/>
            <a:ext cx="79103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Train 2010–2020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641872" y="1417320"/>
            <a:ext cx="1454871" cy="685800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7592" y="1417320"/>
            <a:ext cx="136343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Validation 2021–22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0188184" y="1417320"/>
            <a:ext cx="1454871" cy="68580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233904" y="1417320"/>
            <a:ext cx="136343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Test 2023–24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219456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3"/>
                </a:solidFill>
              </a:rPr>
              <a:t>Chronological, never shuffled; a buffer of 5–6 trading days at each boundary so no 5-day label overlaps the next period.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2743200"/>
            <a:ext cx="5468112" cy="146304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2926080"/>
            <a:ext cx="50109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Selection on validation only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3429000"/>
            <a:ext cx="5010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Model and trading rule chosen on 2021–22 by rules fixed in advance; the test period is scored once, after freezing.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172200" y="2743200"/>
            <a:ext cx="5468112" cy="146304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800" y="2926080"/>
            <a:ext cx="50109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Out-of-sample checks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0" y="3429000"/>
            <a:ext cx="5010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12-year walk-forward (yearly refits, 2013–2024) and a 2025–26 holdout.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4343400"/>
            <a:ext cx="5468112" cy="146304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7240" y="4526280"/>
            <a:ext cx="50109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Leakage tests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777240" y="5029200"/>
            <a:ext cx="5010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51 automated tests: features, labels, splits and every refit are checked for use of future data.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172200" y="4343400"/>
            <a:ext cx="5468112" cy="146304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00800" y="4526280"/>
            <a:ext cx="50109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Pre-registered changes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6400800" y="5029200"/>
            <a:ext cx="5010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Each redesign was written down — and fingerprinted (SHA-256) — before it was run.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iterations</a:t>
            </a:r>
            <a:endParaRPr lang="en-US" sz="3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4415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572000"/>
                <a:gridCol w="3291840"/>
                <a:gridCol w="2587752"/>
              </a:tblGrid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Change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Reason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Selected (weekly)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v1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Random forest; act on Buy vs Sell probabilities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Baseline design from the brief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Random forest, most-likely class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v2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Expected-return rule over all three probabilities, net of the 0.30% round-trip cost; model and rule chosen together on validation return; cash earns T-bills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v1’s rule ignored the Hold probability, where the model’s skill lies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Logistic regression, default to cash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v3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Correct (calibrate) the probabilities before the rule uses them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Class weighting inflated the Sell probability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Calibrated logistic regression, default invested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34924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3"/>
                </a:solidFill>
              </a:rPr>
              <a:t>v1 was built by Peter Li with daily decisions; all three versions were rebuilt with weekly decisions under a plan fixed before the rebuild.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Classification performance</a:t>
            </a:r>
            <a:endParaRPr lang="en-US" sz="30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280160"/>
          <a:ext cx="566928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92240" y="1371600"/>
          <a:ext cx="5148072" cy="914400"/>
        </p:xfrm>
        <a:graphic>
          <a:graphicData uri="http://schemas.openxmlformats.org/drawingml/2006/table">
            <a:tbl>
              <a:tblPr/>
              <a:tblGrid>
                <a:gridCol w="2404872"/>
                <a:gridCol w="1371600"/>
                <a:gridCol w="137160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Test 2023–24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Accuracy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Macro-F1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v1 · random forest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44.9%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0.41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v2 · logistic regression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45.4%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0.40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v3 · calibrated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48.2%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0.34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Random baseline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≈ 33%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0.31–0.32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1"/>
          <p:cNvSpPr/>
          <p:nvPr/>
        </p:nvSpPr>
        <p:spPr>
          <a:xfrm>
            <a:off x="6492240" y="3749040"/>
            <a:ext cx="5148072" cy="2011680"/>
          </a:xfrm>
          <a:prstGeom prst="roundRect">
            <a:avLst>
              <a:gd name="adj" fmla="val 454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6720840" y="3931920"/>
            <a:ext cx="46908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Skill is in the size of the move</a:t>
            </a:r>
            <a:endParaRPr lang="en-US" sz="1700" dirty="0"/>
          </a:p>
        </p:txBody>
      </p:sp>
      <p:sp>
        <p:nvSpPr>
          <p:cNvPr id="7" name="Text 3"/>
          <p:cNvSpPr txBox="1"/>
          <p:nvPr/>
        </p:nvSpPr>
        <p:spPr>
          <a:xfrm>
            <a:off x="6720840" y="4434840"/>
            <a:ext cx="46908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The models recognise quiet weeks well but confuse up and down weeks. v3 has the highest accuracy but the lowest macro-F1, as calibrated probabilities mostly predict Hold.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Result: buy-and-hold outperformed every version</a:t>
            </a:r>
            <a:endParaRPr lang="en-US" sz="30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280160"/>
          <a:ext cx="768096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8503920" y="1417320"/>
            <a:ext cx="31363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$156,546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8503920" y="1984248"/>
            <a:ext cx="3136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Buy &amp; Hold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503920" y="2496312"/>
            <a:ext cx="31363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$126,864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3063240"/>
            <a:ext cx="3136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v1 weekly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503920" y="3575304"/>
            <a:ext cx="31363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$110,453</a:t>
            </a:r>
            <a:endParaRPr lang="en-US" sz="2800" dirty="0"/>
          </a:p>
        </p:txBody>
      </p:sp>
      <p:sp>
        <p:nvSpPr>
          <p:cNvPr id="9" name="Text 6"/>
          <p:cNvSpPr txBox="1"/>
          <p:nvPr/>
        </p:nvSpPr>
        <p:spPr>
          <a:xfrm>
            <a:off x="8503920" y="4142232"/>
            <a:ext cx="3136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v2 weekly — stayed in cash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8503920" y="4654296"/>
            <a:ext cx="31363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$156,546</a:t>
            </a:r>
            <a:endParaRPr lang="en-US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8503920" y="5221224"/>
            <a:ext cx="3136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v3 weekly — never sold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Return and risk, 2023–24</a:t>
            </a:r>
            <a:endParaRPr lang="en-US" sz="3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4415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463040"/>
                <a:gridCol w="1463040"/>
                <a:gridCol w="1280160"/>
                <a:gridCol w="1463040"/>
                <a:gridCol w="1097280"/>
                <a:gridCol w="1005840"/>
                <a:gridCol w="1307592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Strategy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Final value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Annual return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Volatility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Max drawdown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Sharpe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Trades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Time invested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Buy &amp; Hold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$156,546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25.2%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12.8%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-10.0%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1.43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1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100%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v1 weekly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$126,864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12.7%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9.8%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-9.7%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0.76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11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60%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v2 weekly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$110,453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5.1%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0.0%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0.0%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0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0%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v3 weekly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$156,546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25.2%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12.8%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-10.0%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1.43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1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100%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38862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3"/>
                </a:solidFill>
              </a:rPr>
              <a:t>$100,000; 0.10% fee + 0.05% slippage per side; cash earns the 13-week T-bill rate; Sharpe measured above the T-bill rate.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4343400"/>
            <a:ext cx="3593592" cy="1508760"/>
          </a:xfrm>
          <a:prstGeom prst="roundRect">
            <a:avLst>
              <a:gd name="adj" fmla="val 60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4526280"/>
            <a:ext cx="3136392" cy="56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Lower volatility, same drawdown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5181600"/>
            <a:ext cx="3136392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Time in cash reduced day-to-day swings, not the worst loss.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297680" y="4343400"/>
            <a:ext cx="3593592" cy="1508760"/>
          </a:xfrm>
          <a:prstGeom prst="roundRect">
            <a:avLst>
              <a:gd name="adj" fmla="val 60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526280" y="4526280"/>
            <a:ext cx="31363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Lower risk-adjusted return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4526280" y="5029200"/>
            <a:ext cx="31363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Sharpe 0.76 for v1 vs 1.43 for buy-and-hold.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8046720" y="4343400"/>
            <a:ext cx="3593592" cy="1508760"/>
          </a:xfrm>
          <a:prstGeom prst="roundRect">
            <a:avLst>
              <a:gd name="adj" fmla="val 6061"/>
            </a:avLst>
          </a:prstGeom>
          <a:solidFill>
            <a:srgbClr val="FBEDE4"/>
          </a:solidFill>
          <a:ln w="12700">
            <a:solidFill>
              <a:srgbClr val="FBEDE4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75320" y="4526280"/>
            <a:ext cx="3136392" cy="56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Timing not better than chance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5181600"/>
            <a:ext cx="3136392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v1 beat 27% of 1,000 random-timing strategies with the same exposure.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Beyond one test period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12-year walk-forward, 2013–2024. </a:t>
            </a:r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Retrain every January on all earlier data, trade the following year, repeat; $100,000 chained across the 12 years.</a:t>
            </a:r>
            <a:endParaRPr lang="en-US" sz="1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11094415" cy="914400"/>
        </p:xfrm>
        <a:graphic>
          <a:graphicData uri="http://schemas.openxmlformats.org/drawingml/2006/table">
            <a:tbl>
              <a:tblPr/>
              <a:tblGrid>
                <a:gridCol w="3593592"/>
                <a:gridCol w="1554480"/>
                <a:gridCol w="1554480"/>
                <a:gridCol w="1554480"/>
                <a:gridCol w="1280160"/>
                <a:gridCol w="155448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Strategy (weekly decisions)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Final value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Annual return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Max drawdown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Sharpe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Time invested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Buy &amp; Hold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$499,271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14.4%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-33.7%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0.80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100%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v1 · random forest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$164,406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4.2%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-23.9%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0.28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62%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v2 · logistic regression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$140,013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2.9%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-4.7%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0.46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2%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v3 · never sells — identical to buy-and-hold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39319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Holdout, Jan 2025 – Oct 2026. </a:t>
            </a:r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 later period never used for any choice. v3 never sold and matched buy-and-hold: $134,410, 18.2% a year, max drawdown -18.8%.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48640" y="4617720"/>
            <a:ext cx="11094415" cy="1325880"/>
          </a:xfrm>
          <a:prstGeom prst="roundRect">
            <a:avLst>
              <a:gd name="adj" fmla="val 6897"/>
            </a:avLst>
          </a:prstGeom>
          <a:solidFill>
            <a:srgbClr val="FBEDE4"/>
          </a:solidFill>
          <a:ln w="12700">
            <a:solidFill>
              <a:srgbClr val="FBEDE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4800600"/>
            <a:ext cx="106372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Takeaway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5303520"/>
            <a:ext cx="106372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Across 12 years no version beat buy-and-hold. Lower drawdowns came only from time out of the market, at a large cost in return (v1 4.2% and v2 2.9% a year vs 14.4%).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the strategies underperformed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5468112" cy="2103120"/>
          </a:xfrm>
          <a:prstGeom prst="roundRect">
            <a:avLst>
              <a:gd name="adj" fmla="val 43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554480"/>
            <a:ext cx="50109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directional skill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057400"/>
            <a:ext cx="501091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Days spent in cash returned as much as days invested (v1: +0.10% vs +0.09% per day). Leaving the market only gave up the upward drift.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172200" y="1371600"/>
            <a:ext cx="5468112" cy="2103120"/>
          </a:xfrm>
          <a:prstGeom prst="roundRect">
            <a:avLst>
              <a:gd name="adj" fmla="val 43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0" y="1554480"/>
            <a:ext cx="50109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Selection on a short, unusual period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6400800" y="2057400"/>
            <a:ext cx="501091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v1 and v2 beat buy-and-hold on 2021–22, which included a bear market; the defensive rules they selected missed the 2023–24 rally.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3657600"/>
            <a:ext cx="5468112" cy="2103120"/>
          </a:xfrm>
          <a:prstGeom prst="roundRect">
            <a:avLst>
              <a:gd name="adj" fmla="val 43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3840480"/>
            <a:ext cx="50109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Distorted probabilities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4343400"/>
            <a:ext cx="501091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Class weighting overstated the chance of a down week (30% vs 21%), biasing v2’s expected return toward selling.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172200" y="3657600"/>
            <a:ext cx="5468112" cy="2103120"/>
          </a:xfrm>
          <a:prstGeom prst="roundRect">
            <a:avLst>
              <a:gd name="adj" fmla="val 43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0" y="3840480"/>
            <a:ext cx="50109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Costs — secondary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0" y="4343400"/>
            <a:ext cx="501091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Weekly decisions kept costs to about $2,554 for v1; the shortfall was mainly timing.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 imbalance and calibration</a:t>
            </a:r>
            <a:endParaRPr lang="en-US" sz="30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280160"/>
          <a:ext cx="658368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hape 1"/>
          <p:cNvSpPr/>
          <p:nvPr/>
        </p:nvSpPr>
        <p:spPr>
          <a:xfrm>
            <a:off x="7406640" y="1371600"/>
            <a:ext cx="4233672" cy="2011680"/>
          </a:xfrm>
          <a:prstGeom prst="roundRect">
            <a:avLst>
              <a:gd name="adj" fmla="val 454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635240" y="1554480"/>
            <a:ext cx="37764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trade-off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7635240" y="2057400"/>
            <a:ext cx="37764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Weighting the minority class improves its recall — required by the brief — but the predicted probabilities no longer reflect real frequencies.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7406640" y="3566160"/>
            <a:ext cx="4233672" cy="2011680"/>
          </a:xfrm>
          <a:prstGeom prst="roundRect">
            <a:avLst>
              <a:gd name="adj" fmla="val 4545"/>
            </a:avLst>
          </a:prstGeom>
          <a:solidFill>
            <a:srgbClr val="FBEDE4"/>
          </a:solidFill>
          <a:ln w="12700">
            <a:solidFill>
              <a:srgbClr val="FBEDE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635240" y="3749040"/>
            <a:ext cx="3776472" cy="56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Correction works on average only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7635240" y="4404360"/>
            <a:ext cx="3776472" cy="103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Pre-set test: within ±3 points in 8 of 10 years. Best result: 4 of 10, because the share of Sell weeks shifts from year to year.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562356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3"/>
                </a:solidFill>
              </a:rPr>
              <a:t>Shown for v3’s weekly base model (logistic regression); the original gradient-boosting model gave the same pattern (30.3% → 21.5%).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limitation of machine learning, or of the question?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11094415" cy="987552"/>
          </a:xfrm>
          <a:prstGeom prst="roundRect">
            <a:avLst>
              <a:gd name="adj" fmla="val 9259"/>
            </a:avLst>
          </a:prstGeom>
          <a:solidFill>
            <a:srgbClr val="FBEDE4"/>
          </a:solidFill>
          <a:ln w="12700">
            <a:solidFill>
              <a:srgbClr val="FBEDE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371600"/>
            <a:ext cx="3108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Mainly the question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4114800" y="1371600"/>
            <a:ext cx="7299655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Next week’s direction for the most-traded fund in the world, from its own public price history. Persistent patterns there are competed away.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2487168"/>
            <a:ext cx="11094415" cy="987552"/>
          </a:xfrm>
          <a:prstGeom prst="roundRect">
            <a:avLst>
              <a:gd name="adj" fmla="val 92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487168"/>
            <a:ext cx="3108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Partly the design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4114800" y="2487168"/>
            <a:ext cx="7299655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One asset, price data only, all-in or all-out, a one-week horizon. Relaxing these makes the problem easier, not solved.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3602736"/>
            <a:ext cx="11094415" cy="987552"/>
          </a:xfrm>
          <a:prstGeom prst="roundRect">
            <a:avLst>
              <a:gd name="adj" fmla="val 92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602736"/>
            <a:ext cx="3108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ML adds value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4114800" y="3602736"/>
            <a:ext cx="7299655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Ranking many assets against each other, forecasting risk for position sizing, and using non-public data — usually with small edges after costs.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4718304"/>
            <a:ext cx="11094415" cy="987552"/>
          </a:xfrm>
          <a:prstGeom prst="roundRect">
            <a:avLst>
              <a:gd name="adj" fmla="val 92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4718304"/>
            <a:ext cx="3108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right benchmark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4114800" y="4718304"/>
            <a:ext cx="7299655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Return per unit of risk, and performance against random timing — not only final value against buy-and-hold.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Safeguards and limitations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5468112" cy="4480560"/>
          </a:xfrm>
          <a:prstGeom prst="roundRect">
            <a:avLst>
              <a:gd name="adj" fmla="val 204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554480"/>
            <a:ext cx="50109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Safeguards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057400"/>
            <a:ext cx="501091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• Chronological splits with label-length buffers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• Selection rules fixed before results; tests scored once per design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• 51 automated leakage tests, run on every change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• Costs, slippage and interest on cash included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• Risk metrics and a random-timing benchmark, not only final value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172200" y="1371600"/>
            <a:ext cx="5468112" cy="4480560"/>
          </a:xfrm>
          <a:prstGeom prst="roundRect">
            <a:avLst>
              <a:gd name="adj" fmla="val 2041"/>
            </a:avLst>
          </a:prstGeom>
          <a:solidFill>
            <a:srgbClr val="FBEDE4"/>
          </a:solidFill>
          <a:ln w="12700">
            <a:solidFill>
              <a:srgbClr val="FBEDE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0" y="1554480"/>
            <a:ext cx="50109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Limitations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6400800" y="2057400"/>
            <a:ext cx="501091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• One asset and price-based features only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• Validation covers two years, one of them a bear market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• The weekly rebuild and the 2025–26 holdout were designed after earlier test results were known; a forward paper-trade from 13 Oct 2026 is the only blind test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• Results depend on the committed data snapshots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5468112" cy="2103120"/>
          </a:xfrm>
          <a:prstGeom prst="roundRect">
            <a:avLst>
              <a:gd name="adj" fmla="val 43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554480"/>
            <a:ext cx="50109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Predictable size, unpredictable direction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240280"/>
            <a:ext cx="501091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The classifier beats chance (macro-F1 ≈ 0.40 vs 0.32), but its skill is in recognising quiet weeks.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172200" y="1371600"/>
            <a:ext cx="5468112" cy="2103120"/>
          </a:xfrm>
          <a:prstGeom prst="roundRect">
            <a:avLst>
              <a:gd name="adj" fmla="val 43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0" y="1554480"/>
            <a:ext cx="50109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Buy-and-hold was not beaten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6400800" y="2057400"/>
            <a:ext cx="501091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On return or Sharpe, in any period, by any version or decision schedule.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48640" y="3657600"/>
            <a:ext cx="5468112" cy="2103120"/>
          </a:xfrm>
          <a:prstGeom prst="roundRect">
            <a:avLst>
              <a:gd name="adj" fmla="val 43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3840480"/>
            <a:ext cx="50109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Good predictions are not good trades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4343400"/>
            <a:ext cx="501091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Choices that improve classification scores can degrade trading decisions.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172200" y="3657600"/>
            <a:ext cx="5468112" cy="2103120"/>
          </a:xfrm>
          <a:prstGeom prst="roundRect">
            <a:avLst>
              <a:gd name="adj" fmla="val 43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0" y="3840480"/>
            <a:ext cx="50109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Short validation periods mislead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0" y="4343400"/>
            <a:ext cx="501091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Rules that won on 2021–22 failed on 2023–24.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28800"/>
            <a:ext cx="10789920" cy="21945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4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Questions</a:t>
            </a: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4206240"/>
            <a:ext cx="1005840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4"/>
                </a:solidFill>
              </a:rPr>
              <a:t>Code, notebooks, reports and tests: github.com/TKCH121/spy</a:t>
            </a:r>
            <a:endParaRPr lang="en-US" sz="2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Appendix A · Weekly vs daily decisions, 2023–24</a:t>
            </a:r>
            <a:endParaRPr lang="en-US" sz="30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4415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737360"/>
                <a:gridCol w="1097280"/>
                <a:gridCol w="1371600"/>
                <a:gridCol w="1737360"/>
                <a:gridCol w="1097280"/>
                <a:gridCol w="2221992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Version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Daily: final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Trades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Costs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Weekly: final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Trades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Costs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v1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$129,069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15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$3,317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$126,864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11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$2,554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v2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$121,812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17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$3,754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$110,453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0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$0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v3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$156,546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1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$100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$156,546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1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$100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Buy &amp; Hold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$156,546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1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$100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$156,546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1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$100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39319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3"/>
                </a:solidFill>
              </a:rPr>
              <a:t>Daily = the original versions, acting on a new 5-day prediction every trading day. Weekly = rebuilt versions, selected on a weekly schedule. Cash earns T-bills in both.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Appendix B · v1 confusion matrix, test 2023–24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3108960" y="13716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Predicted Sell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4663440" y="13716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Predicted Hold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217920" y="13716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Predicted Buy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78308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Actual Sell (92)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108960" y="1783080"/>
            <a:ext cx="1499616" cy="859536"/>
          </a:xfrm>
          <a:prstGeom prst="rect">
            <a:avLst/>
          </a:prstGeom>
          <a:solidFill>
            <a:srgbClr val="F6D2BC"/>
          </a:solidFill>
          <a:ln w="12700">
            <a:solidFill>
              <a:srgbClr val="F6D2B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108960" y="1783080"/>
            <a:ext cx="149961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24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4663440" y="1783080"/>
            <a:ext cx="1499616" cy="859536"/>
          </a:xfrm>
          <a:prstGeom prst="rect">
            <a:avLst/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63440" y="1783080"/>
            <a:ext cx="149961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29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217920" y="1783080"/>
            <a:ext cx="1499616" cy="859536"/>
          </a:xfrm>
          <a:prstGeom prst="rect">
            <a:avLst/>
          </a:prstGeom>
          <a:solidFill>
            <a:srgbClr val="D9E2F0"/>
          </a:solidFill>
          <a:ln w="12700">
            <a:solidFill>
              <a:srgbClr val="D9E2F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217920" y="1783080"/>
            <a:ext cx="149961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39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269748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Actual Hold (207)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108960" y="2697480"/>
            <a:ext cx="1499616" cy="859536"/>
          </a:xfrm>
          <a:prstGeom prst="rect">
            <a:avLst/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108960" y="2697480"/>
            <a:ext cx="149961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20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4663440" y="2697480"/>
            <a:ext cx="1499616" cy="859536"/>
          </a:xfrm>
          <a:prstGeom prst="rect">
            <a:avLst/>
          </a:prstGeom>
          <a:solidFill>
            <a:srgbClr val="C8571B"/>
          </a:solidFill>
          <a:ln w="12700">
            <a:solidFill>
              <a:srgbClr val="C8571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663440" y="2697480"/>
            <a:ext cx="149961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129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6217920" y="2697480"/>
            <a:ext cx="1499616" cy="859536"/>
          </a:xfrm>
          <a:prstGeom prst="rect">
            <a:avLst/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217920" y="2697480"/>
            <a:ext cx="149961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58</a:t>
            </a:r>
            <a:endParaRPr lang="en-US" sz="22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361188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Actual Buy (198)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108960" y="3611880"/>
            <a:ext cx="1499616" cy="859536"/>
          </a:xfrm>
          <a:prstGeom prst="rect">
            <a:avLst/>
          </a:prstGeom>
          <a:solidFill>
            <a:srgbClr val="D9E2F0"/>
          </a:solidFill>
          <a:ln w="12700">
            <a:solidFill>
              <a:srgbClr val="D9E2F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108960" y="3611880"/>
            <a:ext cx="149961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56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4663440" y="3611880"/>
            <a:ext cx="1499616" cy="859536"/>
          </a:xfrm>
          <a:prstGeom prst="rect">
            <a:avLst/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663440" y="3611880"/>
            <a:ext cx="149961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72</a:t>
            </a:r>
            <a:endParaRPr lang="en-US" sz="2200" dirty="0"/>
          </a:p>
        </p:txBody>
      </p:sp>
      <p:sp>
        <p:nvSpPr>
          <p:cNvPr id="25" name="Shape 23"/>
          <p:cNvSpPr/>
          <p:nvPr/>
        </p:nvSpPr>
        <p:spPr>
          <a:xfrm>
            <a:off x="6217920" y="3611880"/>
            <a:ext cx="1499616" cy="859536"/>
          </a:xfrm>
          <a:prstGeom prst="rect">
            <a:avLst/>
          </a:prstGeom>
          <a:solidFill>
            <a:srgbClr val="F6D2BC"/>
          </a:solidFill>
          <a:ln w="12700">
            <a:solidFill>
              <a:srgbClr val="F6D2BC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217920" y="3611880"/>
            <a:ext cx="149961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70</a:t>
            </a:r>
            <a:endParaRPr lang="en-US" sz="2200" dirty="0"/>
          </a:p>
        </p:txBody>
      </p:sp>
      <p:sp>
        <p:nvSpPr>
          <p:cNvPr id="27" name="Shape 25"/>
          <p:cNvSpPr/>
          <p:nvPr/>
        </p:nvSpPr>
        <p:spPr>
          <a:xfrm>
            <a:off x="8138160" y="1371600"/>
            <a:ext cx="3502152" cy="274320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366760" y="1554480"/>
            <a:ext cx="30449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</a:t>
            </a:r>
            <a:endParaRPr lang="en-US" sz="1700" dirty="0"/>
          </a:p>
        </p:txBody>
      </p:sp>
      <p:sp>
        <p:nvSpPr>
          <p:cNvPr id="29" name="Text 27"/>
          <p:cNvSpPr txBox="1"/>
          <p:nvPr/>
        </p:nvSpPr>
        <p:spPr>
          <a:xfrm>
            <a:off x="8366760" y="2057400"/>
            <a:ext cx="3044952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Hold weeks are recognised (62% recall). Of 92 Sell weeks, 39 were predicted Buy; of 198 Buy weeks, 56 were predicted Sell.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Appendix C · Feature correlations, training data 2010–2020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6002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1  ret_1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2377440" y="1325880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377440" y="1600200"/>
            <a:ext cx="274320" cy="274320"/>
          </a:xfrm>
          <a:prstGeom prst="rect">
            <a:avLst/>
          </a:prstGeom>
          <a:solidFill>
            <a:srgbClr val="C8571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651760" y="1600200"/>
            <a:ext cx="274320" cy="274320"/>
          </a:xfrm>
          <a:prstGeom prst="rect">
            <a:avLst/>
          </a:prstGeom>
          <a:solidFill>
            <a:srgbClr val="E8B89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926080" y="1600200"/>
            <a:ext cx="274320" cy="274320"/>
          </a:xfrm>
          <a:prstGeom prst="rect">
            <a:avLst/>
          </a:prstGeom>
          <a:solidFill>
            <a:srgbClr val="EECBB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0" y="1600200"/>
            <a:ext cx="274320" cy="274320"/>
          </a:xfrm>
          <a:prstGeom prst="rect">
            <a:avLst/>
          </a:prstGeom>
          <a:solidFill>
            <a:srgbClr val="F4DDD1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474720" y="1600200"/>
            <a:ext cx="274320" cy="274320"/>
          </a:xfrm>
          <a:prstGeom prst="rect">
            <a:avLst/>
          </a:prstGeom>
          <a:solidFill>
            <a:srgbClr val="EBC1A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749040" y="1600200"/>
            <a:ext cx="274320" cy="274320"/>
          </a:xfrm>
          <a:prstGeom prst="rect">
            <a:avLst/>
          </a:prstGeom>
          <a:solidFill>
            <a:srgbClr val="F2D8C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023360" y="1600200"/>
            <a:ext cx="274320" cy="274320"/>
          </a:xfrm>
          <a:prstGeom prst="rect">
            <a:avLst/>
          </a:prstGeom>
          <a:solidFill>
            <a:srgbClr val="F8EBE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297680" y="1600200"/>
            <a:ext cx="274320" cy="274320"/>
          </a:xfrm>
          <a:prstGeom prst="rect">
            <a:avLst/>
          </a:prstGeom>
          <a:solidFill>
            <a:srgbClr val="F9FAFC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0" y="1600200"/>
            <a:ext cx="274320" cy="274320"/>
          </a:xfrm>
          <a:prstGeom prst="rect">
            <a:avLst/>
          </a:prstGeom>
          <a:solidFill>
            <a:srgbClr val="EFCEB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846320" y="1600200"/>
            <a:ext cx="274320" cy="274320"/>
          </a:xfrm>
          <a:prstGeom prst="rect">
            <a:avLst/>
          </a:prstGeom>
          <a:solidFill>
            <a:srgbClr val="F5DFD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120640" y="1600200"/>
            <a:ext cx="274320" cy="274320"/>
          </a:xfrm>
          <a:prstGeom prst="rect">
            <a:avLst/>
          </a:prstGeom>
          <a:solidFill>
            <a:srgbClr val="EBC1A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394960" y="1600200"/>
            <a:ext cx="274320" cy="274320"/>
          </a:xfrm>
          <a:prstGeom prst="rect">
            <a:avLst/>
          </a:prstGeom>
          <a:solidFill>
            <a:srgbClr val="FEFDF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669280" y="1600200"/>
            <a:ext cx="274320" cy="274320"/>
          </a:xfrm>
          <a:prstGeom prst="rect">
            <a:avLst/>
          </a:prstGeom>
          <a:solidFill>
            <a:srgbClr val="FEFCF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943600" y="1600200"/>
            <a:ext cx="274320" cy="274320"/>
          </a:xfrm>
          <a:prstGeom prst="rect">
            <a:avLst/>
          </a:prstGeom>
          <a:solidFill>
            <a:srgbClr val="FDFDF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17920" y="1600200"/>
            <a:ext cx="274320" cy="274320"/>
          </a:xfrm>
          <a:prstGeom prst="rect">
            <a:avLst/>
          </a:prstGeom>
          <a:solidFill>
            <a:srgbClr val="CDD8E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18745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2  ret_5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2651760" y="1325880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2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2377440" y="1874520"/>
            <a:ext cx="274320" cy="274320"/>
          </a:xfrm>
          <a:prstGeom prst="rect">
            <a:avLst/>
          </a:prstGeom>
          <a:solidFill>
            <a:srgbClr val="E8B89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651760" y="1874520"/>
            <a:ext cx="274320" cy="274320"/>
          </a:xfrm>
          <a:prstGeom prst="rect">
            <a:avLst/>
          </a:prstGeom>
          <a:solidFill>
            <a:srgbClr val="C8571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26080" y="1874520"/>
            <a:ext cx="274320" cy="274320"/>
          </a:xfrm>
          <a:prstGeom prst="rect">
            <a:avLst/>
          </a:prstGeom>
          <a:solidFill>
            <a:srgbClr val="DA8E6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200400" y="1874520"/>
            <a:ext cx="274320" cy="274320"/>
          </a:xfrm>
          <a:prstGeom prst="rect">
            <a:avLst/>
          </a:prstGeom>
          <a:solidFill>
            <a:srgbClr val="E6B29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474720" y="1874520"/>
            <a:ext cx="274320" cy="274320"/>
          </a:xfrm>
          <a:prstGeom prst="rect">
            <a:avLst/>
          </a:prstGeom>
          <a:solidFill>
            <a:srgbClr val="D6815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749040" y="1874520"/>
            <a:ext cx="274320" cy="274320"/>
          </a:xfrm>
          <a:prstGeom prst="rect">
            <a:avLst/>
          </a:prstGeom>
          <a:solidFill>
            <a:srgbClr val="E4AD8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023360" y="1874520"/>
            <a:ext cx="274320" cy="274320"/>
          </a:xfrm>
          <a:prstGeom prst="rect">
            <a:avLst/>
          </a:prstGeom>
          <a:solidFill>
            <a:srgbClr val="F0D2C1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297680" y="1874520"/>
            <a:ext cx="274320" cy="274320"/>
          </a:xfrm>
          <a:prstGeom prst="rect">
            <a:avLst/>
          </a:prstGeom>
          <a:solidFill>
            <a:srgbClr val="FDFDF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572000" y="1874520"/>
            <a:ext cx="274320" cy="274320"/>
          </a:xfrm>
          <a:prstGeom prst="rect">
            <a:avLst/>
          </a:prstGeom>
          <a:solidFill>
            <a:srgbClr val="DF9E7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846320" y="1874520"/>
            <a:ext cx="274320" cy="274320"/>
          </a:xfrm>
          <a:prstGeom prst="rect">
            <a:avLst/>
          </a:prstGeom>
          <a:solidFill>
            <a:srgbClr val="D9895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120640" y="1874520"/>
            <a:ext cx="274320" cy="274320"/>
          </a:xfrm>
          <a:prstGeom prst="rect">
            <a:avLst/>
          </a:prstGeom>
          <a:solidFill>
            <a:srgbClr val="DA8D6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394960" y="1874520"/>
            <a:ext cx="274320" cy="274320"/>
          </a:xfrm>
          <a:prstGeom prst="rect">
            <a:avLst/>
          </a:prstGeom>
          <a:solidFill>
            <a:srgbClr val="F3F5F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669280" y="1874520"/>
            <a:ext cx="274320" cy="274320"/>
          </a:xfrm>
          <a:prstGeom prst="rect">
            <a:avLst/>
          </a:prstGeom>
          <a:solidFill>
            <a:srgbClr val="F9FAFC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943600" y="1874520"/>
            <a:ext cx="274320" cy="274320"/>
          </a:xfrm>
          <a:prstGeom prst="rect">
            <a:avLst/>
          </a:prstGeom>
          <a:solidFill>
            <a:srgbClr val="EAEFF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217920" y="1874520"/>
            <a:ext cx="274320" cy="274320"/>
          </a:xfrm>
          <a:prstGeom prst="rect">
            <a:avLst/>
          </a:prstGeom>
          <a:solidFill>
            <a:srgbClr val="ACBED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548640" y="21488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3  ret_10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2926080" y="1325880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3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2377440" y="2148840"/>
            <a:ext cx="274320" cy="274320"/>
          </a:xfrm>
          <a:prstGeom prst="rect">
            <a:avLst/>
          </a:prstGeom>
          <a:solidFill>
            <a:srgbClr val="EECBB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651760" y="2148840"/>
            <a:ext cx="274320" cy="274320"/>
          </a:xfrm>
          <a:prstGeom prst="rect">
            <a:avLst/>
          </a:prstGeom>
          <a:solidFill>
            <a:srgbClr val="DA8E6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926080" y="2148840"/>
            <a:ext cx="274320" cy="274320"/>
          </a:xfrm>
          <a:prstGeom prst="rect">
            <a:avLst/>
          </a:prstGeom>
          <a:solidFill>
            <a:srgbClr val="C8571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200400" y="2148840"/>
            <a:ext cx="274320" cy="274320"/>
          </a:xfrm>
          <a:prstGeom prst="rect">
            <a:avLst/>
          </a:prstGeom>
          <a:solidFill>
            <a:srgbClr val="DA8D6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474720" y="2148840"/>
            <a:ext cx="274320" cy="274320"/>
          </a:xfrm>
          <a:prstGeom prst="rect">
            <a:avLst/>
          </a:prstGeom>
          <a:solidFill>
            <a:srgbClr val="CD663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749040" y="2148840"/>
            <a:ext cx="274320" cy="274320"/>
          </a:xfrm>
          <a:prstGeom prst="rect">
            <a:avLst/>
          </a:prstGeom>
          <a:solidFill>
            <a:srgbClr val="DB906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023360" y="2148840"/>
            <a:ext cx="274320" cy="274320"/>
          </a:xfrm>
          <a:prstGeom prst="rect">
            <a:avLst/>
          </a:prstGeom>
          <a:solidFill>
            <a:srgbClr val="EBC1A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297680" y="2148840"/>
            <a:ext cx="274320" cy="274320"/>
          </a:xfrm>
          <a:prstGeom prst="rect">
            <a:avLst/>
          </a:prstGeom>
          <a:solidFill>
            <a:srgbClr val="FAF0E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572000" y="2148840"/>
            <a:ext cx="274320" cy="274320"/>
          </a:xfrm>
          <a:prstGeom prst="rect">
            <a:avLst/>
          </a:prstGeom>
          <a:solidFill>
            <a:srgbClr val="D9895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4846320" y="2148840"/>
            <a:ext cx="274320" cy="274320"/>
          </a:xfrm>
          <a:prstGeom prst="rect">
            <a:avLst/>
          </a:prstGeom>
          <a:solidFill>
            <a:srgbClr val="CF6B3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5120640" y="2148840"/>
            <a:ext cx="274320" cy="274320"/>
          </a:xfrm>
          <a:prstGeom prst="rect">
            <a:avLst/>
          </a:prstGeom>
          <a:solidFill>
            <a:srgbClr val="D6815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5394960" y="2148840"/>
            <a:ext cx="274320" cy="274320"/>
          </a:xfrm>
          <a:prstGeom prst="rect">
            <a:avLst/>
          </a:prstGeom>
          <a:solidFill>
            <a:srgbClr val="DAE2E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669280" y="2148840"/>
            <a:ext cx="274320" cy="274320"/>
          </a:xfrm>
          <a:prstGeom prst="rect">
            <a:avLst/>
          </a:prstGeom>
          <a:solidFill>
            <a:srgbClr val="E0E7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5943600" y="2148840"/>
            <a:ext cx="274320" cy="274320"/>
          </a:xfrm>
          <a:prstGeom prst="rect">
            <a:avLst/>
          </a:prstGeom>
          <a:solidFill>
            <a:srgbClr val="D1DBE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6217920" y="2148840"/>
            <a:ext cx="274320" cy="274320"/>
          </a:xfrm>
          <a:prstGeom prst="rect">
            <a:avLst/>
          </a:prstGeom>
          <a:solidFill>
            <a:srgbClr val="B2C3D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548640" y="24231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4  ret_20</a:t>
            </a:r>
            <a:endParaRPr lang="en-US" sz="1000" dirty="0"/>
          </a:p>
        </p:txBody>
      </p:sp>
      <p:sp>
        <p:nvSpPr>
          <p:cNvPr id="55" name="Text 53"/>
          <p:cNvSpPr txBox="1"/>
          <p:nvPr/>
        </p:nvSpPr>
        <p:spPr>
          <a:xfrm>
            <a:off x="3200400" y="1325880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4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2377440" y="2423160"/>
            <a:ext cx="274320" cy="274320"/>
          </a:xfrm>
          <a:prstGeom prst="rect">
            <a:avLst/>
          </a:prstGeom>
          <a:solidFill>
            <a:srgbClr val="F4DDD1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2651760" y="2423160"/>
            <a:ext cx="274320" cy="274320"/>
          </a:xfrm>
          <a:prstGeom prst="rect">
            <a:avLst/>
          </a:prstGeom>
          <a:solidFill>
            <a:srgbClr val="E6B29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2926080" y="2423160"/>
            <a:ext cx="274320" cy="274320"/>
          </a:xfrm>
          <a:prstGeom prst="rect">
            <a:avLst/>
          </a:prstGeom>
          <a:solidFill>
            <a:srgbClr val="DA8D6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3200400" y="2423160"/>
            <a:ext cx="274320" cy="274320"/>
          </a:xfrm>
          <a:prstGeom prst="rect">
            <a:avLst/>
          </a:prstGeom>
          <a:solidFill>
            <a:srgbClr val="C8571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3474720" y="2423160"/>
            <a:ext cx="274320" cy="274320"/>
          </a:xfrm>
          <a:prstGeom prst="rect">
            <a:avLst/>
          </a:prstGeom>
          <a:solidFill>
            <a:srgbClr val="D1723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3749040" y="2423160"/>
            <a:ext cx="274320" cy="274320"/>
          </a:xfrm>
          <a:prstGeom prst="rect">
            <a:avLst/>
          </a:prstGeom>
          <a:solidFill>
            <a:srgbClr val="D070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4023360" y="2423160"/>
            <a:ext cx="274320" cy="274320"/>
          </a:xfrm>
          <a:prstGeom prst="rect">
            <a:avLst/>
          </a:prstGeom>
          <a:solidFill>
            <a:srgbClr val="E3A98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4297680" y="2423160"/>
            <a:ext cx="274320" cy="274320"/>
          </a:xfrm>
          <a:prstGeom prst="rect">
            <a:avLst/>
          </a:prstGeom>
          <a:solidFill>
            <a:srgbClr val="E5B09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4572000" y="2423160"/>
            <a:ext cx="274320" cy="274320"/>
          </a:xfrm>
          <a:prstGeom prst="rect">
            <a:avLst/>
          </a:prstGeom>
          <a:solidFill>
            <a:srgbClr val="D7845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4846320" y="2423160"/>
            <a:ext cx="274320" cy="274320"/>
          </a:xfrm>
          <a:prstGeom prst="rect">
            <a:avLst/>
          </a:prstGeom>
          <a:solidFill>
            <a:srgbClr val="DD997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5120640" y="2423160"/>
            <a:ext cx="274320" cy="274320"/>
          </a:xfrm>
          <a:prstGeom prst="rect">
            <a:avLst/>
          </a:prstGeom>
          <a:solidFill>
            <a:srgbClr val="DB906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5394960" y="2423160"/>
            <a:ext cx="274320" cy="274320"/>
          </a:xfrm>
          <a:prstGeom prst="rect">
            <a:avLst/>
          </a:prstGeom>
          <a:solidFill>
            <a:srgbClr val="B6C6D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5669280" y="2423160"/>
            <a:ext cx="274320" cy="274320"/>
          </a:xfrm>
          <a:prstGeom prst="rect">
            <a:avLst/>
          </a:prstGeom>
          <a:solidFill>
            <a:srgbClr val="A8BB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5943600" y="2423160"/>
            <a:ext cx="274320" cy="274320"/>
          </a:xfrm>
          <a:prstGeom prst="rect">
            <a:avLst/>
          </a:prstGeom>
          <a:solidFill>
            <a:srgbClr val="AABDD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6217920" y="2423160"/>
            <a:ext cx="274320" cy="274320"/>
          </a:xfrm>
          <a:prstGeom prst="rect">
            <a:avLst/>
          </a:prstGeom>
          <a:solidFill>
            <a:srgbClr val="D3DDE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26974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5  close_sma20</a:t>
            </a:r>
            <a:endParaRPr lang="en-US" sz="1000" dirty="0"/>
          </a:p>
        </p:txBody>
      </p:sp>
      <p:sp>
        <p:nvSpPr>
          <p:cNvPr id="72" name="Text 70"/>
          <p:cNvSpPr txBox="1"/>
          <p:nvPr/>
        </p:nvSpPr>
        <p:spPr>
          <a:xfrm>
            <a:off x="3474720" y="1325880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5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2377440" y="2697480"/>
            <a:ext cx="274320" cy="274320"/>
          </a:xfrm>
          <a:prstGeom prst="rect">
            <a:avLst/>
          </a:prstGeom>
          <a:solidFill>
            <a:srgbClr val="EBC1A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2651760" y="2697480"/>
            <a:ext cx="274320" cy="274320"/>
          </a:xfrm>
          <a:prstGeom prst="rect">
            <a:avLst/>
          </a:prstGeom>
          <a:solidFill>
            <a:srgbClr val="D6815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2926080" y="2697480"/>
            <a:ext cx="274320" cy="274320"/>
          </a:xfrm>
          <a:prstGeom prst="rect">
            <a:avLst/>
          </a:prstGeom>
          <a:solidFill>
            <a:srgbClr val="CD663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3200400" y="2697480"/>
            <a:ext cx="274320" cy="274320"/>
          </a:xfrm>
          <a:prstGeom prst="rect">
            <a:avLst/>
          </a:prstGeom>
          <a:solidFill>
            <a:srgbClr val="D1723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3474720" y="2697480"/>
            <a:ext cx="274320" cy="274320"/>
          </a:xfrm>
          <a:prstGeom prst="rect">
            <a:avLst/>
          </a:prstGeom>
          <a:solidFill>
            <a:srgbClr val="C8571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3749040" y="2697480"/>
            <a:ext cx="274320" cy="274320"/>
          </a:xfrm>
          <a:prstGeom prst="rect">
            <a:avLst/>
          </a:prstGeom>
          <a:solidFill>
            <a:srgbClr val="D3794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4023360" y="2697480"/>
            <a:ext cx="274320" cy="274320"/>
          </a:xfrm>
          <a:prstGeom prst="rect">
            <a:avLst/>
          </a:prstGeom>
          <a:solidFill>
            <a:srgbClr val="E6B29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4297680" y="2697480"/>
            <a:ext cx="274320" cy="274320"/>
          </a:xfrm>
          <a:prstGeom prst="rect">
            <a:avLst/>
          </a:prstGeom>
          <a:solidFill>
            <a:srgbClr val="F3DCC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4572000" y="2697480"/>
            <a:ext cx="274320" cy="274320"/>
          </a:xfrm>
          <a:prstGeom prst="rect">
            <a:avLst/>
          </a:prstGeom>
          <a:solidFill>
            <a:srgbClr val="D47A4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4846320" y="2697480"/>
            <a:ext cx="274320" cy="274320"/>
          </a:xfrm>
          <a:prstGeom prst="rect">
            <a:avLst/>
          </a:prstGeom>
          <a:solidFill>
            <a:srgbClr val="CF6D3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5120640" y="2697480"/>
            <a:ext cx="274320" cy="274320"/>
          </a:xfrm>
          <a:prstGeom prst="rect">
            <a:avLst/>
          </a:prstGeom>
          <a:solidFill>
            <a:srgbClr val="D2774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5394960" y="2697480"/>
            <a:ext cx="274320" cy="274320"/>
          </a:xfrm>
          <a:prstGeom prst="rect">
            <a:avLst/>
          </a:prstGeom>
          <a:solidFill>
            <a:srgbClr val="C9D5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5669280" y="2697480"/>
            <a:ext cx="274320" cy="274320"/>
          </a:xfrm>
          <a:prstGeom prst="rect">
            <a:avLst/>
          </a:prstGeom>
          <a:solidFill>
            <a:srgbClr val="C9D5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943600" y="2697480"/>
            <a:ext cx="274320" cy="274320"/>
          </a:xfrm>
          <a:prstGeom prst="rect">
            <a:avLst/>
          </a:prstGeom>
          <a:solidFill>
            <a:srgbClr val="BFCDE1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6217920" y="2697480"/>
            <a:ext cx="274320" cy="274320"/>
          </a:xfrm>
          <a:prstGeom prst="rect">
            <a:avLst/>
          </a:prstGeom>
          <a:solidFill>
            <a:srgbClr val="B2C3D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8" name="Text 86"/>
          <p:cNvSpPr txBox="1"/>
          <p:nvPr/>
        </p:nvSpPr>
        <p:spPr>
          <a:xfrm>
            <a:off x="548640" y="29718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6  close_sma50</a:t>
            </a:r>
            <a:endParaRPr lang="en-US" sz="1000" dirty="0"/>
          </a:p>
        </p:txBody>
      </p:sp>
      <p:sp>
        <p:nvSpPr>
          <p:cNvPr id="89" name="Text 87"/>
          <p:cNvSpPr txBox="1"/>
          <p:nvPr/>
        </p:nvSpPr>
        <p:spPr>
          <a:xfrm>
            <a:off x="3749040" y="1325880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6</a:t>
            </a:r>
            <a:endParaRPr lang="en-US" sz="1000" dirty="0"/>
          </a:p>
        </p:txBody>
      </p:sp>
      <p:sp>
        <p:nvSpPr>
          <p:cNvPr id="90" name="Shape 88"/>
          <p:cNvSpPr/>
          <p:nvPr/>
        </p:nvSpPr>
        <p:spPr>
          <a:xfrm>
            <a:off x="2377440" y="2971800"/>
            <a:ext cx="274320" cy="274320"/>
          </a:xfrm>
          <a:prstGeom prst="rect">
            <a:avLst/>
          </a:prstGeom>
          <a:solidFill>
            <a:srgbClr val="F2D8C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2651760" y="2971800"/>
            <a:ext cx="274320" cy="274320"/>
          </a:xfrm>
          <a:prstGeom prst="rect">
            <a:avLst/>
          </a:prstGeom>
          <a:solidFill>
            <a:srgbClr val="E4AD8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2926080" y="2971800"/>
            <a:ext cx="274320" cy="274320"/>
          </a:xfrm>
          <a:prstGeom prst="rect">
            <a:avLst/>
          </a:prstGeom>
          <a:solidFill>
            <a:srgbClr val="DB906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3200400" y="2971800"/>
            <a:ext cx="274320" cy="274320"/>
          </a:xfrm>
          <a:prstGeom prst="rect">
            <a:avLst/>
          </a:prstGeom>
          <a:solidFill>
            <a:srgbClr val="D070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3474720" y="2971800"/>
            <a:ext cx="274320" cy="274320"/>
          </a:xfrm>
          <a:prstGeom prst="rect">
            <a:avLst/>
          </a:prstGeom>
          <a:solidFill>
            <a:srgbClr val="D3794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3749040" y="2971800"/>
            <a:ext cx="274320" cy="274320"/>
          </a:xfrm>
          <a:prstGeom prst="rect">
            <a:avLst/>
          </a:prstGeom>
          <a:solidFill>
            <a:srgbClr val="C8571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4023360" y="2971800"/>
            <a:ext cx="274320" cy="274320"/>
          </a:xfrm>
          <a:prstGeom prst="rect">
            <a:avLst/>
          </a:prstGeom>
          <a:solidFill>
            <a:srgbClr val="D98B6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4297680" y="2971800"/>
            <a:ext cx="274320" cy="274320"/>
          </a:xfrm>
          <a:prstGeom prst="rect">
            <a:avLst/>
          </a:prstGeom>
          <a:solidFill>
            <a:srgbClr val="D57F5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4572000" y="2971800"/>
            <a:ext cx="274320" cy="274320"/>
          </a:xfrm>
          <a:prstGeom prst="rect">
            <a:avLst/>
          </a:prstGeom>
          <a:solidFill>
            <a:srgbClr val="D2774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4846320" y="2971800"/>
            <a:ext cx="274320" cy="274320"/>
          </a:xfrm>
          <a:prstGeom prst="rect">
            <a:avLst/>
          </a:prstGeom>
          <a:solidFill>
            <a:srgbClr val="E7B59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5120640" y="2971800"/>
            <a:ext cx="274320" cy="274320"/>
          </a:xfrm>
          <a:prstGeom prst="rect">
            <a:avLst/>
          </a:prstGeom>
          <a:solidFill>
            <a:srgbClr val="DA8D6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5394960" y="2971800"/>
            <a:ext cx="274320" cy="274320"/>
          </a:xfrm>
          <a:prstGeom prst="rect">
            <a:avLst/>
          </a:prstGeom>
          <a:solidFill>
            <a:srgbClr val="95ACC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5669280" y="2971800"/>
            <a:ext cx="274320" cy="274320"/>
          </a:xfrm>
          <a:prstGeom prst="rect">
            <a:avLst/>
          </a:prstGeom>
          <a:solidFill>
            <a:srgbClr val="849FC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5943600" y="2971800"/>
            <a:ext cx="274320" cy="274320"/>
          </a:xfrm>
          <a:prstGeom prst="rect">
            <a:avLst/>
          </a:prstGeom>
          <a:solidFill>
            <a:srgbClr val="86A1C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6217920" y="2971800"/>
            <a:ext cx="274320" cy="274320"/>
          </a:xfrm>
          <a:prstGeom prst="rect">
            <a:avLst/>
          </a:prstGeom>
          <a:solidFill>
            <a:srgbClr val="DCE3E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5" name="Text 103"/>
          <p:cNvSpPr txBox="1"/>
          <p:nvPr/>
        </p:nvSpPr>
        <p:spPr>
          <a:xfrm>
            <a:off x="548640" y="32461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7  close_sma200</a:t>
            </a:r>
            <a:endParaRPr lang="en-US" sz="1000" dirty="0"/>
          </a:p>
        </p:txBody>
      </p:sp>
      <p:sp>
        <p:nvSpPr>
          <p:cNvPr id="106" name="Text 104"/>
          <p:cNvSpPr txBox="1"/>
          <p:nvPr/>
        </p:nvSpPr>
        <p:spPr>
          <a:xfrm>
            <a:off x="4023360" y="1325880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7</a:t>
            </a:r>
            <a:endParaRPr lang="en-US" sz="1000" dirty="0"/>
          </a:p>
        </p:txBody>
      </p:sp>
      <p:sp>
        <p:nvSpPr>
          <p:cNvPr id="107" name="Shape 105"/>
          <p:cNvSpPr/>
          <p:nvPr/>
        </p:nvSpPr>
        <p:spPr>
          <a:xfrm>
            <a:off x="2377440" y="3246120"/>
            <a:ext cx="274320" cy="274320"/>
          </a:xfrm>
          <a:prstGeom prst="rect">
            <a:avLst/>
          </a:prstGeom>
          <a:solidFill>
            <a:srgbClr val="F8EBE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2651760" y="3246120"/>
            <a:ext cx="274320" cy="274320"/>
          </a:xfrm>
          <a:prstGeom prst="rect">
            <a:avLst/>
          </a:prstGeom>
          <a:solidFill>
            <a:srgbClr val="F0D2C1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2926080" y="3246120"/>
            <a:ext cx="274320" cy="274320"/>
          </a:xfrm>
          <a:prstGeom prst="rect">
            <a:avLst/>
          </a:prstGeom>
          <a:solidFill>
            <a:srgbClr val="EBC1A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3200400" y="3246120"/>
            <a:ext cx="274320" cy="274320"/>
          </a:xfrm>
          <a:prstGeom prst="rect">
            <a:avLst/>
          </a:prstGeom>
          <a:solidFill>
            <a:srgbClr val="E3A98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3474720" y="3246120"/>
            <a:ext cx="274320" cy="274320"/>
          </a:xfrm>
          <a:prstGeom prst="rect">
            <a:avLst/>
          </a:prstGeom>
          <a:solidFill>
            <a:srgbClr val="E6B29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3749040" y="3246120"/>
            <a:ext cx="274320" cy="274320"/>
          </a:xfrm>
          <a:prstGeom prst="rect">
            <a:avLst/>
          </a:prstGeom>
          <a:solidFill>
            <a:srgbClr val="D98B6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4023360" y="3246120"/>
            <a:ext cx="274320" cy="274320"/>
          </a:xfrm>
          <a:prstGeom prst="rect">
            <a:avLst/>
          </a:prstGeom>
          <a:solidFill>
            <a:srgbClr val="C8571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4297680" y="3246120"/>
            <a:ext cx="274320" cy="274320"/>
          </a:xfrm>
          <a:prstGeom prst="rect">
            <a:avLst/>
          </a:prstGeom>
          <a:solidFill>
            <a:srgbClr val="DD977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4572000" y="3246120"/>
            <a:ext cx="274320" cy="274320"/>
          </a:xfrm>
          <a:prstGeom prst="rect">
            <a:avLst/>
          </a:prstGeom>
          <a:solidFill>
            <a:srgbClr val="DF9C7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4846320" y="3246120"/>
            <a:ext cx="274320" cy="274320"/>
          </a:xfrm>
          <a:prstGeom prst="rect">
            <a:avLst/>
          </a:prstGeom>
          <a:solidFill>
            <a:srgbClr val="F7E7D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120640" y="3246120"/>
            <a:ext cx="274320" cy="274320"/>
          </a:xfrm>
          <a:prstGeom prst="rect">
            <a:avLst/>
          </a:prstGeom>
          <a:solidFill>
            <a:srgbClr val="E7B79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5394960" y="3246120"/>
            <a:ext cx="274320" cy="274320"/>
          </a:xfrm>
          <a:prstGeom prst="rect">
            <a:avLst/>
          </a:prstGeom>
          <a:solidFill>
            <a:srgbClr val="88A3C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5669280" y="3246120"/>
            <a:ext cx="274320" cy="274320"/>
          </a:xfrm>
          <a:prstGeom prst="rect">
            <a:avLst/>
          </a:prstGeom>
          <a:solidFill>
            <a:srgbClr val="7492B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5943600" y="3246120"/>
            <a:ext cx="274320" cy="274320"/>
          </a:xfrm>
          <a:prstGeom prst="rect">
            <a:avLst/>
          </a:prstGeom>
          <a:solidFill>
            <a:srgbClr val="6B8CB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217920" y="3246120"/>
            <a:ext cx="274320" cy="274320"/>
          </a:xfrm>
          <a:prstGeom prst="rect">
            <a:avLst/>
          </a:prstGeom>
          <a:solidFill>
            <a:srgbClr val="FBFCF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2" name="Text 120"/>
          <p:cNvSpPr txBox="1"/>
          <p:nvPr/>
        </p:nvSpPr>
        <p:spPr>
          <a:xfrm>
            <a:off x="548640" y="35204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8  sma20_sma50</a:t>
            </a:r>
            <a:endParaRPr lang="en-US" sz="1000" dirty="0"/>
          </a:p>
        </p:txBody>
      </p:sp>
      <p:sp>
        <p:nvSpPr>
          <p:cNvPr id="123" name="Text 121"/>
          <p:cNvSpPr txBox="1"/>
          <p:nvPr/>
        </p:nvSpPr>
        <p:spPr>
          <a:xfrm>
            <a:off x="4297680" y="1325880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8</a:t>
            </a:r>
            <a:endParaRPr lang="en-US" sz="1000" dirty="0"/>
          </a:p>
        </p:txBody>
      </p:sp>
      <p:sp>
        <p:nvSpPr>
          <p:cNvPr id="124" name="Shape 122"/>
          <p:cNvSpPr/>
          <p:nvPr/>
        </p:nvSpPr>
        <p:spPr>
          <a:xfrm>
            <a:off x="2377440" y="3520440"/>
            <a:ext cx="274320" cy="274320"/>
          </a:xfrm>
          <a:prstGeom prst="rect">
            <a:avLst/>
          </a:prstGeom>
          <a:solidFill>
            <a:srgbClr val="F9FAFC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2651760" y="3520440"/>
            <a:ext cx="274320" cy="274320"/>
          </a:xfrm>
          <a:prstGeom prst="rect">
            <a:avLst/>
          </a:prstGeom>
          <a:solidFill>
            <a:srgbClr val="FDFDF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2926080" y="3520440"/>
            <a:ext cx="274320" cy="274320"/>
          </a:xfrm>
          <a:prstGeom prst="rect">
            <a:avLst/>
          </a:prstGeom>
          <a:solidFill>
            <a:srgbClr val="FAF0E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3200400" y="3520440"/>
            <a:ext cx="274320" cy="274320"/>
          </a:xfrm>
          <a:prstGeom prst="rect">
            <a:avLst/>
          </a:prstGeom>
          <a:solidFill>
            <a:srgbClr val="E5B09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3474720" y="3520440"/>
            <a:ext cx="274320" cy="274320"/>
          </a:xfrm>
          <a:prstGeom prst="rect">
            <a:avLst/>
          </a:prstGeom>
          <a:solidFill>
            <a:srgbClr val="F3DCC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3749040" y="3520440"/>
            <a:ext cx="274320" cy="274320"/>
          </a:xfrm>
          <a:prstGeom prst="rect">
            <a:avLst/>
          </a:prstGeom>
          <a:solidFill>
            <a:srgbClr val="D57F5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4023360" y="3520440"/>
            <a:ext cx="274320" cy="274320"/>
          </a:xfrm>
          <a:prstGeom prst="rect">
            <a:avLst/>
          </a:prstGeom>
          <a:solidFill>
            <a:srgbClr val="DD977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4297680" y="3520440"/>
            <a:ext cx="274320" cy="274320"/>
          </a:xfrm>
          <a:prstGeom prst="rect">
            <a:avLst/>
          </a:prstGeom>
          <a:solidFill>
            <a:srgbClr val="C8571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4572000" y="3520440"/>
            <a:ext cx="274320" cy="274320"/>
          </a:xfrm>
          <a:prstGeom prst="rect">
            <a:avLst/>
          </a:prstGeom>
          <a:solidFill>
            <a:srgbClr val="E6B39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4846320" y="3520440"/>
            <a:ext cx="274320" cy="274320"/>
          </a:xfrm>
          <a:prstGeom prst="rect">
            <a:avLst/>
          </a:prstGeom>
          <a:solidFill>
            <a:srgbClr val="D1DBE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5120640" y="3520440"/>
            <a:ext cx="274320" cy="274320"/>
          </a:xfrm>
          <a:prstGeom prst="rect">
            <a:avLst/>
          </a:prstGeom>
          <a:solidFill>
            <a:srgbClr val="F3DCC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394960" y="3520440"/>
            <a:ext cx="274320" cy="274320"/>
          </a:xfrm>
          <a:prstGeom prst="rect">
            <a:avLst/>
          </a:prstGeom>
          <a:solidFill>
            <a:srgbClr val="88A3C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669280" y="3520440"/>
            <a:ext cx="274320" cy="274320"/>
          </a:xfrm>
          <a:prstGeom prst="rect">
            <a:avLst/>
          </a:prstGeom>
          <a:solidFill>
            <a:srgbClr val="7291B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943600" y="3520440"/>
            <a:ext cx="274320" cy="274320"/>
          </a:xfrm>
          <a:prstGeom prst="rect">
            <a:avLst/>
          </a:prstGeom>
          <a:solidFill>
            <a:srgbClr val="809CC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6217920" y="3520440"/>
            <a:ext cx="274320" cy="274320"/>
          </a:xfrm>
          <a:prstGeom prst="rect">
            <a:avLst/>
          </a:prstGeom>
          <a:solidFill>
            <a:srgbClr val="F8E9E1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9" name="Text 137"/>
          <p:cNvSpPr txBox="1"/>
          <p:nvPr/>
        </p:nvSpPr>
        <p:spPr>
          <a:xfrm>
            <a:off x="548640" y="37947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9  rsi_14</a:t>
            </a:r>
            <a:endParaRPr lang="en-US" sz="1000" dirty="0"/>
          </a:p>
        </p:txBody>
      </p:sp>
      <p:sp>
        <p:nvSpPr>
          <p:cNvPr id="140" name="Text 138"/>
          <p:cNvSpPr txBox="1"/>
          <p:nvPr/>
        </p:nvSpPr>
        <p:spPr>
          <a:xfrm>
            <a:off x="4572000" y="1325880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9</a:t>
            </a:r>
            <a:endParaRPr lang="en-US" sz="1000" dirty="0"/>
          </a:p>
        </p:txBody>
      </p:sp>
      <p:sp>
        <p:nvSpPr>
          <p:cNvPr id="141" name="Shape 139"/>
          <p:cNvSpPr/>
          <p:nvPr/>
        </p:nvSpPr>
        <p:spPr>
          <a:xfrm>
            <a:off x="2377440" y="3794760"/>
            <a:ext cx="274320" cy="274320"/>
          </a:xfrm>
          <a:prstGeom prst="rect">
            <a:avLst/>
          </a:prstGeom>
          <a:solidFill>
            <a:srgbClr val="EFCEB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2651760" y="3794760"/>
            <a:ext cx="274320" cy="274320"/>
          </a:xfrm>
          <a:prstGeom prst="rect">
            <a:avLst/>
          </a:prstGeom>
          <a:solidFill>
            <a:srgbClr val="DF9E7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2926080" y="3794760"/>
            <a:ext cx="274320" cy="274320"/>
          </a:xfrm>
          <a:prstGeom prst="rect">
            <a:avLst/>
          </a:prstGeom>
          <a:solidFill>
            <a:srgbClr val="D9895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3200400" y="3794760"/>
            <a:ext cx="274320" cy="274320"/>
          </a:xfrm>
          <a:prstGeom prst="rect">
            <a:avLst/>
          </a:prstGeom>
          <a:solidFill>
            <a:srgbClr val="D7845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3474720" y="3794760"/>
            <a:ext cx="274320" cy="274320"/>
          </a:xfrm>
          <a:prstGeom prst="rect">
            <a:avLst/>
          </a:prstGeom>
          <a:solidFill>
            <a:srgbClr val="D47A4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3749040" y="3794760"/>
            <a:ext cx="274320" cy="274320"/>
          </a:xfrm>
          <a:prstGeom prst="rect">
            <a:avLst/>
          </a:prstGeom>
          <a:solidFill>
            <a:srgbClr val="D2774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4023360" y="3794760"/>
            <a:ext cx="274320" cy="274320"/>
          </a:xfrm>
          <a:prstGeom prst="rect">
            <a:avLst/>
          </a:prstGeom>
          <a:solidFill>
            <a:srgbClr val="DF9C7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4297680" y="3794760"/>
            <a:ext cx="274320" cy="274320"/>
          </a:xfrm>
          <a:prstGeom prst="rect">
            <a:avLst/>
          </a:prstGeom>
          <a:solidFill>
            <a:srgbClr val="E6B39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4572000" y="3794760"/>
            <a:ext cx="274320" cy="274320"/>
          </a:xfrm>
          <a:prstGeom prst="rect">
            <a:avLst/>
          </a:prstGeom>
          <a:solidFill>
            <a:srgbClr val="C8571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4846320" y="3794760"/>
            <a:ext cx="274320" cy="274320"/>
          </a:xfrm>
          <a:prstGeom prst="rect">
            <a:avLst/>
          </a:prstGeom>
          <a:solidFill>
            <a:srgbClr val="E1A48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5120640" y="3794760"/>
            <a:ext cx="274320" cy="274320"/>
          </a:xfrm>
          <a:prstGeom prst="rect">
            <a:avLst/>
          </a:prstGeom>
          <a:solidFill>
            <a:srgbClr val="CE683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5394960" y="3794760"/>
            <a:ext cx="274320" cy="274320"/>
          </a:xfrm>
          <a:prstGeom prst="rect">
            <a:avLst/>
          </a:prstGeom>
          <a:solidFill>
            <a:srgbClr val="C9D5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5669280" y="3794760"/>
            <a:ext cx="274320" cy="274320"/>
          </a:xfrm>
          <a:prstGeom prst="rect">
            <a:avLst/>
          </a:prstGeom>
          <a:solidFill>
            <a:srgbClr val="AABDD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5943600" y="3794760"/>
            <a:ext cx="274320" cy="274320"/>
          </a:xfrm>
          <a:prstGeom prst="rect">
            <a:avLst/>
          </a:prstGeom>
          <a:solidFill>
            <a:srgbClr val="A3B8D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6217920" y="3794760"/>
            <a:ext cx="274320" cy="274320"/>
          </a:xfrm>
          <a:prstGeom prst="rect">
            <a:avLst/>
          </a:prstGeom>
          <a:solidFill>
            <a:srgbClr val="C1CEE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6" name="Text 154"/>
          <p:cNvSpPr txBox="1"/>
          <p:nvPr/>
        </p:nvSpPr>
        <p:spPr>
          <a:xfrm>
            <a:off x="548640" y="40690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10  macd_hist</a:t>
            </a:r>
            <a:endParaRPr lang="en-US" sz="1000" dirty="0"/>
          </a:p>
        </p:txBody>
      </p:sp>
      <p:sp>
        <p:nvSpPr>
          <p:cNvPr id="157" name="Text 155"/>
          <p:cNvSpPr txBox="1"/>
          <p:nvPr/>
        </p:nvSpPr>
        <p:spPr>
          <a:xfrm>
            <a:off x="4846320" y="1325880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10</a:t>
            </a:r>
            <a:endParaRPr lang="en-US" sz="1000" dirty="0"/>
          </a:p>
        </p:txBody>
      </p:sp>
      <p:sp>
        <p:nvSpPr>
          <p:cNvPr id="158" name="Shape 156"/>
          <p:cNvSpPr/>
          <p:nvPr/>
        </p:nvSpPr>
        <p:spPr>
          <a:xfrm>
            <a:off x="2377440" y="4069080"/>
            <a:ext cx="274320" cy="274320"/>
          </a:xfrm>
          <a:prstGeom prst="rect">
            <a:avLst/>
          </a:prstGeom>
          <a:solidFill>
            <a:srgbClr val="F5DFD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2651760" y="4069080"/>
            <a:ext cx="274320" cy="274320"/>
          </a:xfrm>
          <a:prstGeom prst="rect">
            <a:avLst/>
          </a:prstGeom>
          <a:solidFill>
            <a:srgbClr val="D9895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2926080" y="4069080"/>
            <a:ext cx="274320" cy="274320"/>
          </a:xfrm>
          <a:prstGeom prst="rect">
            <a:avLst/>
          </a:prstGeom>
          <a:solidFill>
            <a:srgbClr val="CF6B3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3200400" y="4069080"/>
            <a:ext cx="274320" cy="274320"/>
          </a:xfrm>
          <a:prstGeom prst="rect">
            <a:avLst/>
          </a:prstGeom>
          <a:solidFill>
            <a:srgbClr val="DD997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3474720" y="4069080"/>
            <a:ext cx="274320" cy="274320"/>
          </a:xfrm>
          <a:prstGeom prst="rect">
            <a:avLst/>
          </a:prstGeom>
          <a:solidFill>
            <a:srgbClr val="CF6D3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3749040" y="4069080"/>
            <a:ext cx="274320" cy="274320"/>
          </a:xfrm>
          <a:prstGeom prst="rect">
            <a:avLst/>
          </a:prstGeom>
          <a:solidFill>
            <a:srgbClr val="E7B59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4023360" y="4069080"/>
            <a:ext cx="274320" cy="274320"/>
          </a:xfrm>
          <a:prstGeom prst="rect">
            <a:avLst/>
          </a:prstGeom>
          <a:solidFill>
            <a:srgbClr val="F7E7D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4297680" y="4069080"/>
            <a:ext cx="274320" cy="274320"/>
          </a:xfrm>
          <a:prstGeom prst="rect">
            <a:avLst/>
          </a:prstGeom>
          <a:solidFill>
            <a:srgbClr val="D1DBE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4572000" y="4069080"/>
            <a:ext cx="274320" cy="274320"/>
          </a:xfrm>
          <a:prstGeom prst="rect">
            <a:avLst/>
          </a:prstGeom>
          <a:solidFill>
            <a:srgbClr val="E1A48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4846320" y="4069080"/>
            <a:ext cx="274320" cy="274320"/>
          </a:xfrm>
          <a:prstGeom prst="rect">
            <a:avLst/>
          </a:prstGeom>
          <a:solidFill>
            <a:srgbClr val="C8571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5120640" y="4069080"/>
            <a:ext cx="274320" cy="274320"/>
          </a:xfrm>
          <a:prstGeom prst="rect">
            <a:avLst/>
          </a:prstGeom>
          <a:solidFill>
            <a:srgbClr val="DB906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5394960" y="4069080"/>
            <a:ext cx="274320" cy="274320"/>
          </a:xfrm>
          <a:prstGeom prst="rect">
            <a:avLst/>
          </a:prstGeom>
          <a:solidFill>
            <a:srgbClr val="FBFCF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5669280" y="4069080"/>
            <a:ext cx="274320" cy="274320"/>
          </a:xfrm>
          <a:prstGeom prst="rect">
            <a:avLst/>
          </a:prstGeom>
          <a:solidFill>
            <a:srgbClr val="FDF8F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5943600" y="4069080"/>
            <a:ext cx="274320" cy="274320"/>
          </a:xfrm>
          <a:prstGeom prst="rect">
            <a:avLst/>
          </a:prstGeom>
          <a:solidFill>
            <a:srgbClr val="F7F9F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217920" y="4069080"/>
            <a:ext cx="274320" cy="274320"/>
          </a:xfrm>
          <a:prstGeom prst="rect">
            <a:avLst/>
          </a:prstGeom>
          <a:solidFill>
            <a:srgbClr val="AEC0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3" name="Text 171"/>
          <p:cNvSpPr txBox="1"/>
          <p:nvPr/>
        </p:nvSpPr>
        <p:spPr>
          <a:xfrm>
            <a:off x="548640" y="43434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11  bb_pctb</a:t>
            </a:r>
            <a:endParaRPr lang="en-US" sz="1000" dirty="0"/>
          </a:p>
        </p:txBody>
      </p:sp>
      <p:sp>
        <p:nvSpPr>
          <p:cNvPr id="174" name="Text 172"/>
          <p:cNvSpPr txBox="1"/>
          <p:nvPr/>
        </p:nvSpPr>
        <p:spPr>
          <a:xfrm>
            <a:off x="5120640" y="1325880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11</a:t>
            </a:r>
            <a:endParaRPr lang="en-US" sz="1000" dirty="0"/>
          </a:p>
        </p:txBody>
      </p:sp>
      <p:sp>
        <p:nvSpPr>
          <p:cNvPr id="175" name="Shape 173"/>
          <p:cNvSpPr/>
          <p:nvPr/>
        </p:nvSpPr>
        <p:spPr>
          <a:xfrm>
            <a:off x="2377440" y="4343400"/>
            <a:ext cx="274320" cy="274320"/>
          </a:xfrm>
          <a:prstGeom prst="rect">
            <a:avLst/>
          </a:prstGeom>
          <a:solidFill>
            <a:srgbClr val="EBC1A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2651760" y="4343400"/>
            <a:ext cx="274320" cy="274320"/>
          </a:xfrm>
          <a:prstGeom prst="rect">
            <a:avLst/>
          </a:prstGeom>
          <a:solidFill>
            <a:srgbClr val="DA8D6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2926080" y="4343400"/>
            <a:ext cx="274320" cy="274320"/>
          </a:xfrm>
          <a:prstGeom prst="rect">
            <a:avLst/>
          </a:prstGeom>
          <a:solidFill>
            <a:srgbClr val="D6815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3200400" y="4343400"/>
            <a:ext cx="274320" cy="274320"/>
          </a:xfrm>
          <a:prstGeom prst="rect">
            <a:avLst/>
          </a:prstGeom>
          <a:solidFill>
            <a:srgbClr val="DB906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3474720" y="4343400"/>
            <a:ext cx="274320" cy="274320"/>
          </a:xfrm>
          <a:prstGeom prst="rect">
            <a:avLst/>
          </a:prstGeom>
          <a:solidFill>
            <a:srgbClr val="D2774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3749040" y="4343400"/>
            <a:ext cx="274320" cy="274320"/>
          </a:xfrm>
          <a:prstGeom prst="rect">
            <a:avLst/>
          </a:prstGeom>
          <a:solidFill>
            <a:srgbClr val="DA8D6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4023360" y="4343400"/>
            <a:ext cx="274320" cy="274320"/>
          </a:xfrm>
          <a:prstGeom prst="rect">
            <a:avLst/>
          </a:prstGeom>
          <a:solidFill>
            <a:srgbClr val="E7B79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4297680" y="4343400"/>
            <a:ext cx="274320" cy="274320"/>
          </a:xfrm>
          <a:prstGeom prst="rect">
            <a:avLst/>
          </a:prstGeom>
          <a:solidFill>
            <a:srgbClr val="F3DCC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4572000" y="4343400"/>
            <a:ext cx="274320" cy="274320"/>
          </a:xfrm>
          <a:prstGeom prst="rect">
            <a:avLst/>
          </a:prstGeom>
          <a:solidFill>
            <a:srgbClr val="CE683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4846320" y="4343400"/>
            <a:ext cx="274320" cy="274320"/>
          </a:xfrm>
          <a:prstGeom prst="rect">
            <a:avLst/>
          </a:prstGeom>
          <a:solidFill>
            <a:srgbClr val="DB906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120640" y="4343400"/>
            <a:ext cx="274320" cy="274320"/>
          </a:xfrm>
          <a:prstGeom prst="rect">
            <a:avLst/>
          </a:prstGeom>
          <a:solidFill>
            <a:srgbClr val="C8571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394960" y="4343400"/>
            <a:ext cx="274320" cy="274320"/>
          </a:xfrm>
          <a:prstGeom prst="rect">
            <a:avLst/>
          </a:prstGeom>
          <a:solidFill>
            <a:srgbClr val="E2E8F1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669280" y="4343400"/>
            <a:ext cx="274320" cy="274320"/>
          </a:xfrm>
          <a:prstGeom prst="rect">
            <a:avLst/>
          </a:prstGeom>
          <a:solidFill>
            <a:srgbClr val="D1DBE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943600" y="4343400"/>
            <a:ext cx="274320" cy="274320"/>
          </a:xfrm>
          <a:prstGeom prst="rect">
            <a:avLst/>
          </a:prstGeom>
          <a:solidFill>
            <a:srgbClr val="C9D5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6217920" y="4343400"/>
            <a:ext cx="274320" cy="274320"/>
          </a:xfrm>
          <a:prstGeom prst="rect">
            <a:avLst/>
          </a:prstGeom>
          <a:solidFill>
            <a:srgbClr val="A8BB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0" name="Text 188"/>
          <p:cNvSpPr txBox="1"/>
          <p:nvPr/>
        </p:nvSpPr>
        <p:spPr>
          <a:xfrm>
            <a:off x="548640" y="46177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12  bb_width</a:t>
            </a:r>
            <a:endParaRPr lang="en-US" sz="1000" dirty="0"/>
          </a:p>
        </p:txBody>
      </p:sp>
      <p:sp>
        <p:nvSpPr>
          <p:cNvPr id="191" name="Text 189"/>
          <p:cNvSpPr txBox="1"/>
          <p:nvPr/>
        </p:nvSpPr>
        <p:spPr>
          <a:xfrm>
            <a:off x="5394960" y="1325880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12</a:t>
            </a:r>
            <a:endParaRPr lang="en-US" sz="1000" dirty="0"/>
          </a:p>
        </p:txBody>
      </p:sp>
      <p:sp>
        <p:nvSpPr>
          <p:cNvPr id="192" name="Shape 190"/>
          <p:cNvSpPr/>
          <p:nvPr/>
        </p:nvSpPr>
        <p:spPr>
          <a:xfrm>
            <a:off x="2377440" y="4617720"/>
            <a:ext cx="274320" cy="274320"/>
          </a:xfrm>
          <a:prstGeom prst="rect">
            <a:avLst/>
          </a:prstGeom>
          <a:solidFill>
            <a:srgbClr val="FEFDF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2651760" y="4617720"/>
            <a:ext cx="274320" cy="274320"/>
          </a:xfrm>
          <a:prstGeom prst="rect">
            <a:avLst/>
          </a:prstGeom>
          <a:solidFill>
            <a:srgbClr val="F3F5F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2926080" y="4617720"/>
            <a:ext cx="274320" cy="274320"/>
          </a:xfrm>
          <a:prstGeom prst="rect">
            <a:avLst/>
          </a:prstGeom>
          <a:solidFill>
            <a:srgbClr val="DAE2E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3200400" y="4617720"/>
            <a:ext cx="274320" cy="274320"/>
          </a:xfrm>
          <a:prstGeom prst="rect">
            <a:avLst/>
          </a:prstGeom>
          <a:solidFill>
            <a:srgbClr val="B6C6D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3474720" y="4617720"/>
            <a:ext cx="274320" cy="274320"/>
          </a:xfrm>
          <a:prstGeom prst="rect">
            <a:avLst/>
          </a:prstGeom>
          <a:solidFill>
            <a:srgbClr val="C9D5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3749040" y="4617720"/>
            <a:ext cx="274320" cy="274320"/>
          </a:xfrm>
          <a:prstGeom prst="rect">
            <a:avLst/>
          </a:prstGeom>
          <a:solidFill>
            <a:srgbClr val="95ACC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4023360" y="4617720"/>
            <a:ext cx="274320" cy="274320"/>
          </a:xfrm>
          <a:prstGeom prst="rect">
            <a:avLst/>
          </a:prstGeom>
          <a:solidFill>
            <a:srgbClr val="88A3C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4297680" y="4617720"/>
            <a:ext cx="274320" cy="274320"/>
          </a:xfrm>
          <a:prstGeom prst="rect">
            <a:avLst/>
          </a:prstGeom>
          <a:solidFill>
            <a:srgbClr val="88A3C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4572000" y="4617720"/>
            <a:ext cx="274320" cy="274320"/>
          </a:xfrm>
          <a:prstGeom prst="rect">
            <a:avLst/>
          </a:prstGeom>
          <a:solidFill>
            <a:srgbClr val="C9D5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4846320" y="4617720"/>
            <a:ext cx="274320" cy="274320"/>
          </a:xfrm>
          <a:prstGeom prst="rect">
            <a:avLst/>
          </a:prstGeom>
          <a:solidFill>
            <a:srgbClr val="FBFCF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5120640" y="4617720"/>
            <a:ext cx="274320" cy="274320"/>
          </a:xfrm>
          <a:prstGeom prst="rect">
            <a:avLst/>
          </a:prstGeom>
          <a:solidFill>
            <a:srgbClr val="E2E8F1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5394960" y="4617720"/>
            <a:ext cx="274320" cy="274320"/>
          </a:xfrm>
          <a:prstGeom prst="rect">
            <a:avLst/>
          </a:prstGeom>
          <a:solidFill>
            <a:srgbClr val="C8571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5669280" y="4617720"/>
            <a:ext cx="274320" cy="274320"/>
          </a:xfrm>
          <a:prstGeom prst="rect">
            <a:avLst/>
          </a:prstGeom>
          <a:solidFill>
            <a:srgbClr val="CF6D3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5943600" y="4617720"/>
            <a:ext cx="274320" cy="274320"/>
          </a:xfrm>
          <a:prstGeom prst="rect">
            <a:avLst/>
          </a:prstGeom>
          <a:solidFill>
            <a:srgbClr val="D06F3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6217920" y="4617720"/>
            <a:ext cx="274320" cy="274320"/>
          </a:xfrm>
          <a:prstGeom prst="rect">
            <a:avLst/>
          </a:prstGeom>
          <a:solidFill>
            <a:srgbClr val="F3F5F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07" name="Text 205"/>
          <p:cNvSpPr txBox="1"/>
          <p:nvPr/>
        </p:nvSpPr>
        <p:spPr>
          <a:xfrm>
            <a:off x="548640" y="48920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13  vol_20</a:t>
            </a:r>
            <a:endParaRPr lang="en-US" sz="1000" dirty="0"/>
          </a:p>
        </p:txBody>
      </p:sp>
      <p:sp>
        <p:nvSpPr>
          <p:cNvPr id="208" name="Text 206"/>
          <p:cNvSpPr txBox="1"/>
          <p:nvPr/>
        </p:nvSpPr>
        <p:spPr>
          <a:xfrm>
            <a:off x="5669280" y="1325880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13</a:t>
            </a:r>
            <a:endParaRPr lang="en-US" sz="1000" dirty="0"/>
          </a:p>
        </p:txBody>
      </p:sp>
      <p:sp>
        <p:nvSpPr>
          <p:cNvPr id="209" name="Shape 207"/>
          <p:cNvSpPr/>
          <p:nvPr/>
        </p:nvSpPr>
        <p:spPr>
          <a:xfrm>
            <a:off x="2377440" y="4892040"/>
            <a:ext cx="274320" cy="274320"/>
          </a:xfrm>
          <a:prstGeom prst="rect">
            <a:avLst/>
          </a:prstGeom>
          <a:solidFill>
            <a:srgbClr val="FEFCF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2651760" y="4892040"/>
            <a:ext cx="274320" cy="274320"/>
          </a:xfrm>
          <a:prstGeom prst="rect">
            <a:avLst/>
          </a:prstGeom>
          <a:solidFill>
            <a:srgbClr val="F9FAFC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2926080" y="4892040"/>
            <a:ext cx="274320" cy="274320"/>
          </a:xfrm>
          <a:prstGeom prst="rect">
            <a:avLst/>
          </a:prstGeom>
          <a:solidFill>
            <a:srgbClr val="E0E7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3200400" y="4892040"/>
            <a:ext cx="274320" cy="274320"/>
          </a:xfrm>
          <a:prstGeom prst="rect">
            <a:avLst/>
          </a:prstGeom>
          <a:solidFill>
            <a:srgbClr val="A8BB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3474720" y="4892040"/>
            <a:ext cx="274320" cy="274320"/>
          </a:xfrm>
          <a:prstGeom prst="rect">
            <a:avLst/>
          </a:prstGeom>
          <a:solidFill>
            <a:srgbClr val="C9D5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3749040" y="4892040"/>
            <a:ext cx="274320" cy="274320"/>
          </a:xfrm>
          <a:prstGeom prst="rect">
            <a:avLst/>
          </a:prstGeom>
          <a:solidFill>
            <a:srgbClr val="849FC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4023360" y="4892040"/>
            <a:ext cx="274320" cy="274320"/>
          </a:xfrm>
          <a:prstGeom prst="rect">
            <a:avLst/>
          </a:prstGeom>
          <a:solidFill>
            <a:srgbClr val="7492B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4297680" y="4892040"/>
            <a:ext cx="274320" cy="274320"/>
          </a:xfrm>
          <a:prstGeom prst="rect">
            <a:avLst/>
          </a:prstGeom>
          <a:solidFill>
            <a:srgbClr val="7291B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4572000" y="4892040"/>
            <a:ext cx="274320" cy="274320"/>
          </a:xfrm>
          <a:prstGeom prst="rect">
            <a:avLst/>
          </a:prstGeom>
          <a:solidFill>
            <a:srgbClr val="AABDD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4846320" y="4892040"/>
            <a:ext cx="274320" cy="274320"/>
          </a:xfrm>
          <a:prstGeom prst="rect">
            <a:avLst/>
          </a:prstGeom>
          <a:solidFill>
            <a:srgbClr val="FDF8F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5120640" y="4892040"/>
            <a:ext cx="274320" cy="274320"/>
          </a:xfrm>
          <a:prstGeom prst="rect">
            <a:avLst/>
          </a:prstGeom>
          <a:solidFill>
            <a:srgbClr val="D1DBE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5394960" y="4892040"/>
            <a:ext cx="274320" cy="274320"/>
          </a:xfrm>
          <a:prstGeom prst="rect">
            <a:avLst/>
          </a:prstGeom>
          <a:solidFill>
            <a:srgbClr val="CF6D3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5669280" y="4892040"/>
            <a:ext cx="274320" cy="274320"/>
          </a:xfrm>
          <a:prstGeom prst="rect">
            <a:avLst/>
          </a:prstGeom>
          <a:solidFill>
            <a:srgbClr val="C8571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5943600" y="4892040"/>
            <a:ext cx="274320" cy="274320"/>
          </a:xfrm>
          <a:prstGeom prst="rect">
            <a:avLst/>
          </a:prstGeom>
          <a:solidFill>
            <a:srgbClr val="CA5E2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217920" y="4892040"/>
            <a:ext cx="274320" cy="274320"/>
          </a:xfrm>
          <a:prstGeom prst="rect">
            <a:avLst/>
          </a:prstGeom>
          <a:solidFill>
            <a:srgbClr val="EAEFF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24" name="Text 222"/>
          <p:cNvSpPr txBox="1"/>
          <p:nvPr/>
        </p:nvSpPr>
        <p:spPr>
          <a:xfrm>
            <a:off x="548640" y="51663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14  atr_14_norm</a:t>
            </a:r>
            <a:endParaRPr lang="en-US" sz="1000" dirty="0"/>
          </a:p>
        </p:txBody>
      </p:sp>
      <p:sp>
        <p:nvSpPr>
          <p:cNvPr id="225" name="Text 223"/>
          <p:cNvSpPr txBox="1"/>
          <p:nvPr/>
        </p:nvSpPr>
        <p:spPr>
          <a:xfrm>
            <a:off x="5943600" y="1325880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14</a:t>
            </a:r>
            <a:endParaRPr lang="en-US" sz="1000" dirty="0"/>
          </a:p>
        </p:txBody>
      </p:sp>
      <p:sp>
        <p:nvSpPr>
          <p:cNvPr id="226" name="Shape 224"/>
          <p:cNvSpPr/>
          <p:nvPr/>
        </p:nvSpPr>
        <p:spPr>
          <a:xfrm>
            <a:off x="2377440" y="5166360"/>
            <a:ext cx="274320" cy="274320"/>
          </a:xfrm>
          <a:prstGeom prst="rect">
            <a:avLst/>
          </a:prstGeom>
          <a:solidFill>
            <a:srgbClr val="FDFDF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2651760" y="5166360"/>
            <a:ext cx="274320" cy="274320"/>
          </a:xfrm>
          <a:prstGeom prst="rect">
            <a:avLst/>
          </a:prstGeom>
          <a:solidFill>
            <a:srgbClr val="EAEFF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2926080" y="5166360"/>
            <a:ext cx="274320" cy="274320"/>
          </a:xfrm>
          <a:prstGeom prst="rect">
            <a:avLst/>
          </a:prstGeom>
          <a:solidFill>
            <a:srgbClr val="D1DBE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3200400" y="5166360"/>
            <a:ext cx="274320" cy="274320"/>
          </a:xfrm>
          <a:prstGeom prst="rect">
            <a:avLst/>
          </a:prstGeom>
          <a:solidFill>
            <a:srgbClr val="AABDD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3474720" y="5166360"/>
            <a:ext cx="274320" cy="274320"/>
          </a:xfrm>
          <a:prstGeom prst="rect">
            <a:avLst/>
          </a:prstGeom>
          <a:solidFill>
            <a:srgbClr val="BFCDE1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3749040" y="5166360"/>
            <a:ext cx="274320" cy="274320"/>
          </a:xfrm>
          <a:prstGeom prst="rect">
            <a:avLst/>
          </a:prstGeom>
          <a:solidFill>
            <a:srgbClr val="86A1C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4023360" y="5166360"/>
            <a:ext cx="274320" cy="274320"/>
          </a:xfrm>
          <a:prstGeom prst="rect">
            <a:avLst/>
          </a:prstGeom>
          <a:solidFill>
            <a:srgbClr val="6B8CB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4297680" y="5166360"/>
            <a:ext cx="274320" cy="274320"/>
          </a:xfrm>
          <a:prstGeom prst="rect">
            <a:avLst/>
          </a:prstGeom>
          <a:solidFill>
            <a:srgbClr val="809CC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4572000" y="5166360"/>
            <a:ext cx="274320" cy="274320"/>
          </a:xfrm>
          <a:prstGeom prst="rect">
            <a:avLst/>
          </a:prstGeom>
          <a:solidFill>
            <a:srgbClr val="A3B8D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4846320" y="5166360"/>
            <a:ext cx="274320" cy="274320"/>
          </a:xfrm>
          <a:prstGeom prst="rect">
            <a:avLst/>
          </a:prstGeom>
          <a:solidFill>
            <a:srgbClr val="F7F9F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5120640" y="5166360"/>
            <a:ext cx="274320" cy="274320"/>
          </a:xfrm>
          <a:prstGeom prst="rect">
            <a:avLst/>
          </a:prstGeom>
          <a:solidFill>
            <a:srgbClr val="C9D5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37" name="Shape 235"/>
          <p:cNvSpPr/>
          <p:nvPr/>
        </p:nvSpPr>
        <p:spPr>
          <a:xfrm>
            <a:off x="5394960" y="5166360"/>
            <a:ext cx="274320" cy="274320"/>
          </a:xfrm>
          <a:prstGeom prst="rect">
            <a:avLst/>
          </a:prstGeom>
          <a:solidFill>
            <a:srgbClr val="D06F3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38" name="Shape 236"/>
          <p:cNvSpPr/>
          <p:nvPr/>
        </p:nvSpPr>
        <p:spPr>
          <a:xfrm>
            <a:off x="5669280" y="5166360"/>
            <a:ext cx="274320" cy="274320"/>
          </a:xfrm>
          <a:prstGeom prst="rect">
            <a:avLst/>
          </a:prstGeom>
          <a:solidFill>
            <a:srgbClr val="CA5E2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>
            <a:off x="5943600" y="5166360"/>
            <a:ext cx="274320" cy="274320"/>
          </a:xfrm>
          <a:prstGeom prst="rect">
            <a:avLst/>
          </a:prstGeom>
          <a:solidFill>
            <a:srgbClr val="C8571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40" name="Shape 238"/>
          <p:cNvSpPr/>
          <p:nvPr/>
        </p:nvSpPr>
        <p:spPr>
          <a:xfrm>
            <a:off x="6217920" y="5166360"/>
            <a:ext cx="274320" cy="274320"/>
          </a:xfrm>
          <a:prstGeom prst="rect">
            <a:avLst/>
          </a:prstGeom>
          <a:solidFill>
            <a:srgbClr val="F5F7F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41" name="Text 239"/>
          <p:cNvSpPr txBox="1"/>
          <p:nvPr/>
        </p:nvSpPr>
        <p:spPr>
          <a:xfrm>
            <a:off x="548640" y="54406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15  vol_z20</a:t>
            </a:r>
            <a:endParaRPr lang="en-US" sz="1000" dirty="0"/>
          </a:p>
        </p:txBody>
      </p:sp>
      <p:sp>
        <p:nvSpPr>
          <p:cNvPr id="242" name="Text 240"/>
          <p:cNvSpPr txBox="1"/>
          <p:nvPr/>
        </p:nvSpPr>
        <p:spPr>
          <a:xfrm>
            <a:off x="6217920" y="1325880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15</a:t>
            </a:r>
            <a:endParaRPr lang="en-US" sz="1000" dirty="0"/>
          </a:p>
        </p:txBody>
      </p:sp>
      <p:sp>
        <p:nvSpPr>
          <p:cNvPr id="243" name="Shape 241"/>
          <p:cNvSpPr/>
          <p:nvPr/>
        </p:nvSpPr>
        <p:spPr>
          <a:xfrm>
            <a:off x="2377440" y="5440680"/>
            <a:ext cx="274320" cy="274320"/>
          </a:xfrm>
          <a:prstGeom prst="rect">
            <a:avLst/>
          </a:prstGeom>
          <a:solidFill>
            <a:srgbClr val="CDD8E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44" name="Shape 242"/>
          <p:cNvSpPr/>
          <p:nvPr/>
        </p:nvSpPr>
        <p:spPr>
          <a:xfrm>
            <a:off x="2651760" y="5440680"/>
            <a:ext cx="274320" cy="274320"/>
          </a:xfrm>
          <a:prstGeom prst="rect">
            <a:avLst/>
          </a:prstGeom>
          <a:solidFill>
            <a:srgbClr val="ACBED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45" name="Shape 243"/>
          <p:cNvSpPr/>
          <p:nvPr/>
        </p:nvSpPr>
        <p:spPr>
          <a:xfrm>
            <a:off x="2926080" y="5440680"/>
            <a:ext cx="274320" cy="274320"/>
          </a:xfrm>
          <a:prstGeom prst="rect">
            <a:avLst/>
          </a:prstGeom>
          <a:solidFill>
            <a:srgbClr val="B2C3D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46" name="Shape 244"/>
          <p:cNvSpPr/>
          <p:nvPr/>
        </p:nvSpPr>
        <p:spPr>
          <a:xfrm>
            <a:off x="3200400" y="5440680"/>
            <a:ext cx="274320" cy="274320"/>
          </a:xfrm>
          <a:prstGeom prst="rect">
            <a:avLst/>
          </a:prstGeom>
          <a:solidFill>
            <a:srgbClr val="D3DDE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47" name="Shape 245"/>
          <p:cNvSpPr/>
          <p:nvPr/>
        </p:nvSpPr>
        <p:spPr>
          <a:xfrm>
            <a:off x="3474720" y="5440680"/>
            <a:ext cx="274320" cy="274320"/>
          </a:xfrm>
          <a:prstGeom prst="rect">
            <a:avLst/>
          </a:prstGeom>
          <a:solidFill>
            <a:srgbClr val="B2C3D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48" name="Shape 246"/>
          <p:cNvSpPr/>
          <p:nvPr/>
        </p:nvSpPr>
        <p:spPr>
          <a:xfrm>
            <a:off x="3749040" y="5440680"/>
            <a:ext cx="274320" cy="274320"/>
          </a:xfrm>
          <a:prstGeom prst="rect">
            <a:avLst/>
          </a:prstGeom>
          <a:solidFill>
            <a:srgbClr val="DCE3E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49" name="Shape 247"/>
          <p:cNvSpPr/>
          <p:nvPr/>
        </p:nvSpPr>
        <p:spPr>
          <a:xfrm>
            <a:off x="4023360" y="5440680"/>
            <a:ext cx="274320" cy="274320"/>
          </a:xfrm>
          <a:prstGeom prst="rect">
            <a:avLst/>
          </a:prstGeom>
          <a:solidFill>
            <a:srgbClr val="FBFCF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50" name="Shape 248"/>
          <p:cNvSpPr/>
          <p:nvPr/>
        </p:nvSpPr>
        <p:spPr>
          <a:xfrm>
            <a:off x="4297680" y="5440680"/>
            <a:ext cx="274320" cy="274320"/>
          </a:xfrm>
          <a:prstGeom prst="rect">
            <a:avLst/>
          </a:prstGeom>
          <a:solidFill>
            <a:srgbClr val="F8E9E1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51" name="Shape 249"/>
          <p:cNvSpPr/>
          <p:nvPr/>
        </p:nvSpPr>
        <p:spPr>
          <a:xfrm>
            <a:off x="4572000" y="5440680"/>
            <a:ext cx="274320" cy="274320"/>
          </a:xfrm>
          <a:prstGeom prst="rect">
            <a:avLst/>
          </a:prstGeom>
          <a:solidFill>
            <a:srgbClr val="C1CEE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52" name="Shape 250"/>
          <p:cNvSpPr/>
          <p:nvPr/>
        </p:nvSpPr>
        <p:spPr>
          <a:xfrm>
            <a:off x="4846320" y="5440680"/>
            <a:ext cx="274320" cy="274320"/>
          </a:xfrm>
          <a:prstGeom prst="rect">
            <a:avLst/>
          </a:prstGeom>
          <a:solidFill>
            <a:srgbClr val="AEC0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53" name="Shape 251"/>
          <p:cNvSpPr/>
          <p:nvPr/>
        </p:nvSpPr>
        <p:spPr>
          <a:xfrm>
            <a:off x="5120640" y="5440680"/>
            <a:ext cx="274320" cy="274320"/>
          </a:xfrm>
          <a:prstGeom prst="rect">
            <a:avLst/>
          </a:prstGeom>
          <a:solidFill>
            <a:srgbClr val="A8BB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54" name="Shape 252"/>
          <p:cNvSpPr/>
          <p:nvPr/>
        </p:nvSpPr>
        <p:spPr>
          <a:xfrm>
            <a:off x="5394960" y="5440680"/>
            <a:ext cx="274320" cy="274320"/>
          </a:xfrm>
          <a:prstGeom prst="rect">
            <a:avLst/>
          </a:prstGeom>
          <a:solidFill>
            <a:srgbClr val="F3F5F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55" name="Shape 253"/>
          <p:cNvSpPr/>
          <p:nvPr/>
        </p:nvSpPr>
        <p:spPr>
          <a:xfrm>
            <a:off x="5669280" y="5440680"/>
            <a:ext cx="274320" cy="274320"/>
          </a:xfrm>
          <a:prstGeom prst="rect">
            <a:avLst/>
          </a:prstGeom>
          <a:solidFill>
            <a:srgbClr val="EAEFF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56" name="Shape 254"/>
          <p:cNvSpPr/>
          <p:nvPr/>
        </p:nvSpPr>
        <p:spPr>
          <a:xfrm>
            <a:off x="5943600" y="5440680"/>
            <a:ext cx="274320" cy="274320"/>
          </a:xfrm>
          <a:prstGeom prst="rect">
            <a:avLst/>
          </a:prstGeom>
          <a:solidFill>
            <a:srgbClr val="F5F7F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57" name="Shape 255"/>
          <p:cNvSpPr/>
          <p:nvPr/>
        </p:nvSpPr>
        <p:spPr>
          <a:xfrm>
            <a:off x="6217920" y="5440680"/>
            <a:ext cx="274320" cy="274320"/>
          </a:xfrm>
          <a:prstGeom prst="rect">
            <a:avLst/>
          </a:prstGeom>
          <a:solidFill>
            <a:srgbClr val="C8571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58" name="Text 256"/>
          <p:cNvSpPr txBox="1"/>
          <p:nvPr/>
        </p:nvSpPr>
        <p:spPr>
          <a:xfrm>
            <a:off x="548640" y="580644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3"/>
                </a:solidFill>
              </a:rPr>
              <a:t>Orange = positive, blue = negative correlation; darker = stronger.</a:t>
            </a:r>
            <a:endParaRPr lang="en-US" sz="1200" dirty="0"/>
          </a:p>
        </p:txBody>
      </p:sp>
      <p:sp>
        <p:nvSpPr>
          <p:cNvPr id="259" name="Shape 257"/>
          <p:cNvSpPr/>
          <p:nvPr/>
        </p:nvSpPr>
        <p:spPr>
          <a:xfrm>
            <a:off x="6949440" y="1371600"/>
            <a:ext cx="4690872" cy="2377440"/>
          </a:xfrm>
          <a:prstGeom prst="roundRect">
            <a:avLst>
              <a:gd name="adj" fmla="val 384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60" name="Text 258"/>
          <p:cNvSpPr txBox="1"/>
          <p:nvPr/>
        </p:nvSpPr>
        <p:spPr>
          <a:xfrm>
            <a:off x="7178040" y="1554480"/>
            <a:ext cx="4233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Overlapping indicators</a:t>
            </a:r>
            <a:endParaRPr lang="en-US" sz="1700" dirty="0"/>
          </a:p>
        </p:txBody>
      </p:sp>
      <p:sp>
        <p:nvSpPr>
          <p:cNvPr id="261" name="Text 259"/>
          <p:cNvSpPr txBox="1"/>
          <p:nvPr/>
        </p:nvSpPr>
        <p:spPr>
          <a:xfrm>
            <a:off x="7178040" y="2057400"/>
            <a:ext cx="423367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11 feature pairs have a correlation above 0.8 in absolute value — for example 10-day return with price vs its 20-day average (0.91), RSI with Bollinger %B (0.90), and the three volatility measures (up to 0.96).</a:t>
            </a:r>
            <a:endParaRPr lang="en-US" sz="1300" dirty="0"/>
          </a:p>
        </p:txBody>
      </p:sp>
      <p:sp>
        <p:nvSpPr>
          <p:cNvPr id="262" name="Shape 260"/>
          <p:cNvSpPr/>
          <p:nvPr/>
        </p:nvSpPr>
        <p:spPr>
          <a:xfrm>
            <a:off x="6949440" y="3931920"/>
            <a:ext cx="4690872" cy="1920240"/>
          </a:xfrm>
          <a:prstGeom prst="roundRect">
            <a:avLst>
              <a:gd name="adj" fmla="val 476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63" name="Text 261"/>
          <p:cNvSpPr txBox="1"/>
          <p:nvPr/>
        </p:nvSpPr>
        <p:spPr>
          <a:xfrm>
            <a:off x="7178040" y="4114800"/>
            <a:ext cx="4233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Effect on the models</a:t>
            </a:r>
            <a:endParaRPr lang="en-US" sz="1700" dirty="0"/>
          </a:p>
        </p:txBody>
      </p:sp>
      <p:sp>
        <p:nvSpPr>
          <p:cNvPr id="264" name="Text 262"/>
          <p:cNvSpPr txBox="1"/>
          <p:nvPr/>
        </p:nvSpPr>
        <p:spPr>
          <a:xfrm>
            <a:off x="7178040" y="4617720"/>
            <a:ext cx="42336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v1 tested a compact 8-feature set to reduce this redundancy; it did not improve validation results, so all 15 features were kept.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PY Signal">
  <a:themeElements>
    <a:clrScheme name="SPY Signal">
      <a:dk1>
        <a:srgbClr val="14213D"/>
      </a:dk1>
      <a:lt1>
        <a:srgbClr val="FFFFFF"/>
      </a:lt1>
      <a:dk2>
        <a:srgbClr val="3B4A63"/>
      </a:dk2>
      <a:lt2>
        <a:srgbClr val="EEF1F6"/>
      </a:lt2>
      <a:accent1>
        <a:srgbClr val="C8571B"/>
      </a:accent1>
      <a:accent2>
        <a:srgbClr val="2F5D9E"/>
      </a:accent2>
      <a:accent3>
        <a:srgbClr val="8A96A8"/>
      </a:accent3>
      <a:accent4>
        <a:srgbClr val="E9A46A"/>
      </a:accent4>
      <a:accent5>
        <a:srgbClr val="4E7D5B"/>
      </a:accent5>
      <a:accent6>
        <a:srgbClr val="6B4F96"/>
      </a:accent6>
      <a:hlink>
        <a:srgbClr val="2F5D9E"/>
      </a:hlink>
      <a:folHlink>
        <a:srgbClr val="6B4F96"/>
      </a:folHlink>
    </a:clrScheme>
    <a:fontScheme name="SPY Signal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SPY weekly Buy / Hold / Sell model</dc:title>
  <dc:subject>PptxGenJS Presentation</dc:subject>
  <dc:creator>Module 3 Group 7</dc:creator>
  <cp:lastModifiedBy>Module 3 Group 7</cp:lastModifiedBy>
  <cp:revision>1</cp:revision>
  <dcterms:created xsi:type="dcterms:W3CDTF">2026-10-22T13:48:27Z</dcterms:created>
  <dcterms:modified xsi:type="dcterms:W3CDTF">2026-10-22T13:48:27Z</dcterms:modified>
</cp:coreProperties>
</file>