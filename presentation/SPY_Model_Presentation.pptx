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bjective and approach" id="{2f99c676-4715-6e5a-bd38-c3e35d7e1a60}">
          <p14:sldIdLst>
            <p14:sldId id="256"/>
            <p14:sldId id="257"/>
            <p14:sldId id="258"/>
          </p14:sldIdLst>
        </p14:section>
        <p14:section name="Method" id="{7e1f47c3-7050-705d-3108-fc5e98f319da}">
          <p14:sldIdLst>
            <p14:sldId id="259"/>
            <p14:sldId id="260"/>
            <p14:sldId id="261"/>
            <p14:sldId id="262"/>
          </p14:sldIdLst>
        </p14:section>
        <p14:section name="Results" id="{28a4d26a-c73e-597d-6789-18eb82bc7c80}">
          <p14:sldIdLst>
            <p14:sldId id="263"/>
            <p14:sldId id="264"/>
            <p14:sldId id="265"/>
          </p14:sldIdLst>
        </p14:section>
        <p14:section name="Interpretation" id="{bf7c321c-47f3-e3b4-7cfe-51082661c6cb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Appendix" id="{7981338e-f557-bfee-660f-e45b50fc823b}">
          <p14:sldIdLst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213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4213D"/>
                </a:solidFill>
                <a:latin typeface="+mn-lt"/>
              </a:rPr>
              <a:t>v1 model selection: validation macro-F1 (2021–22)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Validation macro-F1</c:v>
                </c:pt>
              </c:strCache>
            </c:strRef>
          </c:tx>
          <c:spPr>
            <a:solidFill>
              <a:srgbClr val="C8571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571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A96A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A96A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B4A6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A96A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Random forest</c:v>
                  </c:pt>
                  <c:pt idx="1">
                    <c:v>Logistic regression + SMOTE</c:v>
                  </c:pt>
                  <c:pt idx="2">
                    <c:v>Logistic regression</c:v>
                  </c:pt>
                  <c:pt idx="3">
                    <c:v>Stratified random baseline</c:v>
                  </c:pt>
                  <c:pt idx="4">
                    <c:v>Gradient boosting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0.4036</c:v>
                </c:pt>
                <c:pt idx="1">
                  <c:v>0.364</c:v>
                </c:pt>
                <c:pt idx="2">
                  <c:v>0.3593</c:v>
                </c:pt>
                <c:pt idx="3">
                  <c:v>0.3328</c:v>
                </c:pt>
                <c:pt idx="4">
                  <c:v>0.322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B4A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B4A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213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4213D"/>
                </a:solidFill>
                <a:latin typeface="+mn-lt"/>
              </a:rPr>
              <a:t>$100,000 invested, test period 2023–24, after costs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Buy &amp; Hold (= v3)</c:v>
                </c:pt>
              </c:strCache>
            </c:strRef>
          </c:tx>
          <c:spPr>
            <a:solidFill>
              <a:srgbClr val="14213D"/>
            </a:solidFill>
            <a:ln w="31750" cap="flat">
              <a:solidFill>
                <a:srgbClr val="1421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4213D"/>
              </a:solidFill>
              <a:ln w="9525" cap="flat">
                <a:solidFill>
                  <a:srgbClr val="1421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Sheet1!$A$2:$A$103</c:f>
              <c:multiLvlStrCache>
                <c:ptCount val="102"/>
                <c:lvl>
                  <c:pt idx="0">
                    <c:v>Jan 23</c:v>
                  </c:pt>
                  <c:pt idx="1">
                    <c:v>Jan 23</c:v>
                  </c:pt>
                  <c:pt idx="2">
                    <c:v>Jan 23</c:v>
                  </c:pt>
                  <c:pt idx="3">
                    <c:v>Jan 23</c:v>
                  </c:pt>
                  <c:pt idx="4">
                    <c:v>Feb 23</c:v>
                  </c:pt>
                  <c:pt idx="5">
                    <c:v>Feb 23</c:v>
                  </c:pt>
                  <c:pt idx="6">
                    <c:v>Feb 23</c:v>
                  </c:pt>
                  <c:pt idx="7">
                    <c:v>Feb 23</c:v>
                  </c:pt>
                  <c:pt idx="8">
                    <c:v>Mar 23</c:v>
                  </c:pt>
                  <c:pt idx="9">
                    <c:v>Mar 23</c:v>
                  </c:pt>
                  <c:pt idx="10">
                    <c:v>Mar 23</c:v>
                  </c:pt>
                  <c:pt idx="11">
                    <c:v>Mar 23</c:v>
                  </c:pt>
                  <c:pt idx="12">
                    <c:v>Mar 23</c:v>
                  </c:pt>
                  <c:pt idx="13">
                    <c:v>Apr 23</c:v>
                  </c:pt>
                  <c:pt idx="14">
                    <c:v>Apr 23</c:v>
                  </c:pt>
                  <c:pt idx="15">
                    <c:v>Apr 23</c:v>
                  </c:pt>
                  <c:pt idx="16">
                    <c:v>Apr 23</c:v>
                  </c:pt>
                  <c:pt idx="17">
                    <c:v>May 23</c:v>
                  </c:pt>
                  <c:pt idx="18">
                    <c:v>May 23</c:v>
                  </c:pt>
                  <c:pt idx="19">
                    <c:v>May 23</c:v>
                  </c:pt>
                  <c:pt idx="20">
                    <c:v>May 23</c:v>
                  </c:pt>
                  <c:pt idx="21">
                    <c:v>Jun 23</c:v>
                  </c:pt>
                  <c:pt idx="22">
                    <c:v>Jun 23</c:v>
                  </c:pt>
                  <c:pt idx="23">
                    <c:v>Jun 23</c:v>
                  </c:pt>
                  <c:pt idx="24">
                    <c:v>Jun 23</c:v>
                  </c:pt>
                  <c:pt idx="25">
                    <c:v>Jul 23</c:v>
                  </c:pt>
                  <c:pt idx="26">
                    <c:v>Jul 23</c:v>
                  </c:pt>
                  <c:pt idx="27">
                    <c:v>Jul 23</c:v>
                  </c:pt>
                  <c:pt idx="28">
                    <c:v>Jul 23</c:v>
                  </c:pt>
                  <c:pt idx="29">
                    <c:v>Aug 23</c:v>
                  </c:pt>
                  <c:pt idx="30">
                    <c:v>Aug 23</c:v>
                  </c:pt>
                  <c:pt idx="31">
                    <c:v>Aug 23</c:v>
                  </c:pt>
                  <c:pt idx="32">
                    <c:v>Aug 23</c:v>
                  </c:pt>
                  <c:pt idx="33">
                    <c:v>Aug 23</c:v>
                  </c:pt>
                  <c:pt idx="34">
                    <c:v>Sep 23</c:v>
                  </c:pt>
                  <c:pt idx="35">
                    <c:v>Sep 23</c:v>
                  </c:pt>
                  <c:pt idx="36">
                    <c:v>Sep 23</c:v>
                  </c:pt>
                  <c:pt idx="37">
                    <c:v>Sep 23</c:v>
                  </c:pt>
                  <c:pt idx="38">
                    <c:v>Oct 23</c:v>
                  </c:pt>
                  <c:pt idx="39">
                    <c:v>Oct 23</c:v>
                  </c:pt>
                  <c:pt idx="40">
                    <c:v>Oct 23</c:v>
                  </c:pt>
                  <c:pt idx="41">
                    <c:v>Oct 23</c:v>
                  </c:pt>
                  <c:pt idx="42">
                    <c:v>Nov 23</c:v>
                  </c:pt>
                  <c:pt idx="43">
                    <c:v>Nov 23</c:v>
                  </c:pt>
                  <c:pt idx="44">
                    <c:v>Nov 23</c:v>
                  </c:pt>
                  <c:pt idx="45">
                    <c:v>Nov 23</c:v>
                  </c:pt>
                  <c:pt idx="46">
                    <c:v>Dec 23</c:v>
                  </c:pt>
                  <c:pt idx="47">
                    <c:v>Dec 23</c:v>
                  </c:pt>
                  <c:pt idx="48">
                    <c:v>Dec 23</c:v>
                  </c:pt>
                  <c:pt idx="49">
                    <c:v>Dec 23</c:v>
                  </c:pt>
                  <c:pt idx="50">
                    <c:v>Jan 24</c:v>
                  </c:pt>
                  <c:pt idx="51">
                    <c:v>Jan 24</c:v>
                  </c:pt>
                  <c:pt idx="52">
                    <c:v>Jan 24</c:v>
                  </c:pt>
                  <c:pt idx="53">
                    <c:v>Jan 24</c:v>
                  </c:pt>
                  <c:pt idx="54">
                    <c:v>Jan 24</c:v>
                  </c:pt>
                  <c:pt idx="55">
                    <c:v>Feb 24</c:v>
                  </c:pt>
                  <c:pt idx="56">
                    <c:v>Feb 24</c:v>
                  </c:pt>
                  <c:pt idx="57">
                    <c:v>Feb 24</c:v>
                  </c:pt>
                  <c:pt idx="58">
                    <c:v>Feb 24</c:v>
                  </c:pt>
                  <c:pt idx="59">
                    <c:v>Mar 24</c:v>
                  </c:pt>
                  <c:pt idx="60">
                    <c:v>Mar 24</c:v>
                  </c:pt>
                  <c:pt idx="61">
                    <c:v>Mar 24</c:v>
                  </c:pt>
                  <c:pt idx="62">
                    <c:v>Mar 24</c:v>
                  </c:pt>
                  <c:pt idx="63">
                    <c:v>Apr 24</c:v>
                  </c:pt>
                  <c:pt idx="64">
                    <c:v>Apr 24</c:v>
                  </c:pt>
                  <c:pt idx="65">
                    <c:v>Apr 24</c:v>
                  </c:pt>
                  <c:pt idx="66">
                    <c:v>Apr 24</c:v>
                  </c:pt>
                  <c:pt idx="67">
                    <c:v>May 24</c:v>
                  </c:pt>
                  <c:pt idx="68">
                    <c:v>May 24</c:v>
                  </c:pt>
                  <c:pt idx="69">
                    <c:v>May 24</c:v>
                  </c:pt>
                  <c:pt idx="70">
                    <c:v>May 24</c:v>
                  </c:pt>
                  <c:pt idx="71">
                    <c:v>Jun 24</c:v>
                  </c:pt>
                  <c:pt idx="72">
                    <c:v>Jun 24</c:v>
                  </c:pt>
                  <c:pt idx="73">
                    <c:v>Jun 24</c:v>
                  </c:pt>
                  <c:pt idx="74">
                    <c:v>Jun 24</c:v>
                  </c:pt>
                  <c:pt idx="75">
                    <c:v>Jul 24</c:v>
                  </c:pt>
                  <c:pt idx="76">
                    <c:v>Jul 24</c:v>
                  </c:pt>
                  <c:pt idx="77">
                    <c:v>Jul 24</c:v>
                  </c:pt>
                  <c:pt idx="78">
                    <c:v>Jul 24</c:v>
                  </c:pt>
                  <c:pt idx="79">
                    <c:v>Jul 24</c:v>
                  </c:pt>
                  <c:pt idx="80">
                    <c:v>Aug 24</c:v>
                  </c:pt>
                  <c:pt idx="81">
                    <c:v>Aug 24</c:v>
                  </c:pt>
                  <c:pt idx="82">
                    <c:v>Aug 24</c:v>
                  </c:pt>
                  <c:pt idx="83">
                    <c:v>Aug 24</c:v>
                  </c:pt>
                  <c:pt idx="84">
                    <c:v>Sep 24</c:v>
                  </c:pt>
                  <c:pt idx="85">
                    <c:v>Sep 24</c:v>
                  </c:pt>
                  <c:pt idx="86">
                    <c:v>Sep 24</c:v>
                  </c:pt>
                  <c:pt idx="87">
                    <c:v>Sep 24</c:v>
                  </c:pt>
                  <c:pt idx="88">
                    <c:v>Oct 24</c:v>
                  </c:pt>
                  <c:pt idx="89">
                    <c:v>Oct 24</c:v>
                  </c:pt>
                  <c:pt idx="90">
                    <c:v>Oct 24</c:v>
                  </c:pt>
                  <c:pt idx="91">
                    <c:v>Oct 24</c:v>
                  </c:pt>
                  <c:pt idx="92">
                    <c:v>Oct 24</c:v>
                  </c:pt>
                  <c:pt idx="93">
                    <c:v>Nov 24</c:v>
                  </c:pt>
                  <c:pt idx="94">
                    <c:v>Nov 24</c:v>
                  </c:pt>
                  <c:pt idx="95">
                    <c:v>Nov 24</c:v>
                  </c:pt>
                  <c:pt idx="96">
                    <c:v>Nov 24</c:v>
                  </c:pt>
                  <c:pt idx="97">
                    <c:v>Dec 24</c:v>
                  </c:pt>
                  <c:pt idx="98">
                    <c:v>Dec 24</c:v>
                  </c:pt>
                  <c:pt idx="99">
                    <c:v>Dec 24</c:v>
                  </c:pt>
                  <c:pt idx="100">
                    <c:v>Dec 24</c:v>
                  </c:pt>
                  <c:pt idx="101">
                    <c:v>Dec 24</c:v>
                  </c:pt>
                </c:lvl>
              </c:multiLvlStrCache>
            </c:multiLvlStrRef>
          </c:cat>
          <c:val>
            <c:numRef>
              <c:f>Sheet1!$B$2:$B$103</c:f>
              <c:numCache>
                <c:formatCode>General</c:formatCode>
                <c:ptCount val="102"/>
                <c:pt idx="0">
                  <c:v>98928</c:v>
                </c:pt>
                <c:pt idx="1">
                  <c:v>101463</c:v>
                </c:pt>
                <c:pt idx="2">
                  <c:v>101700</c:v>
                </c:pt>
                <c:pt idx="3">
                  <c:v>104001</c:v>
                </c:pt>
                <c:pt idx="4">
                  <c:v>106716</c:v>
                </c:pt>
                <c:pt idx="5">
                  <c:v>106677</c:v>
                </c:pt>
                <c:pt idx="6">
                  <c:v>107542</c:v>
                </c:pt>
                <c:pt idx="7">
                  <c:v>104082</c:v>
                </c:pt>
                <c:pt idx="8">
                  <c:v>103342</c:v>
                </c:pt>
                <c:pt idx="9">
                  <c:v>101718</c:v>
                </c:pt>
                <c:pt idx="10">
                  <c:v>102900</c:v>
                </c:pt>
                <c:pt idx="11">
                  <c:v>102526</c:v>
                </c:pt>
                <c:pt idx="12">
                  <c:v>105272</c:v>
                </c:pt>
                <c:pt idx="13">
                  <c:v>106704</c:v>
                </c:pt>
                <c:pt idx="14">
                  <c:v>107556</c:v>
                </c:pt>
                <c:pt idx="15">
                  <c:v>107488</c:v>
                </c:pt>
                <c:pt idx="16">
                  <c:v>108461</c:v>
                </c:pt>
                <c:pt idx="17">
                  <c:v>107601</c:v>
                </c:pt>
                <c:pt idx="18">
                  <c:v>107329</c:v>
                </c:pt>
                <c:pt idx="19">
                  <c:v>109163</c:v>
                </c:pt>
                <c:pt idx="20">
                  <c:v>109528</c:v>
                </c:pt>
                <c:pt idx="21">
                  <c:v>111374</c:v>
                </c:pt>
                <c:pt idx="22">
                  <c:v>113121</c:v>
                </c:pt>
                <c:pt idx="23">
                  <c:v>114426</c:v>
                </c:pt>
                <c:pt idx="24">
                  <c:v>114162</c:v>
                </c:pt>
                <c:pt idx="25">
                  <c:v>115983</c:v>
                </c:pt>
                <c:pt idx="26">
                  <c:v>116740</c:v>
                </c:pt>
                <c:pt idx="27">
                  <c:v>119142</c:v>
                </c:pt>
                <c:pt idx="28">
                  <c:v>119223</c:v>
                </c:pt>
                <c:pt idx="29">
                  <c:v>117815</c:v>
                </c:pt>
                <c:pt idx="30">
                  <c:v>116669</c:v>
                </c:pt>
                <c:pt idx="31">
                  <c:v>115070</c:v>
                </c:pt>
                <c:pt idx="32">
                  <c:v>115957</c:v>
                </c:pt>
                <c:pt idx="33">
                  <c:v>118046</c:v>
                </c:pt>
                <c:pt idx="34">
                  <c:v>116433</c:v>
                </c:pt>
                <c:pt idx="35">
                  <c:v>117876</c:v>
                </c:pt>
                <c:pt idx="36">
                  <c:v>113309</c:v>
                </c:pt>
                <c:pt idx="37">
                  <c:v>112555</c:v>
                </c:pt>
                <c:pt idx="38">
                  <c:v>111499</c:v>
                </c:pt>
                <c:pt idx="39">
                  <c:v>113905</c:v>
                </c:pt>
                <c:pt idx="40">
                  <c:v>112006</c:v>
                </c:pt>
                <c:pt idx="41">
                  <c:v>108360</c:v>
                </c:pt>
                <c:pt idx="42">
                  <c:v>113143</c:v>
                </c:pt>
                <c:pt idx="43">
                  <c:v>113952</c:v>
                </c:pt>
                <c:pt idx="44">
                  <c:v>118257</c:v>
                </c:pt>
                <c:pt idx="45">
                  <c:v>119589</c:v>
                </c:pt>
                <c:pt idx="46">
                  <c:v>120587</c:v>
                </c:pt>
                <c:pt idx="47">
                  <c:v>120876</c:v>
                </c:pt>
                <c:pt idx="48">
                  <c:v>123774</c:v>
                </c:pt>
                <c:pt idx="49">
                  <c:v>124913</c:v>
                </c:pt>
                <c:pt idx="50">
                  <c:v>124649</c:v>
                </c:pt>
                <c:pt idx="51">
                  <c:v>124974</c:v>
                </c:pt>
                <c:pt idx="52">
                  <c:v>124554</c:v>
                </c:pt>
                <c:pt idx="53">
                  <c:v>128009</c:v>
                </c:pt>
                <c:pt idx="54">
                  <c:v>127347</c:v>
                </c:pt>
                <c:pt idx="55">
                  <c:v>131361</c:v>
                </c:pt>
                <c:pt idx="56">
                  <c:v>131485</c:v>
                </c:pt>
                <c:pt idx="57">
                  <c:v>133840</c:v>
                </c:pt>
                <c:pt idx="58">
                  <c:v>133993</c:v>
                </c:pt>
                <c:pt idx="59">
                  <c:v>135768</c:v>
                </c:pt>
                <c:pt idx="60">
                  <c:v>135805</c:v>
                </c:pt>
                <c:pt idx="61">
                  <c:v>138145</c:v>
                </c:pt>
                <c:pt idx="62">
                  <c:v>138375</c:v>
                </c:pt>
                <c:pt idx="63">
                  <c:v>137147</c:v>
                </c:pt>
                <c:pt idx="64">
                  <c:v>135142</c:v>
                </c:pt>
                <c:pt idx="65">
                  <c:v>130992</c:v>
                </c:pt>
                <c:pt idx="66">
                  <c:v>134457</c:v>
                </c:pt>
                <c:pt idx="67">
                  <c:v>135259</c:v>
                </c:pt>
                <c:pt idx="68">
                  <c:v>137785</c:v>
                </c:pt>
                <c:pt idx="69">
                  <c:v>140063</c:v>
                </c:pt>
                <c:pt idx="70">
                  <c:v>140060</c:v>
                </c:pt>
                <c:pt idx="71">
                  <c:v>139626</c:v>
                </c:pt>
                <c:pt idx="72">
                  <c:v>141706</c:v>
                </c:pt>
                <c:pt idx="73">
                  <c:v>144732</c:v>
                </c:pt>
                <c:pt idx="74">
                  <c:v>144596</c:v>
                </c:pt>
                <c:pt idx="75">
                  <c:v>145706</c:v>
                </c:pt>
                <c:pt idx="76">
                  <c:v>148973</c:v>
                </c:pt>
                <c:pt idx="77">
                  <c:v>147810</c:v>
                </c:pt>
                <c:pt idx="78">
                  <c:v>143641</c:v>
                </c:pt>
                <c:pt idx="79">
                  <c:v>146183</c:v>
                </c:pt>
                <c:pt idx="80">
                  <c:v>137651</c:v>
                </c:pt>
                <c:pt idx="81">
                  <c:v>144310</c:v>
                </c:pt>
                <c:pt idx="82">
                  <c:v>148787</c:v>
                </c:pt>
                <c:pt idx="83">
                  <c:v>148171</c:v>
                </c:pt>
                <c:pt idx="84">
                  <c:v>145865</c:v>
                </c:pt>
                <c:pt idx="85">
                  <c:v>148381</c:v>
                </c:pt>
                <c:pt idx="86">
                  <c:v>151537</c:v>
                </c:pt>
                <c:pt idx="87">
                  <c:v>152353</c:v>
                </c:pt>
                <c:pt idx="88">
                  <c:v>151160</c:v>
                </c:pt>
                <c:pt idx="89">
                  <c:v>153372</c:v>
                </c:pt>
                <c:pt idx="90">
                  <c:v>155028</c:v>
                </c:pt>
                <c:pt idx="91">
                  <c:v>154200</c:v>
                </c:pt>
                <c:pt idx="92">
                  <c:v>151378</c:v>
                </c:pt>
                <c:pt idx="93">
                  <c:v>158558</c:v>
                </c:pt>
                <c:pt idx="94">
                  <c:v>157956</c:v>
                </c:pt>
                <c:pt idx="95">
                  <c:v>158042</c:v>
                </c:pt>
                <c:pt idx="96">
                  <c:v>160406</c:v>
                </c:pt>
                <c:pt idx="97">
                  <c:v>161806</c:v>
                </c:pt>
                <c:pt idx="98">
                  <c:v>160848</c:v>
                </c:pt>
                <c:pt idx="99">
                  <c:v>157900</c:v>
                </c:pt>
                <c:pt idx="100">
                  <c:v>157118</c:v>
                </c:pt>
                <c:pt idx="101">
                  <c:v>156546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v1 weekly</c:v>
                </c:pt>
              </c:strCache>
            </c:strRef>
          </c:tx>
          <c:spPr>
            <a:solidFill>
              <a:srgbClr val="C8571B"/>
            </a:solidFill>
            <a:ln w="31750" cap="flat">
              <a:solidFill>
                <a:srgbClr val="C8571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8571B"/>
              </a:solidFill>
              <a:ln w="9525" cap="flat">
                <a:solidFill>
                  <a:srgbClr val="C8571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Sheet1!$A$2:$A$103</c:f>
              <c:multiLvlStrCache>
                <c:ptCount val="102"/>
                <c:lvl>
                  <c:pt idx="0">
                    <c:v>Jan 23</c:v>
                  </c:pt>
                  <c:pt idx="1">
                    <c:v>Jan 23</c:v>
                  </c:pt>
                  <c:pt idx="2">
                    <c:v>Jan 23</c:v>
                  </c:pt>
                  <c:pt idx="3">
                    <c:v>Jan 23</c:v>
                  </c:pt>
                  <c:pt idx="4">
                    <c:v>Feb 23</c:v>
                  </c:pt>
                  <c:pt idx="5">
                    <c:v>Feb 23</c:v>
                  </c:pt>
                  <c:pt idx="6">
                    <c:v>Feb 23</c:v>
                  </c:pt>
                  <c:pt idx="7">
                    <c:v>Feb 23</c:v>
                  </c:pt>
                  <c:pt idx="8">
                    <c:v>Mar 23</c:v>
                  </c:pt>
                  <c:pt idx="9">
                    <c:v>Mar 23</c:v>
                  </c:pt>
                  <c:pt idx="10">
                    <c:v>Mar 23</c:v>
                  </c:pt>
                  <c:pt idx="11">
                    <c:v>Mar 23</c:v>
                  </c:pt>
                  <c:pt idx="12">
                    <c:v>Mar 23</c:v>
                  </c:pt>
                  <c:pt idx="13">
                    <c:v>Apr 23</c:v>
                  </c:pt>
                  <c:pt idx="14">
                    <c:v>Apr 23</c:v>
                  </c:pt>
                  <c:pt idx="15">
                    <c:v>Apr 23</c:v>
                  </c:pt>
                  <c:pt idx="16">
                    <c:v>Apr 23</c:v>
                  </c:pt>
                  <c:pt idx="17">
                    <c:v>May 23</c:v>
                  </c:pt>
                  <c:pt idx="18">
                    <c:v>May 23</c:v>
                  </c:pt>
                  <c:pt idx="19">
                    <c:v>May 23</c:v>
                  </c:pt>
                  <c:pt idx="20">
                    <c:v>May 23</c:v>
                  </c:pt>
                  <c:pt idx="21">
                    <c:v>Jun 23</c:v>
                  </c:pt>
                  <c:pt idx="22">
                    <c:v>Jun 23</c:v>
                  </c:pt>
                  <c:pt idx="23">
                    <c:v>Jun 23</c:v>
                  </c:pt>
                  <c:pt idx="24">
                    <c:v>Jun 23</c:v>
                  </c:pt>
                  <c:pt idx="25">
                    <c:v>Jul 23</c:v>
                  </c:pt>
                  <c:pt idx="26">
                    <c:v>Jul 23</c:v>
                  </c:pt>
                  <c:pt idx="27">
                    <c:v>Jul 23</c:v>
                  </c:pt>
                  <c:pt idx="28">
                    <c:v>Jul 23</c:v>
                  </c:pt>
                  <c:pt idx="29">
                    <c:v>Aug 23</c:v>
                  </c:pt>
                  <c:pt idx="30">
                    <c:v>Aug 23</c:v>
                  </c:pt>
                  <c:pt idx="31">
                    <c:v>Aug 23</c:v>
                  </c:pt>
                  <c:pt idx="32">
                    <c:v>Aug 23</c:v>
                  </c:pt>
                  <c:pt idx="33">
                    <c:v>Aug 23</c:v>
                  </c:pt>
                  <c:pt idx="34">
                    <c:v>Sep 23</c:v>
                  </c:pt>
                  <c:pt idx="35">
                    <c:v>Sep 23</c:v>
                  </c:pt>
                  <c:pt idx="36">
                    <c:v>Sep 23</c:v>
                  </c:pt>
                  <c:pt idx="37">
                    <c:v>Sep 23</c:v>
                  </c:pt>
                  <c:pt idx="38">
                    <c:v>Oct 23</c:v>
                  </c:pt>
                  <c:pt idx="39">
                    <c:v>Oct 23</c:v>
                  </c:pt>
                  <c:pt idx="40">
                    <c:v>Oct 23</c:v>
                  </c:pt>
                  <c:pt idx="41">
                    <c:v>Oct 23</c:v>
                  </c:pt>
                  <c:pt idx="42">
                    <c:v>Nov 23</c:v>
                  </c:pt>
                  <c:pt idx="43">
                    <c:v>Nov 23</c:v>
                  </c:pt>
                  <c:pt idx="44">
                    <c:v>Nov 23</c:v>
                  </c:pt>
                  <c:pt idx="45">
                    <c:v>Nov 23</c:v>
                  </c:pt>
                  <c:pt idx="46">
                    <c:v>Dec 23</c:v>
                  </c:pt>
                  <c:pt idx="47">
                    <c:v>Dec 23</c:v>
                  </c:pt>
                  <c:pt idx="48">
                    <c:v>Dec 23</c:v>
                  </c:pt>
                  <c:pt idx="49">
                    <c:v>Dec 23</c:v>
                  </c:pt>
                  <c:pt idx="50">
                    <c:v>Jan 24</c:v>
                  </c:pt>
                  <c:pt idx="51">
                    <c:v>Jan 24</c:v>
                  </c:pt>
                  <c:pt idx="52">
                    <c:v>Jan 24</c:v>
                  </c:pt>
                  <c:pt idx="53">
                    <c:v>Jan 24</c:v>
                  </c:pt>
                  <c:pt idx="54">
                    <c:v>Jan 24</c:v>
                  </c:pt>
                  <c:pt idx="55">
                    <c:v>Feb 24</c:v>
                  </c:pt>
                  <c:pt idx="56">
                    <c:v>Feb 24</c:v>
                  </c:pt>
                  <c:pt idx="57">
                    <c:v>Feb 24</c:v>
                  </c:pt>
                  <c:pt idx="58">
                    <c:v>Feb 24</c:v>
                  </c:pt>
                  <c:pt idx="59">
                    <c:v>Mar 24</c:v>
                  </c:pt>
                  <c:pt idx="60">
                    <c:v>Mar 24</c:v>
                  </c:pt>
                  <c:pt idx="61">
                    <c:v>Mar 24</c:v>
                  </c:pt>
                  <c:pt idx="62">
                    <c:v>Mar 24</c:v>
                  </c:pt>
                  <c:pt idx="63">
                    <c:v>Apr 24</c:v>
                  </c:pt>
                  <c:pt idx="64">
                    <c:v>Apr 24</c:v>
                  </c:pt>
                  <c:pt idx="65">
                    <c:v>Apr 24</c:v>
                  </c:pt>
                  <c:pt idx="66">
                    <c:v>Apr 24</c:v>
                  </c:pt>
                  <c:pt idx="67">
                    <c:v>May 24</c:v>
                  </c:pt>
                  <c:pt idx="68">
                    <c:v>May 24</c:v>
                  </c:pt>
                  <c:pt idx="69">
                    <c:v>May 24</c:v>
                  </c:pt>
                  <c:pt idx="70">
                    <c:v>May 24</c:v>
                  </c:pt>
                  <c:pt idx="71">
                    <c:v>Jun 24</c:v>
                  </c:pt>
                  <c:pt idx="72">
                    <c:v>Jun 24</c:v>
                  </c:pt>
                  <c:pt idx="73">
                    <c:v>Jun 24</c:v>
                  </c:pt>
                  <c:pt idx="74">
                    <c:v>Jun 24</c:v>
                  </c:pt>
                  <c:pt idx="75">
                    <c:v>Jul 24</c:v>
                  </c:pt>
                  <c:pt idx="76">
                    <c:v>Jul 24</c:v>
                  </c:pt>
                  <c:pt idx="77">
                    <c:v>Jul 24</c:v>
                  </c:pt>
                  <c:pt idx="78">
                    <c:v>Jul 24</c:v>
                  </c:pt>
                  <c:pt idx="79">
                    <c:v>Jul 24</c:v>
                  </c:pt>
                  <c:pt idx="80">
                    <c:v>Aug 24</c:v>
                  </c:pt>
                  <c:pt idx="81">
                    <c:v>Aug 24</c:v>
                  </c:pt>
                  <c:pt idx="82">
                    <c:v>Aug 24</c:v>
                  </c:pt>
                  <c:pt idx="83">
                    <c:v>Aug 24</c:v>
                  </c:pt>
                  <c:pt idx="84">
                    <c:v>Sep 24</c:v>
                  </c:pt>
                  <c:pt idx="85">
                    <c:v>Sep 24</c:v>
                  </c:pt>
                  <c:pt idx="86">
                    <c:v>Sep 24</c:v>
                  </c:pt>
                  <c:pt idx="87">
                    <c:v>Sep 24</c:v>
                  </c:pt>
                  <c:pt idx="88">
                    <c:v>Oct 24</c:v>
                  </c:pt>
                  <c:pt idx="89">
                    <c:v>Oct 24</c:v>
                  </c:pt>
                  <c:pt idx="90">
                    <c:v>Oct 24</c:v>
                  </c:pt>
                  <c:pt idx="91">
                    <c:v>Oct 24</c:v>
                  </c:pt>
                  <c:pt idx="92">
                    <c:v>Oct 24</c:v>
                  </c:pt>
                  <c:pt idx="93">
                    <c:v>Nov 24</c:v>
                  </c:pt>
                  <c:pt idx="94">
                    <c:v>Nov 24</c:v>
                  </c:pt>
                  <c:pt idx="95">
                    <c:v>Nov 24</c:v>
                  </c:pt>
                  <c:pt idx="96">
                    <c:v>Nov 24</c:v>
                  </c:pt>
                  <c:pt idx="97">
                    <c:v>Dec 24</c:v>
                  </c:pt>
                  <c:pt idx="98">
                    <c:v>Dec 24</c:v>
                  </c:pt>
                  <c:pt idx="99">
                    <c:v>Dec 24</c:v>
                  </c:pt>
                  <c:pt idx="100">
                    <c:v>Dec 24</c:v>
                  </c:pt>
                  <c:pt idx="101">
                    <c:v>Dec 24</c:v>
                  </c:pt>
                </c:lvl>
              </c:multiLvlStrCache>
            </c:multiLvlStrRef>
          </c:cat>
          <c:val>
            <c:numRef>
              <c:f>Sheet1!$C$2:$C$103</c:f>
              <c:numCache>
                <c:formatCode>General</c:formatCode>
                <c:ptCount val="102"/>
                <c:pt idx="0">
                  <c:v>100000</c:v>
                </c:pt>
                <c:pt idx="1">
                  <c:v>100088</c:v>
                </c:pt>
                <c:pt idx="2">
                  <c:v>98255</c:v>
                </c:pt>
                <c:pt idx="3">
                  <c:v>100479</c:v>
                </c:pt>
                <c:pt idx="4">
                  <c:v>103102</c:v>
                </c:pt>
                <c:pt idx="5">
                  <c:v>103064</c:v>
                </c:pt>
                <c:pt idx="6">
                  <c:v>103900</c:v>
                </c:pt>
                <c:pt idx="7">
                  <c:v>101045</c:v>
                </c:pt>
                <c:pt idx="8">
                  <c:v>101139</c:v>
                </c:pt>
                <c:pt idx="9">
                  <c:v>101235</c:v>
                </c:pt>
                <c:pt idx="10">
                  <c:v>101330</c:v>
                </c:pt>
                <c:pt idx="11">
                  <c:v>101420</c:v>
                </c:pt>
                <c:pt idx="12">
                  <c:v>102724</c:v>
                </c:pt>
                <c:pt idx="13">
                  <c:v>104121</c:v>
                </c:pt>
                <c:pt idx="14">
                  <c:v>104953</c:v>
                </c:pt>
                <c:pt idx="15">
                  <c:v>104887</c:v>
                </c:pt>
                <c:pt idx="16">
                  <c:v>105836</c:v>
                </c:pt>
                <c:pt idx="17">
                  <c:v>104997</c:v>
                </c:pt>
                <c:pt idx="18">
                  <c:v>105010</c:v>
                </c:pt>
                <c:pt idx="19">
                  <c:v>105115</c:v>
                </c:pt>
                <c:pt idx="20">
                  <c:v>105223</c:v>
                </c:pt>
                <c:pt idx="21">
                  <c:v>105331</c:v>
                </c:pt>
                <c:pt idx="22">
                  <c:v>105438</c:v>
                </c:pt>
                <c:pt idx="23">
                  <c:v>105544</c:v>
                </c:pt>
                <c:pt idx="24">
                  <c:v>106338</c:v>
                </c:pt>
                <c:pt idx="25">
                  <c:v>108034</c:v>
                </c:pt>
                <c:pt idx="26">
                  <c:v>106712</c:v>
                </c:pt>
                <c:pt idx="27">
                  <c:v>106822</c:v>
                </c:pt>
                <c:pt idx="28">
                  <c:v>106934</c:v>
                </c:pt>
                <c:pt idx="29">
                  <c:v>107045</c:v>
                </c:pt>
                <c:pt idx="30">
                  <c:v>106246</c:v>
                </c:pt>
                <c:pt idx="31">
                  <c:v>104790</c:v>
                </c:pt>
                <c:pt idx="32">
                  <c:v>105598</c:v>
                </c:pt>
                <c:pt idx="33">
                  <c:v>105296</c:v>
                </c:pt>
                <c:pt idx="34">
                  <c:v>105407</c:v>
                </c:pt>
                <c:pt idx="35">
                  <c:v>105518</c:v>
                </c:pt>
                <c:pt idx="36">
                  <c:v>102630</c:v>
                </c:pt>
                <c:pt idx="37">
                  <c:v>101947</c:v>
                </c:pt>
                <c:pt idx="38">
                  <c:v>100991</c:v>
                </c:pt>
                <c:pt idx="39">
                  <c:v>103170</c:v>
                </c:pt>
                <c:pt idx="40">
                  <c:v>101450</c:v>
                </c:pt>
                <c:pt idx="41">
                  <c:v>98148</c:v>
                </c:pt>
                <c:pt idx="42">
                  <c:v>102480</c:v>
                </c:pt>
                <c:pt idx="43">
                  <c:v>103213</c:v>
                </c:pt>
                <c:pt idx="44">
                  <c:v>107112</c:v>
                </c:pt>
                <c:pt idx="45">
                  <c:v>108318</c:v>
                </c:pt>
                <c:pt idx="46">
                  <c:v>109222</c:v>
                </c:pt>
                <c:pt idx="47">
                  <c:v>109484</c:v>
                </c:pt>
                <c:pt idx="48">
                  <c:v>112109</c:v>
                </c:pt>
                <c:pt idx="49">
                  <c:v>113141</c:v>
                </c:pt>
                <c:pt idx="50">
                  <c:v>112902</c:v>
                </c:pt>
                <c:pt idx="51">
                  <c:v>113195</c:v>
                </c:pt>
                <c:pt idx="52">
                  <c:v>112816</c:v>
                </c:pt>
                <c:pt idx="53">
                  <c:v>115945</c:v>
                </c:pt>
                <c:pt idx="54">
                  <c:v>115345</c:v>
                </c:pt>
                <c:pt idx="55">
                  <c:v>118981</c:v>
                </c:pt>
                <c:pt idx="56">
                  <c:v>119093</c:v>
                </c:pt>
                <c:pt idx="57">
                  <c:v>121226</c:v>
                </c:pt>
                <c:pt idx="58">
                  <c:v>121365</c:v>
                </c:pt>
                <c:pt idx="59">
                  <c:v>122972</c:v>
                </c:pt>
                <c:pt idx="60">
                  <c:v>123006</c:v>
                </c:pt>
                <c:pt idx="61">
                  <c:v>123052</c:v>
                </c:pt>
                <c:pt idx="62">
                  <c:v>123180</c:v>
                </c:pt>
                <c:pt idx="63">
                  <c:v>123307</c:v>
                </c:pt>
                <c:pt idx="64">
                  <c:v>123435</c:v>
                </c:pt>
                <c:pt idx="65">
                  <c:v>118497</c:v>
                </c:pt>
                <c:pt idx="66">
                  <c:v>121632</c:v>
                </c:pt>
                <c:pt idx="67">
                  <c:v>121988</c:v>
                </c:pt>
                <c:pt idx="68">
                  <c:v>123512</c:v>
                </c:pt>
                <c:pt idx="69">
                  <c:v>125554</c:v>
                </c:pt>
                <c:pt idx="70">
                  <c:v>125551</c:v>
                </c:pt>
                <c:pt idx="71">
                  <c:v>125264</c:v>
                </c:pt>
                <c:pt idx="72">
                  <c:v>125394</c:v>
                </c:pt>
                <c:pt idx="73">
                  <c:v>125524</c:v>
                </c:pt>
                <c:pt idx="74">
                  <c:v>125655</c:v>
                </c:pt>
                <c:pt idx="75">
                  <c:v>125785</c:v>
                </c:pt>
                <c:pt idx="76">
                  <c:v>125915</c:v>
                </c:pt>
                <c:pt idx="77">
                  <c:v>126045</c:v>
                </c:pt>
                <c:pt idx="78">
                  <c:v>123254</c:v>
                </c:pt>
                <c:pt idx="79">
                  <c:v>124209</c:v>
                </c:pt>
                <c:pt idx="80">
                  <c:v>124334</c:v>
                </c:pt>
                <c:pt idx="81">
                  <c:v>124459</c:v>
                </c:pt>
                <c:pt idx="82">
                  <c:v>125668</c:v>
                </c:pt>
                <c:pt idx="83">
                  <c:v>125148</c:v>
                </c:pt>
                <c:pt idx="84">
                  <c:v>123200</c:v>
                </c:pt>
                <c:pt idx="85">
                  <c:v>121976</c:v>
                </c:pt>
                <c:pt idx="86">
                  <c:v>123844</c:v>
                </c:pt>
                <c:pt idx="87">
                  <c:v>124511</c:v>
                </c:pt>
                <c:pt idx="88">
                  <c:v>123536</c:v>
                </c:pt>
                <c:pt idx="89">
                  <c:v>125344</c:v>
                </c:pt>
                <c:pt idx="90">
                  <c:v>126698</c:v>
                </c:pt>
                <c:pt idx="91">
                  <c:v>126021</c:v>
                </c:pt>
                <c:pt idx="92">
                  <c:v>123715</c:v>
                </c:pt>
                <c:pt idx="93">
                  <c:v>129582</c:v>
                </c:pt>
                <c:pt idx="94">
                  <c:v>129091</c:v>
                </c:pt>
                <c:pt idx="95">
                  <c:v>127415</c:v>
                </c:pt>
                <c:pt idx="96">
                  <c:v>127526</c:v>
                </c:pt>
                <c:pt idx="97">
                  <c:v>127637</c:v>
                </c:pt>
                <c:pt idx="98">
                  <c:v>127745</c:v>
                </c:pt>
                <c:pt idx="99">
                  <c:v>127852</c:v>
                </c:pt>
                <c:pt idx="100">
                  <c:v>126843</c:v>
                </c:pt>
                <c:pt idx="101">
                  <c:v>126864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v2 weekly</c:v>
                </c:pt>
              </c:strCache>
            </c:strRef>
          </c:tx>
          <c:spPr>
            <a:solidFill>
              <a:srgbClr val="2F5D9E"/>
            </a:solidFill>
            <a:ln w="31750" cap="flat">
              <a:solidFill>
                <a:srgbClr val="2F5D9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5D9E"/>
              </a:solidFill>
              <a:ln w="9525" cap="flat">
                <a:solidFill>
                  <a:srgbClr val="2F5D9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Sheet1!$A$2:$A$103</c:f>
              <c:multiLvlStrCache>
                <c:ptCount val="102"/>
                <c:lvl>
                  <c:pt idx="0">
                    <c:v>Jan 23</c:v>
                  </c:pt>
                  <c:pt idx="1">
                    <c:v>Jan 23</c:v>
                  </c:pt>
                  <c:pt idx="2">
                    <c:v>Jan 23</c:v>
                  </c:pt>
                  <c:pt idx="3">
                    <c:v>Jan 23</c:v>
                  </c:pt>
                  <c:pt idx="4">
                    <c:v>Feb 23</c:v>
                  </c:pt>
                  <c:pt idx="5">
                    <c:v>Feb 23</c:v>
                  </c:pt>
                  <c:pt idx="6">
                    <c:v>Feb 23</c:v>
                  </c:pt>
                  <c:pt idx="7">
                    <c:v>Feb 23</c:v>
                  </c:pt>
                  <c:pt idx="8">
                    <c:v>Mar 23</c:v>
                  </c:pt>
                  <c:pt idx="9">
                    <c:v>Mar 23</c:v>
                  </c:pt>
                  <c:pt idx="10">
                    <c:v>Mar 23</c:v>
                  </c:pt>
                  <c:pt idx="11">
                    <c:v>Mar 23</c:v>
                  </c:pt>
                  <c:pt idx="12">
                    <c:v>Mar 23</c:v>
                  </c:pt>
                  <c:pt idx="13">
                    <c:v>Apr 23</c:v>
                  </c:pt>
                  <c:pt idx="14">
                    <c:v>Apr 23</c:v>
                  </c:pt>
                  <c:pt idx="15">
                    <c:v>Apr 23</c:v>
                  </c:pt>
                  <c:pt idx="16">
                    <c:v>Apr 23</c:v>
                  </c:pt>
                  <c:pt idx="17">
                    <c:v>May 23</c:v>
                  </c:pt>
                  <c:pt idx="18">
                    <c:v>May 23</c:v>
                  </c:pt>
                  <c:pt idx="19">
                    <c:v>May 23</c:v>
                  </c:pt>
                  <c:pt idx="20">
                    <c:v>May 23</c:v>
                  </c:pt>
                  <c:pt idx="21">
                    <c:v>Jun 23</c:v>
                  </c:pt>
                  <c:pt idx="22">
                    <c:v>Jun 23</c:v>
                  </c:pt>
                  <c:pt idx="23">
                    <c:v>Jun 23</c:v>
                  </c:pt>
                  <c:pt idx="24">
                    <c:v>Jun 23</c:v>
                  </c:pt>
                  <c:pt idx="25">
                    <c:v>Jul 23</c:v>
                  </c:pt>
                  <c:pt idx="26">
                    <c:v>Jul 23</c:v>
                  </c:pt>
                  <c:pt idx="27">
                    <c:v>Jul 23</c:v>
                  </c:pt>
                  <c:pt idx="28">
                    <c:v>Jul 23</c:v>
                  </c:pt>
                  <c:pt idx="29">
                    <c:v>Aug 23</c:v>
                  </c:pt>
                  <c:pt idx="30">
                    <c:v>Aug 23</c:v>
                  </c:pt>
                  <c:pt idx="31">
                    <c:v>Aug 23</c:v>
                  </c:pt>
                  <c:pt idx="32">
                    <c:v>Aug 23</c:v>
                  </c:pt>
                  <c:pt idx="33">
                    <c:v>Aug 23</c:v>
                  </c:pt>
                  <c:pt idx="34">
                    <c:v>Sep 23</c:v>
                  </c:pt>
                  <c:pt idx="35">
                    <c:v>Sep 23</c:v>
                  </c:pt>
                  <c:pt idx="36">
                    <c:v>Sep 23</c:v>
                  </c:pt>
                  <c:pt idx="37">
                    <c:v>Sep 23</c:v>
                  </c:pt>
                  <c:pt idx="38">
                    <c:v>Oct 23</c:v>
                  </c:pt>
                  <c:pt idx="39">
                    <c:v>Oct 23</c:v>
                  </c:pt>
                  <c:pt idx="40">
                    <c:v>Oct 23</c:v>
                  </c:pt>
                  <c:pt idx="41">
                    <c:v>Oct 23</c:v>
                  </c:pt>
                  <c:pt idx="42">
                    <c:v>Nov 23</c:v>
                  </c:pt>
                  <c:pt idx="43">
                    <c:v>Nov 23</c:v>
                  </c:pt>
                  <c:pt idx="44">
                    <c:v>Nov 23</c:v>
                  </c:pt>
                  <c:pt idx="45">
                    <c:v>Nov 23</c:v>
                  </c:pt>
                  <c:pt idx="46">
                    <c:v>Dec 23</c:v>
                  </c:pt>
                  <c:pt idx="47">
                    <c:v>Dec 23</c:v>
                  </c:pt>
                  <c:pt idx="48">
                    <c:v>Dec 23</c:v>
                  </c:pt>
                  <c:pt idx="49">
                    <c:v>Dec 23</c:v>
                  </c:pt>
                  <c:pt idx="50">
                    <c:v>Jan 24</c:v>
                  </c:pt>
                  <c:pt idx="51">
                    <c:v>Jan 24</c:v>
                  </c:pt>
                  <c:pt idx="52">
                    <c:v>Jan 24</c:v>
                  </c:pt>
                  <c:pt idx="53">
                    <c:v>Jan 24</c:v>
                  </c:pt>
                  <c:pt idx="54">
                    <c:v>Jan 24</c:v>
                  </c:pt>
                  <c:pt idx="55">
                    <c:v>Feb 24</c:v>
                  </c:pt>
                  <c:pt idx="56">
                    <c:v>Feb 24</c:v>
                  </c:pt>
                  <c:pt idx="57">
                    <c:v>Feb 24</c:v>
                  </c:pt>
                  <c:pt idx="58">
                    <c:v>Feb 24</c:v>
                  </c:pt>
                  <c:pt idx="59">
                    <c:v>Mar 24</c:v>
                  </c:pt>
                  <c:pt idx="60">
                    <c:v>Mar 24</c:v>
                  </c:pt>
                  <c:pt idx="61">
                    <c:v>Mar 24</c:v>
                  </c:pt>
                  <c:pt idx="62">
                    <c:v>Mar 24</c:v>
                  </c:pt>
                  <c:pt idx="63">
                    <c:v>Apr 24</c:v>
                  </c:pt>
                  <c:pt idx="64">
                    <c:v>Apr 24</c:v>
                  </c:pt>
                  <c:pt idx="65">
                    <c:v>Apr 24</c:v>
                  </c:pt>
                  <c:pt idx="66">
                    <c:v>Apr 24</c:v>
                  </c:pt>
                  <c:pt idx="67">
                    <c:v>May 24</c:v>
                  </c:pt>
                  <c:pt idx="68">
                    <c:v>May 24</c:v>
                  </c:pt>
                  <c:pt idx="69">
                    <c:v>May 24</c:v>
                  </c:pt>
                  <c:pt idx="70">
                    <c:v>May 24</c:v>
                  </c:pt>
                  <c:pt idx="71">
                    <c:v>Jun 24</c:v>
                  </c:pt>
                  <c:pt idx="72">
                    <c:v>Jun 24</c:v>
                  </c:pt>
                  <c:pt idx="73">
                    <c:v>Jun 24</c:v>
                  </c:pt>
                  <c:pt idx="74">
                    <c:v>Jun 24</c:v>
                  </c:pt>
                  <c:pt idx="75">
                    <c:v>Jul 24</c:v>
                  </c:pt>
                  <c:pt idx="76">
                    <c:v>Jul 24</c:v>
                  </c:pt>
                  <c:pt idx="77">
                    <c:v>Jul 24</c:v>
                  </c:pt>
                  <c:pt idx="78">
                    <c:v>Jul 24</c:v>
                  </c:pt>
                  <c:pt idx="79">
                    <c:v>Jul 24</c:v>
                  </c:pt>
                  <c:pt idx="80">
                    <c:v>Aug 24</c:v>
                  </c:pt>
                  <c:pt idx="81">
                    <c:v>Aug 24</c:v>
                  </c:pt>
                  <c:pt idx="82">
                    <c:v>Aug 24</c:v>
                  </c:pt>
                  <c:pt idx="83">
                    <c:v>Aug 24</c:v>
                  </c:pt>
                  <c:pt idx="84">
                    <c:v>Sep 24</c:v>
                  </c:pt>
                  <c:pt idx="85">
                    <c:v>Sep 24</c:v>
                  </c:pt>
                  <c:pt idx="86">
                    <c:v>Sep 24</c:v>
                  </c:pt>
                  <c:pt idx="87">
                    <c:v>Sep 24</c:v>
                  </c:pt>
                  <c:pt idx="88">
                    <c:v>Oct 24</c:v>
                  </c:pt>
                  <c:pt idx="89">
                    <c:v>Oct 24</c:v>
                  </c:pt>
                  <c:pt idx="90">
                    <c:v>Oct 24</c:v>
                  </c:pt>
                  <c:pt idx="91">
                    <c:v>Oct 24</c:v>
                  </c:pt>
                  <c:pt idx="92">
                    <c:v>Oct 24</c:v>
                  </c:pt>
                  <c:pt idx="93">
                    <c:v>Nov 24</c:v>
                  </c:pt>
                  <c:pt idx="94">
                    <c:v>Nov 24</c:v>
                  </c:pt>
                  <c:pt idx="95">
                    <c:v>Nov 24</c:v>
                  </c:pt>
                  <c:pt idx="96">
                    <c:v>Nov 24</c:v>
                  </c:pt>
                  <c:pt idx="97">
                    <c:v>Dec 24</c:v>
                  </c:pt>
                  <c:pt idx="98">
                    <c:v>Dec 24</c:v>
                  </c:pt>
                  <c:pt idx="99">
                    <c:v>Dec 24</c:v>
                  </c:pt>
                  <c:pt idx="100">
                    <c:v>Dec 24</c:v>
                  </c:pt>
                  <c:pt idx="101">
                    <c:v>Dec 24</c:v>
                  </c:pt>
                </c:lvl>
              </c:multiLvlStrCache>
            </c:multiLvlStrRef>
          </c:cat>
          <c:val>
            <c:numRef>
              <c:f>Sheet1!$D$2:$D$103</c:f>
              <c:numCache>
                <c:formatCode>General</c:formatCode>
                <c:ptCount val="102"/>
                <c:pt idx="0">
                  <c:v>100000</c:v>
                </c:pt>
                <c:pt idx="1">
                  <c:v>100088</c:v>
                </c:pt>
                <c:pt idx="2">
                  <c:v>100178</c:v>
                </c:pt>
                <c:pt idx="3">
                  <c:v>100268</c:v>
                </c:pt>
                <c:pt idx="4">
                  <c:v>100358</c:v>
                </c:pt>
                <c:pt idx="5">
                  <c:v>100449</c:v>
                </c:pt>
                <c:pt idx="6">
                  <c:v>100541</c:v>
                </c:pt>
                <c:pt idx="7">
                  <c:v>100634</c:v>
                </c:pt>
                <c:pt idx="8">
                  <c:v>100728</c:v>
                </c:pt>
                <c:pt idx="9">
                  <c:v>100824</c:v>
                </c:pt>
                <c:pt idx="10">
                  <c:v>100918</c:v>
                </c:pt>
                <c:pt idx="11">
                  <c:v>101008</c:v>
                </c:pt>
                <c:pt idx="12">
                  <c:v>101099</c:v>
                </c:pt>
                <c:pt idx="13">
                  <c:v>101193</c:v>
                </c:pt>
                <c:pt idx="14">
                  <c:v>101290</c:v>
                </c:pt>
                <c:pt idx="15">
                  <c:v>101389</c:v>
                </c:pt>
                <c:pt idx="16">
                  <c:v>101489</c:v>
                </c:pt>
                <c:pt idx="17">
                  <c:v>101590</c:v>
                </c:pt>
                <c:pt idx="18">
                  <c:v>101692</c:v>
                </c:pt>
                <c:pt idx="19">
                  <c:v>101794</c:v>
                </c:pt>
                <c:pt idx="20">
                  <c:v>101898</c:v>
                </c:pt>
                <c:pt idx="21">
                  <c:v>102003</c:v>
                </c:pt>
                <c:pt idx="22">
                  <c:v>102107</c:v>
                </c:pt>
                <c:pt idx="23">
                  <c:v>102210</c:v>
                </c:pt>
                <c:pt idx="24">
                  <c:v>102314</c:v>
                </c:pt>
                <c:pt idx="25">
                  <c:v>102418</c:v>
                </c:pt>
                <c:pt idx="26">
                  <c:v>102525</c:v>
                </c:pt>
                <c:pt idx="27">
                  <c:v>102631</c:v>
                </c:pt>
                <c:pt idx="28">
                  <c:v>102738</c:v>
                </c:pt>
                <c:pt idx="29">
                  <c:v>102845</c:v>
                </c:pt>
                <c:pt idx="30">
                  <c:v>102953</c:v>
                </c:pt>
                <c:pt idx="31">
                  <c:v>103060</c:v>
                </c:pt>
                <c:pt idx="32">
                  <c:v>103168</c:v>
                </c:pt>
                <c:pt idx="33">
                  <c:v>103277</c:v>
                </c:pt>
                <c:pt idx="34">
                  <c:v>103386</c:v>
                </c:pt>
                <c:pt idx="35">
                  <c:v>103494</c:v>
                </c:pt>
                <c:pt idx="36">
                  <c:v>103603</c:v>
                </c:pt>
                <c:pt idx="37">
                  <c:v>103713</c:v>
                </c:pt>
                <c:pt idx="38">
                  <c:v>103822</c:v>
                </c:pt>
                <c:pt idx="39">
                  <c:v>103932</c:v>
                </c:pt>
                <c:pt idx="40">
                  <c:v>104042</c:v>
                </c:pt>
                <c:pt idx="41">
                  <c:v>104152</c:v>
                </c:pt>
                <c:pt idx="42">
                  <c:v>104261</c:v>
                </c:pt>
                <c:pt idx="43">
                  <c:v>104370</c:v>
                </c:pt>
                <c:pt idx="44">
                  <c:v>104479</c:v>
                </c:pt>
                <c:pt idx="45">
                  <c:v>104588</c:v>
                </c:pt>
                <c:pt idx="46">
                  <c:v>104697</c:v>
                </c:pt>
                <c:pt idx="47">
                  <c:v>104806</c:v>
                </c:pt>
                <c:pt idx="48">
                  <c:v>104915</c:v>
                </c:pt>
                <c:pt idx="49">
                  <c:v>105023</c:v>
                </c:pt>
                <c:pt idx="50">
                  <c:v>105132</c:v>
                </c:pt>
                <c:pt idx="51">
                  <c:v>105241</c:v>
                </c:pt>
                <c:pt idx="52">
                  <c:v>105350</c:v>
                </c:pt>
                <c:pt idx="53">
                  <c:v>105459</c:v>
                </c:pt>
                <c:pt idx="54">
                  <c:v>105568</c:v>
                </c:pt>
                <c:pt idx="55">
                  <c:v>105677</c:v>
                </c:pt>
                <c:pt idx="56">
                  <c:v>105786</c:v>
                </c:pt>
                <c:pt idx="57">
                  <c:v>105896</c:v>
                </c:pt>
                <c:pt idx="58">
                  <c:v>106006</c:v>
                </c:pt>
                <c:pt idx="59">
                  <c:v>106116</c:v>
                </c:pt>
                <c:pt idx="60">
                  <c:v>106226</c:v>
                </c:pt>
                <c:pt idx="61">
                  <c:v>106337</c:v>
                </c:pt>
                <c:pt idx="62">
                  <c:v>106447</c:v>
                </c:pt>
                <c:pt idx="63">
                  <c:v>106557</c:v>
                </c:pt>
                <c:pt idx="64">
                  <c:v>106668</c:v>
                </c:pt>
                <c:pt idx="65">
                  <c:v>106778</c:v>
                </c:pt>
                <c:pt idx="66">
                  <c:v>106890</c:v>
                </c:pt>
                <c:pt idx="67">
                  <c:v>107001</c:v>
                </c:pt>
                <c:pt idx="68">
                  <c:v>107112</c:v>
                </c:pt>
                <c:pt idx="69">
                  <c:v>107224</c:v>
                </c:pt>
                <c:pt idx="70">
                  <c:v>107335</c:v>
                </c:pt>
                <c:pt idx="71">
                  <c:v>107447</c:v>
                </c:pt>
                <c:pt idx="72">
                  <c:v>107559</c:v>
                </c:pt>
                <c:pt idx="73">
                  <c:v>107671</c:v>
                </c:pt>
                <c:pt idx="74">
                  <c:v>107782</c:v>
                </c:pt>
                <c:pt idx="75">
                  <c:v>107894</c:v>
                </c:pt>
                <c:pt idx="76">
                  <c:v>108006</c:v>
                </c:pt>
                <c:pt idx="77">
                  <c:v>108117</c:v>
                </c:pt>
                <c:pt idx="78">
                  <c:v>108229</c:v>
                </c:pt>
                <c:pt idx="79">
                  <c:v>108339</c:v>
                </c:pt>
                <c:pt idx="80">
                  <c:v>108449</c:v>
                </c:pt>
                <c:pt idx="81">
                  <c:v>108558</c:v>
                </c:pt>
                <c:pt idx="82">
                  <c:v>108667</c:v>
                </c:pt>
                <c:pt idx="83">
                  <c:v>108775</c:v>
                </c:pt>
                <c:pt idx="84">
                  <c:v>108882</c:v>
                </c:pt>
                <c:pt idx="85">
                  <c:v>108988</c:v>
                </c:pt>
                <c:pt idx="86">
                  <c:v>109090</c:v>
                </c:pt>
                <c:pt idx="87">
                  <c:v>109188</c:v>
                </c:pt>
                <c:pt idx="88">
                  <c:v>109285</c:v>
                </c:pt>
                <c:pt idx="89">
                  <c:v>109383</c:v>
                </c:pt>
                <c:pt idx="90">
                  <c:v>109481</c:v>
                </c:pt>
                <c:pt idx="91">
                  <c:v>109579</c:v>
                </c:pt>
                <c:pt idx="92">
                  <c:v>109677</c:v>
                </c:pt>
                <c:pt idx="93">
                  <c:v>109773</c:v>
                </c:pt>
                <c:pt idx="94">
                  <c:v>109869</c:v>
                </c:pt>
                <c:pt idx="95">
                  <c:v>109965</c:v>
                </c:pt>
                <c:pt idx="96">
                  <c:v>110061</c:v>
                </c:pt>
                <c:pt idx="97">
                  <c:v>110156</c:v>
                </c:pt>
                <c:pt idx="98">
                  <c:v>110250</c:v>
                </c:pt>
                <c:pt idx="99">
                  <c:v>110342</c:v>
                </c:pt>
                <c:pt idx="100">
                  <c:v>110434</c:v>
                </c:pt>
                <c:pt idx="101">
                  <c:v>110453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B4A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3"/>
      </c:catAx>
      <c:valAx>
        <c:axId val="2094734552"/>
        <c:scaling>
          <c:orientation val="minMax"/>
          <c:max val="170000"/>
          <c:min val="90000"/>
        </c:scaling>
        <c:delete val="0"/>
        <c:axPos val="l"/>
        <c:majorGridlines>
          <c:spPr>
            <a:ln w="9525" cap="flat">
              <a:solidFill>
                <a:srgbClr val="E3E7EE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B4A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3B4A6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213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4213D"/>
                </a:solidFill>
                <a:latin typeface="+mn-lt"/>
              </a:rPr>
              <a:t>Average predicted probability of a Sell week (walk-forward, 2013–22)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predicted P(Sell)</c:v>
                </c:pt>
              </c:strCache>
            </c:strRef>
          </c:tx>
          <c:spPr>
            <a:solidFill>
              <a:srgbClr val="8A96A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6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571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8571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9A46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Class weights (v2)</c:v>
                  </c:pt>
                  <c:pt idx="1">
                    <c:v>No weights</c:v>
                  </c:pt>
                  <c:pt idx="2">
                    <c:v>Weights + prior correction</c:v>
                  </c:pt>
                  <c:pt idx="3">
                    <c:v>Sigmoid calibration</c:v>
                  </c:pt>
                  <c:pt idx="4">
                    <c:v>Actual share of Sell weeks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30.5</c:v>
                </c:pt>
                <c:pt idx="1">
                  <c:v>21.7</c:v>
                </c:pt>
                <c:pt idx="2">
                  <c:v>21.6</c:v>
                </c:pt>
                <c:pt idx="3">
                  <c:v>24.1</c:v>
                </c:pt>
                <c:pt idx="4">
                  <c:v>20.7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B4A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B4A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1078992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SPY weekly Buy / Hold / Sell model · Module 3 Group 7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8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4"/>
                </a:solidFill>
              </a:rPr>
              <a:t>MODULE 3 · MACHINE LEARNING PROJECT · GROUP 7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828800"/>
            <a:ext cx="10789920" cy="21945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Predicting weekly Buy / Hold / Sell decisions for SPY</a:t>
            </a:r>
            <a:endParaRPr lang="en-US" sz="4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 machine-learning trading strategy, tested against buy-and-hold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[Presenter names] · [Date]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 and deliverables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Objective. 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Predict the best action for SPY (the S&amp;P 500 ETF) over the next 5 trading days — Buy, Hold or Sell — and test whether trading on it beats buying and holding, after costs. The emphasis is on sound validation, not profit.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3172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566160"/>
                <a:gridCol w="514807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Deliverable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Where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Content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Exploratory analysis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notebooks/01_eda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Feature distributions, indicator correlations, class balance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Modelling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notebooks/02_modeling, weekly_v1–v3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Lagged features, time-ordered splits, tuning, model selection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Backtest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notebooks/03_backtest, scorecard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Costs, comparison with buy-and-hold, risk metrics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Lessons learned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outputs/SUMMARY.md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Why the strategies underperformed; limits of prediction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0749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Code, data snapshots and 51 automated tests: github.com/TKCH121/spy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Approach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627632" cy="2468880"/>
          </a:xfrm>
          <a:prstGeom prst="roundRect">
            <a:avLst>
              <a:gd name="adj" fmla="val 56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11704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SPY daily prices and volume, 2005–2026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199406" y="2560320"/>
            <a:ext cx="219456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441997" y="1463040"/>
            <a:ext cx="1627632" cy="2468880"/>
          </a:xfrm>
          <a:prstGeom prst="roundRect">
            <a:avLst>
              <a:gd name="adj" fmla="val 56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70597" y="164592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670597" y="2148840"/>
            <a:ext cx="11704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15 indicators, each using data up to the decision date only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092763" y="2560320"/>
            <a:ext cx="219456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35353" y="1463040"/>
            <a:ext cx="1627632" cy="2468880"/>
          </a:xfrm>
          <a:prstGeom prst="roundRect">
            <a:avLst>
              <a:gd name="adj" fmla="val 56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63953" y="164592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63953" y="2148840"/>
            <a:ext cx="11704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Buy &gt; +1%, Sell &lt; −1%, else Hold, over the next 5 trading days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86120" y="2560320"/>
            <a:ext cx="219456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28710" y="1463040"/>
            <a:ext cx="1627632" cy="2468880"/>
          </a:xfrm>
          <a:prstGeom prst="roundRect">
            <a:avLst>
              <a:gd name="adj" fmla="val 56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57310" y="164592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57310" y="2148840"/>
            <a:ext cx="11704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Classifier tuned with time-series cross-validation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879476" y="2560320"/>
            <a:ext cx="219456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22067" y="1463040"/>
            <a:ext cx="1627632" cy="2468880"/>
          </a:xfrm>
          <a:prstGeom prst="roundRect">
            <a:avLst>
              <a:gd name="adj" fmla="val 56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50667" y="164592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350667" y="2148840"/>
            <a:ext cx="11704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Weekly: after Friday’s close; trade at Monday’s open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772833" y="2560320"/>
            <a:ext cx="219456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15423" y="1463040"/>
            <a:ext cx="1627632" cy="2468880"/>
          </a:xfrm>
          <a:prstGeom prst="roundRect">
            <a:avLst>
              <a:gd name="adj" fmla="val 56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244023" y="164592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Backtest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0244023" y="2148840"/>
            <a:ext cx="11704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0.15% cost per trade, cash earns T-bills, vs buy-and-hold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4297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Positions: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Buy → fully invested for the week · Sell → in cash for the week · Hold → keep the current position. Training uses every trading day’s 5-day outcome; decisions are made once a week.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 and target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657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Feature group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Indicators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Momentum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1, 5, 10, 20-day returns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Trend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Price vs 20/50/200-day averages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Overbought / oversold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RSI-14, MACD histogram, Bollinger %B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Volatility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20-day volatility, ATR, band width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Activity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Volume relative to its 20-day norm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766560" y="1371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Class mix, training data 2010–2020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6766560" y="182880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Sell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7498080" y="1874520"/>
            <a:ext cx="1641856" cy="32004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231376" y="182880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20%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766560" y="2395728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Hold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498080" y="2441448"/>
            <a:ext cx="3641344" cy="32004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30864" y="2395728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45%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766560" y="296265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Buy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498080" y="3008376"/>
            <a:ext cx="2844800" cy="3200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434320" y="296265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35%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766560" y="3657600"/>
            <a:ext cx="4873752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95160" y="3840480"/>
            <a:ext cx="4416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 imbalance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995160" y="4343400"/>
            <a:ext cx="44165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Sell weeks are the minority. Class weights were used (SMOTE and no weighting were tested and scored lower). This improves recall of the minority class but inflates its predicted probability — see slide 12.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3434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All features are strictly lagged; tests confirm that changing future prices never changes a past feature.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design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001792" cy="68580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417320"/>
            <a:ext cx="7910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Train 2010–2020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641872" y="1417320"/>
            <a:ext cx="1454871" cy="68580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7592" y="1417320"/>
            <a:ext cx="13634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Validation 2021–22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188184" y="1417320"/>
            <a:ext cx="1454871" cy="6858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233904" y="1417320"/>
            <a:ext cx="13634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Test 2023–24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194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Chronological, never shuffled; a buffer of 5–6 trading days at each boundary so no 5-day label overlaps the next period.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743200"/>
            <a:ext cx="5468112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9260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Selection on validation only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429000"/>
            <a:ext cx="5010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Model and trading rule chosen on 2021–22 by rules fixed in advance; the test period is scored once, after freezing.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72200" y="2743200"/>
            <a:ext cx="5468112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0" y="29260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Out-of-sample checks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3429000"/>
            <a:ext cx="5010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12-year walk-forward (yearly refits, 2013–2024) and a 2025–26 holdout.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343400"/>
            <a:ext cx="5468112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5262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Leakage tests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5029200"/>
            <a:ext cx="5010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51 automated tests: features, labels, splits and every refit are checked for use of future data.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72200" y="4343400"/>
            <a:ext cx="5468112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0" y="45262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Pre-registered changes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0" y="5029200"/>
            <a:ext cx="5010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Each redesign was written down — and fingerprinted (SHA-256) — before it was run.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iterations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572000"/>
                <a:gridCol w="3291840"/>
                <a:gridCol w="2587752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Change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Reason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Selected (weekly)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v1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Random forest; act on Buy vs Sell probabilities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Baseline design from the brief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Random forest, most-likely class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v2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Expected-return rule over all three probabilities, net of the 0.30% round-trip cost; model and rule chosen together on validation return; cash earns T-bills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v1’s rule ignored the Hold probability, where the model’s skill lies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Logistic regression, default to cash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v3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Correct (calibrate) the probabilities before the rule uses them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Class weighting inflated the Sell probability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Calibrated logistic regression, default invested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349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v1 was built by Peter Li with daily decisions; all three versions were rebuilt with weekly decisions under a plan fixed before the rebuild.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 performance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56692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371600"/>
          <a:ext cx="5148072" cy="914400"/>
        </p:xfrm>
        <a:graphic>
          <a:graphicData uri="http://schemas.openxmlformats.org/drawingml/2006/table">
            <a:tbl>
              <a:tblPr/>
              <a:tblGrid>
                <a:gridCol w="2404872"/>
                <a:gridCol w="1371600"/>
                <a:gridCol w="13716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Test 2023–24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Accuracy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Macro-F1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v1 · random forest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44.9%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0.41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v2 · logistic regression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45.4%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0.40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v3 · calibrated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48.2%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0.34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Random baseline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≈ 33%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0.31–0.32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6492240" y="3749040"/>
            <a:ext cx="5148072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720840" y="3931920"/>
            <a:ext cx="4690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 is in the size of the move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6720840" y="4434840"/>
            <a:ext cx="46908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 models recognise quiet weeks well but confuse up and down weeks. v3 has the highest accuracy but the lowest macro-F1, as calibrated probabilities mostly predict Hold.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Result: buy-and-hold outperformed every version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76809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503920" y="1417320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$156,546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1984248"/>
            <a:ext cx="3136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Buy &amp; Hold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503920" y="2496312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$126,864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3063240"/>
            <a:ext cx="3136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v1 weekly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503920" y="3575304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$110,453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8503920" y="4142232"/>
            <a:ext cx="3136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v2 weekly — stayed in cash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503920" y="4654296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$156,546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8503920" y="5221224"/>
            <a:ext cx="3136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v3 weekly — never sold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Return and risk, 2023–24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63040"/>
                <a:gridCol w="1463040"/>
                <a:gridCol w="1280160"/>
                <a:gridCol w="1463040"/>
                <a:gridCol w="1097280"/>
                <a:gridCol w="1005840"/>
                <a:gridCol w="130759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Strategy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Final value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Annual return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Volatility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Max drawdown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Sharpe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Trades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Time invested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Buy &amp; Hold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$156,546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25.2%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12.8%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-10.0%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1.43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v1 weekly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$126,864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12.7%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9.8%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-9.7%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0.76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60%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v2 weekly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$110,453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5.1%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v3 weekly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$156,546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25.2%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12.8%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-10.0%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1.43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886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$100,000; 0.10% fee + 0.05% slippage per side; cash earns the 13-week T-bill rate; Sharpe measured above the T-bill rate.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4343400"/>
            <a:ext cx="3593592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4526280"/>
            <a:ext cx="3136392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volatility, same drawdown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5181600"/>
            <a:ext cx="3136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Time in cash reduced day-to-day swings, not the worst loss.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297680" y="4343400"/>
            <a:ext cx="3593592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26280" y="4526280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risk-adjusted return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4526280" y="5029200"/>
            <a:ext cx="3136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Sharpe 0.76 for v1 vs 1.43 for buy-and-hold.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046720" y="4343400"/>
            <a:ext cx="3593592" cy="1508760"/>
          </a:xfrm>
          <a:prstGeom prst="roundRect">
            <a:avLst>
              <a:gd name="adj" fmla="val 6061"/>
            </a:avLst>
          </a:prstGeom>
          <a:solidFill>
            <a:srgbClr val="FBEDE4"/>
          </a:solidFill>
          <a:ln w="12700">
            <a:solidFill>
              <a:srgbClr val="FBEDE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5320" y="4526280"/>
            <a:ext cx="3136392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Timing not better than chance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5181600"/>
            <a:ext cx="3136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v1 beat 27% of 1,000 random-timing strategies with the same exposure.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one test period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12-year walk-forward, 2013–2024.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Retrain every January on all earlier data, trade the following year, repeat; $100,000 chained across the 12 years.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3593592"/>
                <a:gridCol w="1554480"/>
                <a:gridCol w="1554480"/>
                <a:gridCol w="1554480"/>
                <a:gridCol w="1280160"/>
                <a:gridCol w="15544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Strategy (weekly decisions)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Final value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Annual return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Max drawdown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Sharpe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Time invested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Buy &amp; Hold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$499,271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14.4%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-33.7%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0.80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v1 · random forest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$164,406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4.2%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-23.9%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0.28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62%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v2 · logistic regression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$140,013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2.9%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-4.7%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0.46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2%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v3 · never sells — identical to buy-and-hold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Holdout, Jan 2025 – Oct 2026.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later period never used for any choice. v3 never sold and matched buy-and-hold: $134,410, 18.2% a year, max drawdown -18.8%.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4617720"/>
            <a:ext cx="11094415" cy="1325880"/>
          </a:xfrm>
          <a:prstGeom prst="roundRect">
            <a:avLst>
              <a:gd name="adj" fmla="val 6897"/>
            </a:avLst>
          </a:prstGeom>
          <a:solidFill>
            <a:srgbClr val="FBEDE4"/>
          </a:solidFill>
          <a:ln w="12700">
            <a:solidFill>
              <a:srgbClr val="FBEDE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4800600"/>
            <a:ext cx="10637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530352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Across 12 years no version beat buy-and-hold. Lower drawdowns came only from time out of the market, at a large cost in return (v1 4.2% and v2 2.9% a year vs 14.4%).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strategies underperformed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468112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directional skill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57400"/>
            <a:ext cx="5010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Days spent in cash returned as much as days invested (v1: +0.10% vs +0.09% per day). Leaving the market only gave up the upward drift.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172200" y="1371600"/>
            <a:ext cx="5468112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5544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Selection on a short, unusual period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057400"/>
            <a:ext cx="5010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v1 and v2 beat buy-and-hold on 2021–22, which included a bear market; the defensive rules they selected missed the 2023–24 rally.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657600"/>
            <a:ext cx="5468112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8404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Distorted probabilities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343400"/>
            <a:ext cx="5010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Class weighting overstated the chance of a down week (30% vs 21%), biasing v2’s expected return toward selling.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72200" y="3657600"/>
            <a:ext cx="5468112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8404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Costs — secondary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4343400"/>
            <a:ext cx="5010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Weekly decisions kept costs to about $2,554 for v1; the shortfall was mainly timing.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 imbalance and calibration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5836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406640" y="1371600"/>
            <a:ext cx="4233672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635240" y="1554480"/>
            <a:ext cx="3776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trade-off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635240" y="2057400"/>
            <a:ext cx="3776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Weighting the minority class improves its recall — required by the brief — but the predicted probabilities no longer reflect real frequencies.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406640" y="3566160"/>
            <a:ext cx="4233672" cy="2011680"/>
          </a:xfrm>
          <a:prstGeom prst="roundRect">
            <a:avLst>
              <a:gd name="adj" fmla="val 4545"/>
            </a:avLst>
          </a:prstGeom>
          <a:solidFill>
            <a:srgbClr val="FBEDE4"/>
          </a:solidFill>
          <a:ln w="12700">
            <a:solidFill>
              <a:srgbClr val="FBEDE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35240" y="3749040"/>
            <a:ext cx="3776472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Correction works on average only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635240" y="4404360"/>
            <a:ext cx="3776472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Pre-set test: within ±3 points in 8 of 10 years. Best result: 4 of 10, because the share of Sell weeks shifts from year to year.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623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Shown for v3’s weekly base model (logistic regression); the original gradient-boosting model gave the same pattern (30.3% → 21.5%).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limitation of machine learning, or of the question?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94415" cy="987552"/>
          </a:xfrm>
          <a:prstGeom prst="roundRect">
            <a:avLst>
              <a:gd name="adj" fmla="val 9259"/>
            </a:avLst>
          </a:prstGeom>
          <a:solidFill>
            <a:srgbClr val="FBEDE4"/>
          </a:solidFill>
          <a:ln w="12700">
            <a:solidFill>
              <a:srgbClr val="FBEDE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Mainly the question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4114800" y="1371600"/>
            <a:ext cx="729965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Next week’s direction for the most-traded fund in the world, from its own public price history. Persistent patterns there are competed away.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487168"/>
            <a:ext cx="11094415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487168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Partly the design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114800" y="2487168"/>
            <a:ext cx="729965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One asset, price data only, all-in or all-out, a one-week horizon. Relaxing these makes the problem easier, not solved.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602736"/>
            <a:ext cx="11094415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02736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ML adds value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114800" y="3602736"/>
            <a:ext cx="729965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Ranking many assets against each other, forecasting risk for position sizing, and using non-public data — usually with small edges after costs.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718304"/>
            <a:ext cx="11094415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718304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right benchmark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114800" y="4718304"/>
            <a:ext cx="729965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Return per unit of risk, and performance against random timing — not only final value against buy-and-hold.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Safeguards and limitations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468112" cy="4480560"/>
          </a:xfrm>
          <a:prstGeom prst="roundRect">
            <a:avLst>
              <a:gd name="adj" fmla="val 20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Safeguards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57400"/>
            <a:ext cx="501091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• Chronological splits with label-length buffers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• Selection rules fixed before results; tests scored once per design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• 51 automated leakage tests, run on every change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• Costs, slippage and interest on cash included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• Risk metrics and a random-timing benchmark, not only final value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172200" y="1371600"/>
            <a:ext cx="5468112" cy="4480560"/>
          </a:xfrm>
          <a:prstGeom prst="roundRect">
            <a:avLst>
              <a:gd name="adj" fmla="val 2041"/>
            </a:avLst>
          </a:prstGeom>
          <a:solidFill>
            <a:srgbClr val="FBEDE4"/>
          </a:solidFill>
          <a:ln w="12700">
            <a:solidFill>
              <a:srgbClr val="FBEDE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5544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057400"/>
            <a:ext cx="501091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• One asset and price-based features only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• Validation covers two years, one of them a bear market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• The weekly rebuild and the 2025–26 holdout were designed after earlier test results were known; a forward paper-trade from 13 Oct 2026 is the only blind test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• Results depend on the committed data snapshots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468112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5010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Predictable size, unpredictable direction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240280"/>
            <a:ext cx="5010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The classifier beats chance (macro-F1 ≈ 0.40 vs 0.32), but its skill is in recognising quiet weeks.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72200" y="1371600"/>
            <a:ext cx="5468112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5544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Buy-and-hold was not beaten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057400"/>
            <a:ext cx="5010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On return or Sharpe, in any period, by any version or decision schedule.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657600"/>
            <a:ext cx="5468112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8404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Good predictions are not good trades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343400"/>
            <a:ext cx="5010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Choices that improve classification scores can degrade trading decisions.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172200" y="3657600"/>
            <a:ext cx="5468112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8404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Short validation periods mislead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4343400"/>
            <a:ext cx="5010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Rules that won on 2021–22 failed on 2023–24.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10789920" cy="21945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</a:t>
            </a: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Code, notebooks, reports and tests: github.com/TKCH121/spy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A · Weekly vs daily decisions, 2023–24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737360"/>
                <a:gridCol w="1097280"/>
                <a:gridCol w="1371600"/>
                <a:gridCol w="1737360"/>
                <a:gridCol w="1097280"/>
                <a:gridCol w="222199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Version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Daily: final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Trades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Costs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Weekly: final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Trades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Costs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$129,069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$3,317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$126,864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$2,554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$121,812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$3,754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$110,453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$156,546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$156,546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Buy &amp; Hold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$156,546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$156,546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9319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Daily = the original versions, acting on a new 5-day prediction every trading day. Weekly = rebuilt versions, selected on a weekly schedule. Cash earns T-bills in both.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B · v1 confusion matrix, test 2023–24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108960" y="13716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Predicted Sell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3716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Predicted Hold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217920" y="13716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Predicted Buy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Actual Sell (92)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108960" y="1783080"/>
            <a:ext cx="1499616" cy="859536"/>
          </a:xfrm>
          <a:prstGeom prst="rect">
            <a:avLst/>
          </a:prstGeom>
          <a:solidFill>
            <a:srgbClr val="F6D2BC"/>
          </a:solidFill>
          <a:ln w="12700">
            <a:solidFill>
              <a:srgbClr val="F6D2B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108960" y="1783080"/>
            <a:ext cx="149961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24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663440" y="1783080"/>
            <a:ext cx="1499616" cy="859536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1783080"/>
            <a:ext cx="149961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29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217920" y="1783080"/>
            <a:ext cx="1499616" cy="859536"/>
          </a:xfrm>
          <a:prstGeom prst="rect">
            <a:avLst/>
          </a:prstGeom>
          <a:solidFill>
            <a:srgbClr val="D9E2F0"/>
          </a:solidFill>
          <a:ln w="12700">
            <a:solidFill>
              <a:srgbClr val="D9E2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0" y="1783080"/>
            <a:ext cx="149961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39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6974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Actual Hold (207)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108960" y="2697480"/>
            <a:ext cx="1499616" cy="859536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108960" y="2697480"/>
            <a:ext cx="149961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20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4663440" y="2697480"/>
            <a:ext cx="1499616" cy="859536"/>
          </a:xfrm>
          <a:prstGeom prst="rect">
            <a:avLst/>
          </a:prstGeom>
          <a:solidFill>
            <a:srgbClr val="C8571B"/>
          </a:solidFill>
          <a:ln w="12700">
            <a:solidFill>
              <a:srgbClr val="C8571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63440" y="2697480"/>
            <a:ext cx="149961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129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6217920" y="2697480"/>
            <a:ext cx="1499616" cy="859536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17920" y="2697480"/>
            <a:ext cx="149961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58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6118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Actual Buy (198)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108960" y="3611880"/>
            <a:ext cx="1499616" cy="859536"/>
          </a:xfrm>
          <a:prstGeom prst="rect">
            <a:avLst/>
          </a:prstGeom>
          <a:solidFill>
            <a:srgbClr val="D9E2F0"/>
          </a:solidFill>
          <a:ln w="12700">
            <a:solidFill>
              <a:srgbClr val="D9E2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08960" y="3611880"/>
            <a:ext cx="149961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56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4663440" y="3611880"/>
            <a:ext cx="1499616" cy="859536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63440" y="3611880"/>
            <a:ext cx="149961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72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17920" y="3611880"/>
            <a:ext cx="1499616" cy="859536"/>
          </a:xfrm>
          <a:prstGeom prst="rect">
            <a:avLst/>
          </a:prstGeom>
          <a:solidFill>
            <a:srgbClr val="F6D2BC"/>
          </a:solidFill>
          <a:ln w="12700">
            <a:solidFill>
              <a:srgbClr val="F6D2B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17920" y="3611880"/>
            <a:ext cx="149961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70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8138160" y="1371600"/>
            <a:ext cx="3502152" cy="274320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366760" y="1554480"/>
            <a:ext cx="3044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366760" y="2057400"/>
            <a:ext cx="304495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Hold weeks are recognised (62% recall). Of 92 Sell weeks, 39 were predicted Buy; of 198 Buy weeks, 56 were predicted Sell.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PY Signal">
  <a:themeElements>
    <a:clrScheme name="SPY Signal">
      <a:dk1>
        <a:srgbClr val="14213D"/>
      </a:dk1>
      <a:lt1>
        <a:srgbClr val="FFFFFF"/>
      </a:lt1>
      <a:dk2>
        <a:srgbClr val="3B4A63"/>
      </a:dk2>
      <a:lt2>
        <a:srgbClr val="EEF1F6"/>
      </a:lt2>
      <a:accent1>
        <a:srgbClr val="C8571B"/>
      </a:accent1>
      <a:accent2>
        <a:srgbClr val="2F5D9E"/>
      </a:accent2>
      <a:accent3>
        <a:srgbClr val="8A96A8"/>
      </a:accent3>
      <a:accent4>
        <a:srgbClr val="E9A46A"/>
      </a:accent4>
      <a:accent5>
        <a:srgbClr val="4E7D5B"/>
      </a:accent5>
      <a:accent6>
        <a:srgbClr val="6B4F96"/>
      </a:accent6>
      <a:hlink>
        <a:srgbClr val="2F5D9E"/>
      </a:hlink>
      <a:folHlink>
        <a:srgbClr val="6B4F96"/>
      </a:folHlink>
    </a:clrScheme>
    <a:fontScheme name="SPY Sign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SPY weekly Buy / Hold / Sell model</dc:title>
  <dc:subject>PptxGenJS Presentation</dc:subject>
  <dc:creator>Module 3 Group 7</dc:creator>
  <cp:lastModifiedBy>Module 3 Group 7</cp:lastModifiedBy>
  <cp:revision>1</cp:revision>
  <dcterms:created xsi:type="dcterms:W3CDTF">2026-10-22T13:36:11Z</dcterms:created>
  <dcterms:modified xsi:type="dcterms:W3CDTF">2026-10-22T13:36:11Z</dcterms:modified>
</cp:coreProperties>
</file>