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5.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6.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11e0b75e-bd86-5d9d-22b2-e7afaf5999c8}">
          <p14:sldIdLst>
            <p14:sldId id="256"/>
            <p14:sldId id="257"/>
            <p14:sldId id="258"/>
            <p14:sldId id="259"/>
            <p14:sldId id="260"/>
          </p14:sldIdLst>
        </p14:section>
        <p14:section name="How the model works" id="{0fafce9b-ae75-184c-d592-584cb09dfc1b}">
          <p14:sldIdLst>
            <p14:sldId id="261"/>
            <p14:sldId id="262"/>
            <p14:sldId id="263"/>
            <p14:sldId id="264"/>
            <p14:sldId id="265"/>
            <p14:sldId id="266"/>
          </p14:sldIdLst>
        </p14:section>
        <p14:section name="What happened" id="{8a682346-2999-72b7-f3a2-866de0eccdba}">
          <p14:sldIdLst>
            <p14:sldId id="267"/>
            <p14:sldId id="268"/>
            <p14:sldId id="269"/>
            <p14:sldId id="270"/>
          </p14:sldIdLst>
        </p14:section>
        <p14:section name="Version 2" id="{51ab5132-9e7d-ae07-6e0a-188b36b004ed}">
          <p14:sldIdLst>
            <p14:sldId id="271"/>
            <p14:sldId id="272"/>
            <p14:sldId id="273"/>
            <p14:sldId id="274"/>
            <p14:sldId id="275"/>
          </p14:sldIdLst>
        </p14:section>
        <p14:section name="Version 3" id="{94935d15-ec86-c074-2bfa-59fd3f3f3af9}">
          <p14:sldIdLst>
            <p14:sldId id="276"/>
            <p14:sldId id="277"/>
            <p14:sldId id="278"/>
          </p14:sldIdLst>
        </p14:section>
        <p14:section name="Wrap-up" id="{1beb2156-e078-46d5-66ef-14f2958e409e}">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on 3 Jan 2023 → value on 31 Dec 2024</a:t>
            </a:r>
          </a:p>
        </c:rich>
      </c:tx>
      <c:layout/>
      <c:overlay val="0"/>
    </c:title>
    <c:autoTitleDeleted val="0"/>
    <c:plotArea>
      <c:layout/>
      <c:barChart>
        <c:barDir val="col"/>
        <c:grouping val="clustered"/>
        <c:varyColors val="0"/>
        <c:ser>
          <c:idx val="0"/>
          <c:order val="0"/>
          <c:tx>
            <c:strRef>
              <c:f>Sheet1!$B$1</c:f>
              <c:strCache>
                <c:ptCount val="1"/>
                <c:pt idx="0">
                  <c:v>Money at end of 2024</c:v>
                </c:pt>
              </c:strCache>
            </c:strRef>
          </c:tx>
          <c:spPr>
            <a:solidFill>
              <a:srgbClr val="14213D"/>
            </a:solidFill>
            <a:effectLst/>
          </c:spPr>
          <c:invertIfNegative val="0"/>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cat>
            <c:multiLvlStrRef>
              <c:f>Sheet1!$A$2:$A$3</c:f>
              <c:multiLvlStrCache>
                <c:ptCount val="2"/>
                <c:lvl>
                  <c:pt idx="0">
                    <c:v>Buy &amp; Hold</c:v>
                  </c:pt>
                  <c:pt idx="1">
                    <c:v>Our model (v1)</c:v>
                  </c:pt>
                </c:lvl>
              </c:multiLvlStrCache>
            </c:multiLvlStrRef>
          </c:cat>
          <c:val>
            <c:numRef>
              <c:f>Sheet1!$B$2:$B$3</c:f>
              <c:numCache>
                <c:formatCode>General</c:formatCode>
                <c:ptCount val="2"/>
                <c:pt idx="0">
                  <c:v>156546</c:v>
                </c:pt>
                <c:pt idx="1">
                  <c:v>123714</c:v>
                </c:pt>
              </c:numCache>
            </c:numRef>
          </c:val>
        </c:ser>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180000"/>
          <c:min val="0"/>
        </c:scaling>
        <c:delete val="1"/>
        <c:axPos val="l"/>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Buy &amp; Hold</c:v>
                </c:pt>
              </c:strCache>
            </c:strRef>
          </c:tx>
          <c:spPr>
            <a:solidFill>
              <a:srgbClr val="14213D"/>
            </a:solidFill>
            <a:ln w="38100" cap="flat">
              <a:solidFill>
                <a:srgbClr val="14213D"/>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Sheet1!$B$2:$B$103</c:f>
              <c:numCache>
                <c:formatCode>General</c:formatCode>
                <c:ptCount val="102"/>
                <c:pt idx="0">
                  <c:v>98928</c:v>
                </c:pt>
                <c:pt idx="1">
                  <c:v>101463</c:v>
                </c:pt>
                <c:pt idx="2">
                  <c:v>101700</c:v>
                </c:pt>
                <c:pt idx="3">
                  <c:v>104001</c:v>
                </c:pt>
                <c:pt idx="4">
                  <c:v>106716</c:v>
                </c:pt>
                <c:pt idx="5">
                  <c:v>106677</c:v>
                </c:pt>
                <c:pt idx="6">
                  <c:v>107542</c:v>
                </c:pt>
                <c:pt idx="7">
                  <c:v>104082</c:v>
                </c:pt>
                <c:pt idx="8">
                  <c:v>103342</c:v>
                </c:pt>
                <c:pt idx="9">
                  <c:v>101718</c:v>
                </c:pt>
                <c:pt idx="10">
                  <c:v>102900</c:v>
                </c:pt>
                <c:pt idx="11">
                  <c:v>102526</c:v>
                </c:pt>
                <c:pt idx="12">
                  <c:v>105272</c:v>
                </c:pt>
                <c:pt idx="13">
                  <c:v>106704</c:v>
                </c:pt>
                <c:pt idx="14">
                  <c:v>107556</c:v>
                </c:pt>
                <c:pt idx="15">
                  <c:v>107488</c:v>
                </c:pt>
                <c:pt idx="16">
                  <c:v>108461</c:v>
                </c:pt>
                <c:pt idx="17">
                  <c:v>107601</c:v>
                </c:pt>
                <c:pt idx="18">
                  <c:v>107329</c:v>
                </c:pt>
                <c:pt idx="19">
                  <c:v>109163</c:v>
                </c:pt>
                <c:pt idx="20">
                  <c:v>109528</c:v>
                </c:pt>
                <c:pt idx="21">
                  <c:v>111374</c:v>
                </c:pt>
                <c:pt idx="22">
                  <c:v>113121</c:v>
                </c:pt>
                <c:pt idx="23">
                  <c:v>114426</c:v>
                </c:pt>
                <c:pt idx="24">
                  <c:v>114162</c:v>
                </c:pt>
                <c:pt idx="25">
                  <c:v>115983</c:v>
                </c:pt>
                <c:pt idx="26">
                  <c:v>116740</c:v>
                </c:pt>
                <c:pt idx="27">
                  <c:v>119142</c:v>
                </c:pt>
                <c:pt idx="28">
                  <c:v>119223</c:v>
                </c:pt>
                <c:pt idx="29">
                  <c:v>117815</c:v>
                </c:pt>
                <c:pt idx="30">
                  <c:v>116669</c:v>
                </c:pt>
                <c:pt idx="31">
                  <c:v>115070</c:v>
                </c:pt>
                <c:pt idx="32">
                  <c:v>115957</c:v>
                </c:pt>
                <c:pt idx="33">
                  <c:v>118046</c:v>
                </c:pt>
                <c:pt idx="34">
                  <c:v>116433</c:v>
                </c:pt>
                <c:pt idx="35">
                  <c:v>117876</c:v>
                </c:pt>
                <c:pt idx="36">
                  <c:v>113309</c:v>
                </c:pt>
                <c:pt idx="37">
                  <c:v>112555</c:v>
                </c:pt>
                <c:pt idx="38">
                  <c:v>111499</c:v>
                </c:pt>
                <c:pt idx="39">
                  <c:v>113905</c:v>
                </c:pt>
                <c:pt idx="40">
                  <c:v>112006</c:v>
                </c:pt>
                <c:pt idx="41">
                  <c:v>108360</c:v>
                </c:pt>
                <c:pt idx="42">
                  <c:v>113143</c:v>
                </c:pt>
                <c:pt idx="43">
                  <c:v>113952</c:v>
                </c:pt>
                <c:pt idx="44">
                  <c:v>118257</c:v>
                </c:pt>
                <c:pt idx="45">
                  <c:v>119589</c:v>
                </c:pt>
                <c:pt idx="46">
                  <c:v>120587</c:v>
                </c:pt>
                <c:pt idx="47">
                  <c:v>120876</c:v>
                </c:pt>
                <c:pt idx="48">
                  <c:v>123774</c:v>
                </c:pt>
                <c:pt idx="49">
                  <c:v>124913</c:v>
                </c:pt>
                <c:pt idx="50">
                  <c:v>124649</c:v>
                </c:pt>
                <c:pt idx="51">
                  <c:v>124974</c:v>
                </c:pt>
                <c:pt idx="52">
                  <c:v>124554</c:v>
                </c:pt>
                <c:pt idx="53">
                  <c:v>128009</c:v>
                </c:pt>
                <c:pt idx="54">
                  <c:v>127347</c:v>
                </c:pt>
                <c:pt idx="55">
                  <c:v>131361</c:v>
                </c:pt>
                <c:pt idx="56">
                  <c:v>131485</c:v>
                </c:pt>
                <c:pt idx="57">
                  <c:v>133840</c:v>
                </c:pt>
                <c:pt idx="58">
                  <c:v>133993</c:v>
                </c:pt>
                <c:pt idx="59">
                  <c:v>135768</c:v>
                </c:pt>
                <c:pt idx="60">
                  <c:v>135805</c:v>
                </c:pt>
                <c:pt idx="61">
                  <c:v>138145</c:v>
                </c:pt>
                <c:pt idx="62">
                  <c:v>138375</c:v>
                </c:pt>
                <c:pt idx="63">
                  <c:v>137147</c:v>
                </c:pt>
                <c:pt idx="64">
                  <c:v>135142</c:v>
                </c:pt>
                <c:pt idx="65">
                  <c:v>130992</c:v>
                </c:pt>
                <c:pt idx="66">
                  <c:v>134457</c:v>
                </c:pt>
                <c:pt idx="67">
                  <c:v>135259</c:v>
                </c:pt>
                <c:pt idx="68">
                  <c:v>137785</c:v>
                </c:pt>
                <c:pt idx="69">
                  <c:v>140063</c:v>
                </c:pt>
                <c:pt idx="70">
                  <c:v>140060</c:v>
                </c:pt>
                <c:pt idx="71">
                  <c:v>139626</c:v>
                </c:pt>
                <c:pt idx="72">
                  <c:v>141706</c:v>
                </c:pt>
                <c:pt idx="73">
                  <c:v>144732</c:v>
                </c:pt>
                <c:pt idx="74">
                  <c:v>144596</c:v>
                </c:pt>
                <c:pt idx="75">
                  <c:v>145706</c:v>
                </c:pt>
                <c:pt idx="76">
                  <c:v>148973</c:v>
                </c:pt>
                <c:pt idx="77">
                  <c:v>147810</c:v>
                </c:pt>
                <c:pt idx="78">
                  <c:v>143641</c:v>
                </c:pt>
                <c:pt idx="79">
                  <c:v>146183</c:v>
                </c:pt>
                <c:pt idx="80">
                  <c:v>137651</c:v>
                </c:pt>
                <c:pt idx="81">
                  <c:v>144310</c:v>
                </c:pt>
                <c:pt idx="82">
                  <c:v>148787</c:v>
                </c:pt>
                <c:pt idx="83">
                  <c:v>148171</c:v>
                </c:pt>
                <c:pt idx="84">
                  <c:v>145865</c:v>
                </c:pt>
                <c:pt idx="85">
                  <c:v>148381</c:v>
                </c:pt>
                <c:pt idx="86">
                  <c:v>151537</c:v>
                </c:pt>
                <c:pt idx="87">
                  <c:v>152353</c:v>
                </c:pt>
                <c:pt idx="88">
                  <c:v>151160</c:v>
                </c:pt>
                <c:pt idx="89">
                  <c:v>153372</c:v>
                </c:pt>
                <c:pt idx="90">
                  <c:v>155028</c:v>
                </c:pt>
                <c:pt idx="91">
                  <c:v>154200</c:v>
                </c:pt>
                <c:pt idx="92">
                  <c:v>151378</c:v>
                </c:pt>
                <c:pt idx="93">
                  <c:v>158558</c:v>
                </c:pt>
                <c:pt idx="94">
                  <c:v>157956</c:v>
                </c:pt>
                <c:pt idx="95">
                  <c:v>158042</c:v>
                </c:pt>
                <c:pt idx="96">
                  <c:v>160406</c:v>
                </c:pt>
                <c:pt idx="97">
                  <c:v>161806</c:v>
                </c:pt>
                <c:pt idx="98">
                  <c:v>160848</c:v>
                </c:pt>
                <c:pt idx="99">
                  <c:v>157900</c:v>
                </c:pt>
                <c:pt idx="100">
                  <c:v>157118</c:v>
                </c:pt>
                <c:pt idx="101">
                  <c:v>156546</c:v>
                </c:pt>
              </c:numCache>
            </c:numRef>
          </c:val>
          <c:smooth val="0"/>
        </c:ser>
        <c:ser>
          <c:idx val="1"/>
          <c:order val="1"/>
          <c:tx>
            <c:strRef>
              <c:f>Sheet1!$C$1</c:f>
              <c:strCache>
                <c:ptCount val="1"/>
                <c:pt idx="0">
                  <c:v>Our model (v1)</c:v>
                </c:pt>
              </c:strCache>
            </c:strRef>
          </c:tx>
          <c:spPr>
            <a:solidFill>
              <a:srgbClr val="C8571B"/>
            </a:solidFill>
            <a:ln w="38100" cap="flat">
              <a:solidFill>
                <a:srgbClr val="C8571B"/>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Sheet1!$C$2:$C$103</c:f>
              <c:numCache>
                <c:formatCode>General</c:formatCode>
                <c:ptCount val="102"/>
                <c:pt idx="0">
                  <c:v>100000</c:v>
                </c:pt>
                <c:pt idx="1">
                  <c:v>100000</c:v>
                </c:pt>
                <c:pt idx="2">
                  <c:v>97968</c:v>
                </c:pt>
                <c:pt idx="3">
                  <c:v>100185</c:v>
                </c:pt>
                <c:pt idx="4">
                  <c:v>102801</c:v>
                </c:pt>
                <c:pt idx="5">
                  <c:v>102905</c:v>
                </c:pt>
                <c:pt idx="6">
                  <c:v>103740</c:v>
                </c:pt>
                <c:pt idx="7">
                  <c:v>100852</c:v>
                </c:pt>
                <c:pt idx="8">
                  <c:v>100852</c:v>
                </c:pt>
                <c:pt idx="9">
                  <c:v>100852</c:v>
                </c:pt>
                <c:pt idx="10">
                  <c:v>100852</c:v>
                </c:pt>
                <c:pt idx="11">
                  <c:v>99296</c:v>
                </c:pt>
                <c:pt idx="12">
                  <c:v>101956</c:v>
                </c:pt>
                <c:pt idx="13">
                  <c:v>103342</c:v>
                </c:pt>
                <c:pt idx="14">
                  <c:v>104168</c:v>
                </c:pt>
                <c:pt idx="15">
                  <c:v>104103</c:v>
                </c:pt>
                <c:pt idx="16">
                  <c:v>105045</c:v>
                </c:pt>
                <c:pt idx="17">
                  <c:v>104211</c:v>
                </c:pt>
                <c:pt idx="18">
                  <c:v>104254</c:v>
                </c:pt>
                <c:pt idx="19">
                  <c:v>103714</c:v>
                </c:pt>
                <c:pt idx="20">
                  <c:v>104061</c:v>
                </c:pt>
                <c:pt idx="21">
                  <c:v>105815</c:v>
                </c:pt>
                <c:pt idx="22">
                  <c:v>107475</c:v>
                </c:pt>
                <c:pt idx="23">
                  <c:v>108715</c:v>
                </c:pt>
                <c:pt idx="24">
                  <c:v>108463</c:v>
                </c:pt>
                <c:pt idx="25">
                  <c:v>109977</c:v>
                </c:pt>
                <c:pt idx="26">
                  <c:v>109977</c:v>
                </c:pt>
                <c:pt idx="27">
                  <c:v>109977</c:v>
                </c:pt>
                <c:pt idx="28">
                  <c:v>109977</c:v>
                </c:pt>
                <c:pt idx="29">
                  <c:v>109977</c:v>
                </c:pt>
                <c:pt idx="30">
                  <c:v>109251</c:v>
                </c:pt>
                <c:pt idx="31">
                  <c:v>107753</c:v>
                </c:pt>
                <c:pt idx="32">
                  <c:v>108584</c:v>
                </c:pt>
                <c:pt idx="33">
                  <c:v>108827</c:v>
                </c:pt>
                <c:pt idx="34">
                  <c:v>107804</c:v>
                </c:pt>
                <c:pt idx="35">
                  <c:v>109139</c:v>
                </c:pt>
                <c:pt idx="36">
                  <c:v>104911</c:v>
                </c:pt>
                <c:pt idx="37">
                  <c:v>104213</c:v>
                </c:pt>
                <c:pt idx="38">
                  <c:v>103235</c:v>
                </c:pt>
                <c:pt idx="39">
                  <c:v>105463</c:v>
                </c:pt>
                <c:pt idx="40">
                  <c:v>103705</c:v>
                </c:pt>
                <c:pt idx="41">
                  <c:v>100329</c:v>
                </c:pt>
                <c:pt idx="42">
                  <c:v>101060</c:v>
                </c:pt>
                <c:pt idx="43">
                  <c:v>101072</c:v>
                </c:pt>
                <c:pt idx="44">
                  <c:v>104890</c:v>
                </c:pt>
                <c:pt idx="45">
                  <c:v>106071</c:v>
                </c:pt>
                <c:pt idx="46">
                  <c:v>106957</c:v>
                </c:pt>
                <c:pt idx="47">
                  <c:v>105982</c:v>
                </c:pt>
                <c:pt idx="48">
                  <c:v>105982</c:v>
                </c:pt>
                <c:pt idx="49">
                  <c:v>105982</c:v>
                </c:pt>
                <c:pt idx="50">
                  <c:v>105982</c:v>
                </c:pt>
                <c:pt idx="51">
                  <c:v>105982</c:v>
                </c:pt>
                <c:pt idx="52">
                  <c:v>105982</c:v>
                </c:pt>
                <c:pt idx="53">
                  <c:v>105982</c:v>
                </c:pt>
                <c:pt idx="54">
                  <c:v>105982</c:v>
                </c:pt>
                <c:pt idx="55">
                  <c:v>105982</c:v>
                </c:pt>
                <c:pt idx="56">
                  <c:v>105982</c:v>
                </c:pt>
                <c:pt idx="57">
                  <c:v>105982</c:v>
                </c:pt>
                <c:pt idx="58">
                  <c:v>105982</c:v>
                </c:pt>
                <c:pt idx="59">
                  <c:v>105982</c:v>
                </c:pt>
                <c:pt idx="60">
                  <c:v>105982</c:v>
                </c:pt>
                <c:pt idx="61">
                  <c:v>105982</c:v>
                </c:pt>
                <c:pt idx="62">
                  <c:v>105982</c:v>
                </c:pt>
                <c:pt idx="63">
                  <c:v>106640</c:v>
                </c:pt>
                <c:pt idx="64">
                  <c:v>105646</c:v>
                </c:pt>
                <c:pt idx="65">
                  <c:v>101399</c:v>
                </c:pt>
                <c:pt idx="66">
                  <c:v>103577</c:v>
                </c:pt>
                <c:pt idx="67">
                  <c:v>103449</c:v>
                </c:pt>
                <c:pt idx="68">
                  <c:v>105381</c:v>
                </c:pt>
                <c:pt idx="69">
                  <c:v>107123</c:v>
                </c:pt>
                <c:pt idx="70">
                  <c:v>107121</c:v>
                </c:pt>
                <c:pt idx="71">
                  <c:v>106875</c:v>
                </c:pt>
                <c:pt idx="72">
                  <c:v>106875</c:v>
                </c:pt>
                <c:pt idx="73">
                  <c:v>106875</c:v>
                </c:pt>
                <c:pt idx="74">
                  <c:v>106875</c:v>
                </c:pt>
                <c:pt idx="75">
                  <c:v>106875</c:v>
                </c:pt>
                <c:pt idx="76">
                  <c:v>106875</c:v>
                </c:pt>
                <c:pt idx="77">
                  <c:v>106875</c:v>
                </c:pt>
                <c:pt idx="78">
                  <c:v>104444</c:v>
                </c:pt>
                <c:pt idx="79">
                  <c:v>106293</c:v>
                </c:pt>
                <c:pt idx="80">
                  <c:v>106198</c:v>
                </c:pt>
                <c:pt idx="81">
                  <c:v>111335</c:v>
                </c:pt>
                <c:pt idx="82">
                  <c:v>114790</c:v>
                </c:pt>
                <c:pt idx="83">
                  <c:v>114315</c:v>
                </c:pt>
                <c:pt idx="84">
                  <c:v>112535</c:v>
                </c:pt>
                <c:pt idx="85">
                  <c:v>112111</c:v>
                </c:pt>
                <c:pt idx="86">
                  <c:v>113784</c:v>
                </c:pt>
                <c:pt idx="87">
                  <c:v>114397</c:v>
                </c:pt>
                <c:pt idx="88">
                  <c:v>113502</c:v>
                </c:pt>
                <c:pt idx="89">
                  <c:v>115163</c:v>
                </c:pt>
                <c:pt idx="90">
                  <c:v>116406</c:v>
                </c:pt>
                <c:pt idx="91">
                  <c:v>115785</c:v>
                </c:pt>
                <c:pt idx="92">
                  <c:v>115733</c:v>
                </c:pt>
                <c:pt idx="93">
                  <c:v>120472</c:v>
                </c:pt>
                <c:pt idx="94">
                  <c:v>120015</c:v>
                </c:pt>
                <c:pt idx="95">
                  <c:v>120080</c:v>
                </c:pt>
                <c:pt idx="96">
                  <c:v>121876</c:v>
                </c:pt>
                <c:pt idx="97">
                  <c:v>122940</c:v>
                </c:pt>
                <c:pt idx="98">
                  <c:v>122212</c:v>
                </c:pt>
                <c:pt idx="99">
                  <c:v>122575</c:v>
                </c:pt>
                <c:pt idx="100">
                  <c:v>123714</c:v>
                </c:pt>
                <c:pt idx="101">
                  <c:v>123714</c:v>
                </c:pt>
              </c:numCache>
            </c:numRef>
          </c:val>
          <c:smooth val="0"/>
        </c:ser>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tickLblSkip val="13"/>
      </c:catAx>
      <c:valAx>
        <c:axId val="2094734552"/>
        <c:scaling>
          <c:orientation val="minMax"/>
          <c:max val="170000"/>
          <c:min val="90000"/>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Practice-exam score (macro-F1, 2021–22) — higher is better</a:t>
            </a:r>
          </a:p>
        </c:rich>
      </c:tx>
      <c:layout/>
      <c:overlay val="0"/>
    </c:title>
    <c:autoTitleDeleted val="0"/>
    <c:plotArea>
      <c:layout/>
      <c:barChart>
        <c:barDir val="bar"/>
        <c:grouping val="clustered"/>
        <c:varyColors val="0"/>
        <c:ser>
          <c:idx val="0"/>
          <c:order val="0"/>
          <c:tx>
            <c:strRef>
              <c:f>Sheet1!$B$1</c:f>
              <c:strCache>
                <c:ptCount val="1"/>
                <c:pt idx="0">
                  <c:v>Practice-exam score</c:v>
                </c:pt>
              </c:strCache>
            </c:strRef>
          </c:tx>
          <c:spPr>
            <a:solidFill>
              <a:srgbClr val="C8571B"/>
            </a:solidFill>
            <a:effectLst/>
          </c:spPr>
          <c:invertIfNegative val="0"/>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C8571B"/>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3B4A63"/>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cat>
            <c:multiLvlStrRef>
              <c:f>Sheet1!$A$2:$A$9</c:f>
              <c:multiLvlStrCache>
                <c:ptCount val="8"/>
                <c:lvl>
                  <c:pt idx="0">
                    <c:v>Random forest</c:v>
                  </c:pt>
                  <c:pt idx="1">
                    <c:v>Logistic regression + SMOTE</c:v>
                  </c:pt>
                  <c:pt idx="2">
                    <c:v>Logistic regression (8 inputs)</c:v>
                  </c:pt>
                  <c:pt idx="3">
                    <c:v>Logistic regression</c:v>
                  </c:pt>
                  <c:pt idx="4">
                    <c:v>Random guessing</c:v>
                  </c:pt>
                  <c:pt idx="5">
                    <c:v>Logistic regression, no weighting</c:v>
                  </c:pt>
                  <c:pt idx="6">
                    <c:v>Gradient boosting</c:v>
                  </c:pt>
                  <c:pt idx="7">
                    <c:v>Gradient boosting (8 inputs)</c:v>
                  </c:pt>
                </c:lvl>
              </c:multiLvlStrCache>
            </c:multiLvlStrRef>
          </c:cat>
          <c:val>
            <c:numRef>
              <c:f>Sheet1!$B$2:$B$9</c:f>
              <c:numCache>
                <c:formatCode>General</c:formatCode>
                <c:ptCount val="8"/>
                <c:pt idx="0">
                  <c:v>0.4036</c:v>
                </c:pt>
                <c:pt idx="1">
                  <c:v>0.364</c:v>
                </c:pt>
                <c:pt idx="2">
                  <c:v>0.3619</c:v>
                </c:pt>
                <c:pt idx="3">
                  <c:v>0.3593</c:v>
                </c:pt>
                <c:pt idx="4">
                  <c:v>0.3328</c:v>
                </c:pt>
                <c:pt idx="5">
                  <c:v>0.3289</c:v>
                </c:pt>
                <c:pt idx="6">
                  <c:v>0.322</c:v>
                </c:pt>
                <c:pt idx="7">
                  <c:v>0.2915</c:v>
                </c:pt>
              </c:numCache>
            </c:numRef>
          </c:val>
        </c:ser>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Version 2 minus Buy &amp; Hold, percentage points per year (re-trained every January)</a:t>
            </a:r>
          </a:p>
        </c:rich>
      </c:tx>
      <c:layout/>
      <c:overlay val="0"/>
    </c:title>
    <c:autoTitleDeleted val="0"/>
    <c:plotArea>
      <c:layout/>
      <c:barChart>
        <c:barDir val="col"/>
        <c:grouping val="clustered"/>
        <c:varyColors val="0"/>
        <c:ser>
          <c:idx val="0"/>
          <c:order val="0"/>
          <c:tx>
            <c:strRef>
              <c:f>Sheet1!$B$1</c:f>
              <c:strCache>
                <c:ptCount val="1"/>
                <c:pt idx="0">
                  <c:v>v2 minus Buy &amp; Hold</c:v>
                </c:pt>
              </c:strCache>
            </c:strRef>
          </c:tx>
          <c:spPr>
            <a:solidFill>
              <a:srgbClr val="8A96A8"/>
            </a:solidFill>
            <a:effectLst/>
          </c:spPr>
          <c:invertIfNegative val="0"/>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C8571B"/>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dPt>
            <c:idx val="8"/>
            <c:invertIfNegative val="0"/>
            <c:bubble3D val="0"/>
            <c:spPr>
              <a:solidFill>
                <a:srgbClr val="8A96A8"/>
              </a:solidFill>
              <a:effectLst/>
            </c:spPr>
          </c:dPt>
          <c:dPt>
            <c:idx val="9"/>
            <c:invertIfNegative val="0"/>
            <c:bubble3D val="0"/>
            <c:spPr>
              <a:solidFill>
                <a:srgbClr val="C8571B"/>
              </a:solidFill>
              <a:effectLst/>
            </c:spPr>
          </c:dPt>
          <c:dPt>
            <c:idx val="10"/>
            <c:invertIfNegative val="0"/>
            <c:bubble3D val="0"/>
            <c:spPr>
              <a:solidFill>
                <a:srgbClr val="8A96A8"/>
              </a:solidFill>
              <a:effectLst/>
            </c:spPr>
          </c:dPt>
          <c:dPt>
            <c:idx val="11"/>
            <c:invertIfNegative val="0"/>
            <c:bubble3D val="0"/>
            <c:spPr>
              <a:solidFill>
                <a:srgbClr val="8A96A8"/>
              </a:solidFill>
              <a:effectLst/>
            </c:spPr>
          </c:dPt>
          <c:cat>
            <c:multiLvlStrRef>
              <c:f>Sheet1!$A$2:$A$13</c:f>
              <c:multiLvlStrCache>
                <c:ptCount val="12"/>
                <c:lvl>
                  <c:pt idx="0">
                    <c:v>2013</c:v>
                  </c:pt>
                  <c:pt idx="1">
                    <c:v>2014</c:v>
                  </c:pt>
                  <c:pt idx="2">
                    <c:v>2015</c:v>
                  </c:pt>
                  <c:pt idx="3">
                    <c:v>2016</c:v>
                  </c:pt>
                  <c:pt idx="4">
                    <c:v>2017</c:v>
                  </c:pt>
                  <c:pt idx="5">
                    <c:v>2018</c:v>
                  </c:pt>
                  <c:pt idx="6">
                    <c:v>2019</c:v>
                  </c:pt>
                  <c:pt idx="7">
                    <c:v>2020</c:v>
                  </c:pt>
                  <c:pt idx="8">
                    <c:v>2021</c:v>
                  </c:pt>
                  <c:pt idx="9">
                    <c:v>2022</c:v>
                  </c:pt>
                  <c:pt idx="10">
                    <c:v>2023</c:v>
                  </c:pt>
                  <c:pt idx="11">
                    <c:v>2024</c:v>
                  </c:pt>
                </c:lvl>
              </c:multiLvlStrCache>
            </c:multiLvlStrRef>
          </c:cat>
          <c:val>
            <c:numRef>
              <c:f>Sheet1!$B$2:$B$13</c:f>
              <c:numCache>
                <c:formatCode>General</c:formatCode>
                <c:ptCount val="12"/>
                <c:pt idx="0">
                  <c:v>-28.8</c:v>
                </c:pt>
                <c:pt idx="1">
                  <c:v>-7.1</c:v>
                </c:pt>
                <c:pt idx="2">
                  <c:v>-9.6</c:v>
                </c:pt>
                <c:pt idx="3">
                  <c:v>1.5</c:v>
                </c:pt>
                <c:pt idx="4">
                  <c:v>-14.6</c:v>
                </c:pt>
                <c:pt idx="5">
                  <c:v>-9.2</c:v>
                </c:pt>
                <c:pt idx="6">
                  <c:v>-7.5</c:v>
                </c:pt>
                <c:pt idx="7">
                  <c:v>-28.9</c:v>
                </c:pt>
                <c:pt idx="8">
                  <c:v>-16.4</c:v>
                </c:pt>
                <c:pt idx="9">
                  <c:v>21.6</c:v>
                </c:pt>
                <c:pt idx="10">
                  <c:v>-14.9</c:v>
                </c:pt>
                <c:pt idx="11">
                  <c:v>-6.5</c:v>
                </c:pt>
              </c:numCache>
            </c:numRef>
          </c:val>
        </c:ser>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Average predicted chance of a down week, 2013–2022 (re-trained each year)</a:t>
            </a:r>
          </a:p>
        </c:rich>
      </c:tx>
      <c:layout/>
      <c:overlay val="0"/>
    </c:title>
    <c:autoTitleDeleted val="0"/>
    <c:plotArea>
      <c:layout/>
      <c:barChart>
        <c:barDir val="bar"/>
        <c:grouping val="clustered"/>
        <c:varyColors val="0"/>
        <c:ser>
          <c:idx val="0"/>
          <c:order val="0"/>
          <c:tx>
            <c:strRef>
              <c:f>Sheet1!$B$1</c:f>
              <c:strCache>
                <c:ptCount val="1"/>
                <c:pt idx="0">
                  <c:v>Average predicted chance of a down week</c:v>
                </c:pt>
              </c:strCache>
            </c:strRef>
          </c:tx>
          <c:spPr>
            <a:solidFill>
              <a:srgbClr val="8A96A8"/>
            </a:solidFill>
            <a:effectLst/>
          </c:spPr>
          <c:invertIfNegative val="0"/>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C8571B"/>
              </a:solidFill>
              <a:effectLst/>
            </c:spPr>
          </c:dPt>
          <c:dPt>
            <c:idx val="2"/>
            <c:invertIfNegative val="0"/>
            <c:bubble3D val="0"/>
            <c:spPr>
              <a:solidFill>
                <a:srgbClr val="C8571B"/>
              </a:solidFill>
              <a:effectLst/>
            </c:spPr>
          </c:dPt>
          <c:dPt>
            <c:idx val="3"/>
            <c:invertIfNegative val="0"/>
            <c:bubble3D val="0"/>
            <c:spPr>
              <a:solidFill>
                <a:srgbClr val="E9A46A"/>
              </a:solidFill>
              <a:effectLst/>
            </c:spPr>
          </c:dPt>
          <c:dPt>
            <c:idx val="4"/>
            <c:invertIfNegative val="0"/>
            <c:bubble3D val="0"/>
            <c:spPr>
              <a:solidFill>
                <a:srgbClr val="14213D"/>
              </a:solidFill>
              <a:effectLst/>
            </c:spPr>
          </c:dPt>
          <c:cat>
            <c:multiLvlStrRef>
              <c:f>Sheet1!$A$2:$A$6</c:f>
              <c:multiLvlStrCache>
                <c:ptCount val="5"/>
                <c:lvl>
                  <c:pt idx="0">
                    <c:v>v2 as it was</c:v>
                  </c:pt>
                  <c:pt idx="1">
                    <c:v>No extra weight</c:v>
                  </c:pt>
                  <c:pt idx="2">
                    <c:v>Weight, then undo it</c:v>
                  </c:pt>
                  <c:pt idx="3">
                    <c:v>Fitted correction</c:v>
                  </c:pt>
                  <c:pt idx="4">
                    <c:v>What really happened</c:v>
                  </c:pt>
                </c:lvl>
              </c:multiLvlStrCache>
            </c:multiLvlStrRef>
          </c:cat>
          <c:val>
            <c:numRef>
              <c:f>Sheet1!$B$2:$B$6</c:f>
              <c:numCache>
                <c:formatCode>General</c:formatCode>
                <c:ptCount val="5"/>
                <c:pt idx="0">
                  <c:v>30.3</c:v>
                </c:pt>
                <c:pt idx="1">
                  <c:v>21.8</c:v>
                </c:pt>
                <c:pt idx="2">
                  <c:v>21.5</c:v>
                </c:pt>
                <c:pt idx="3">
                  <c:v>24.4</c:v>
                </c:pt>
                <c:pt idx="4">
                  <c:v>20.7</c:v>
                </c:pt>
              </c:numCache>
            </c:numRef>
          </c:val>
        </c:ser>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2013–2022, after costs (re-trained each year)</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14213D"/>
            </a:solidFill>
            <a:effectLst/>
          </c:spPr>
          <c:invertIfNegative val="0"/>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cat>
            <c:multiLvlStrRef>
              <c:f>Sheet1!$A$2:$A$8</c:f>
              <c:multiLvlStrCache>
                <c:ptCount val="7"/>
                <c:lvl>
                  <c:pt idx="0">
                    <c:v>Buy &amp; Hold</c:v>
                  </c:pt>
                  <c:pt idx="1">
                    <c:v>Pick: fitted correction, stay invested</c:v>
                  </c:pt>
                  <c:pt idx="2">
                    <c:v>No extra weight, stay invested</c:v>
                  </c:pt>
                  <c:pt idx="3">
                    <c:v>Weight then undo, stay invested</c:v>
                  </c:pt>
                  <c:pt idx="4">
                    <c:v>Fitted correction, stay in cash</c:v>
                  </c:pt>
                  <c:pt idx="5">
                    <c:v>No extra weight, stay in cash</c:v>
                  </c:pt>
                  <c:pt idx="6">
                    <c:v>Weight then undo, stay in cash</c:v>
                  </c:pt>
                </c:lvl>
              </c:multiLvlStrCache>
            </c:multiLvlStrRef>
          </c:cat>
          <c:val>
            <c:numRef>
              <c:f>Sheet1!$B$2:$B$8</c:f>
              <c:numCache>
                <c:formatCode>General</c:formatCode>
                <c:ptCount val="7"/>
                <c:pt idx="0">
                  <c:v>316844</c:v>
                </c:pt>
                <c:pt idx="1">
                  <c:v>316844</c:v>
                </c:pt>
                <c:pt idx="2">
                  <c:v>249244</c:v>
                </c:pt>
                <c:pt idx="3">
                  <c:v>245504</c:v>
                </c:pt>
                <c:pt idx="4">
                  <c:v>207355</c:v>
                </c:pt>
                <c:pt idx="5">
                  <c:v>120871</c:v>
                </c:pt>
                <c:pt idx="6">
                  <c:v>118844</c:v>
                </c:pt>
              </c:numCache>
            </c:numRef>
          </c:val>
        </c:ser>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0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789920" cy="2194560"/>
          </a:xfrm>
          <a:prstGeom prst="rect">
            <a:avLst/>
          </a:prstGeom>
          <a:noFill/>
          <a:ln/>
        </p:spPr>
        <p:txBody>
          <a:bodyPr wrap="square" rtlCol="0"/>
          <a:lstStyle>
            <a:lvl1pPr indent="0" marL="0">
              <a:buNone/>
              <a:defRPr lang="en-US" sz="5200" b="1" dirty="0">
                <a:solidFill>
                  <a:schemeClr val="bg1"/>
                </a:solidFill>
                <a:latin typeface="Cambria" pitchFamily="34" charset="0"/>
                <a:ea typeface="Cambria" pitchFamily="34" charset="-122"/>
                <a:cs typeface="Cambria" pitchFamily="34" charset="-120"/>
              </a:defRPr>
            </a:lvl1pPr>
          </a:lstStyle>
          <a:p>
            <a:pPr indent="0" marL="0">
              <a:buNone/>
            </a:pPr>
            <a:endParaRPr lang="en-US" sz="5200" dirty="0"/>
          </a:p>
        </p:txBody>
      </p:sp>
      <p:sp>
        <p:nvSpPr>
          <p:cNvPr id="3" name="Text 0"/>
          <p:cNvSpPr/>
          <p:nvPr>
            <p:ph idx="101" type="body" hasCustomPrompt="1"/>
          </p:nvPr>
        </p:nvSpPr>
        <p:spPr>
          <a:xfrm>
            <a:off x="548640" y="4206240"/>
            <a:ext cx="10058400" cy="164592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lstStyle>
            <a:lvl1pPr indent="0" marL="0">
              <a:buNone/>
              <a:defRPr lang="en-US" sz="2100" dirty="0">
                <a:solidFill>
                  <a:schemeClr val="bg2"/>
                </a:solidFill>
              </a:defRPr>
            </a:lvl1pPr>
          </a:lstStyle>
          <a:p>
            <a:pPr indent="0" marL="0">
              <a:buNone/>
            </a:pP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200" b="1" dirty="0">
                <a:solidFill>
                  <a:schemeClr val="tx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100" dirty="0">
                <a:solidFill>
                  <a:schemeClr val="accent3"/>
                </a:solidFill>
              </a:rPr>
              <a:t>Can a computer beat buy-and-wait? · Module 3 Group 7</a:t>
            </a:r>
            <a:endParaRPr lang="en-US" sz="1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80160"/>
            <a:ext cx="10058400" cy="365760"/>
          </a:xfrm>
          <a:prstGeom prst="rect">
            <a:avLst/>
          </a:prstGeom>
          <a:noFill/>
          <a:ln/>
        </p:spPr>
        <p:txBody>
          <a:bodyPr wrap="square" lIns="0" tIns="0" rIns="0" bIns="0" rtlCol="0" anchor="t"/>
          <a:lstStyle/>
          <a:p>
            <a:pPr indent="0" marL="0">
              <a:buNone/>
            </a:pPr>
            <a:r>
              <a:rPr lang="en-US" sz="1400" b="1" spc="300" kern="0" dirty="0">
                <a:solidFill>
                  <a:schemeClr val="accent4"/>
                </a:solidFill>
              </a:rPr>
              <a:t>MODULE 3 · MACHINE LEARNING PROJECT · GROUP 7</a:t>
            </a:r>
            <a:endParaRPr lang="en-US" sz="1400" dirty="0"/>
          </a:p>
        </p:txBody>
      </p:sp>
      <p:sp>
        <p:nvSpPr>
          <p:cNvPr id="3" name="Text 0"/>
          <p:cNvSpPr/>
          <p:nvPr>
            <p:ph idx="100" type="title" hasCustomPrompt="1"/>
          </p:nvPr>
        </p:nvSpPr>
        <p:spPr>
          <a:xfrm>
            <a:off x="548640" y="1828800"/>
            <a:ext cx="10789920" cy="2194560"/>
          </a:xfrm>
          <a:prstGeom prst="rect">
            <a:avLst/>
          </a:prstGeom>
          <a:noFill/>
          <a:ln/>
        </p:spPr>
        <p:txBody>
          <a:bodyPr wrap="square" rtlCol="0" anchor="b"/>
          <a:lstStyle/>
          <a:p>
            <a:pPr indent="0" marL="0">
              <a:buNone/>
            </a:pPr>
            <a:r>
              <a:rPr lang="en-US" sz="5200" b="1" dirty="0">
                <a:solidFill>
                  <a:schemeClr val="bg1"/>
                </a:solidFill>
                <a:latin typeface="Cambria" pitchFamily="34" charset="0"/>
                <a:ea typeface="Cambria" pitchFamily="34" charset="-122"/>
                <a:cs typeface="Cambria" pitchFamily="34" charset="-120"/>
              </a:rPr>
              <a:t>Can a computer beat “buy and wait”?</a:t>
            </a:r>
            <a:endParaRPr lang="en-US" sz="5200" dirty="0"/>
          </a:p>
        </p:txBody>
      </p:sp>
      <p:sp>
        <p:nvSpPr>
          <p:cNvPr id="4" name="Text 0"/>
          <p:cNvSpPr/>
          <p:nvPr>
            <p:ph idx="101" type="body" hasCustomPrompt="1"/>
          </p:nvPr>
        </p:nvSpPr>
        <p:spPr>
          <a:xfrm>
            <a:off x="548640" y="4206240"/>
            <a:ext cx="10058400" cy="1645920"/>
          </a:xfrm>
          <a:prstGeom prst="rect">
            <a:avLst/>
          </a:prstGeom>
          <a:noFill/>
          <a:ln/>
        </p:spPr>
        <p:txBody>
          <a:bodyPr wrap="square" rtlCol="0" anchor="t"/>
          <a:lstStyle/>
          <a:p>
            <a:pPr indent="0" marL="0">
              <a:buNone/>
            </a:pPr>
            <a:r>
              <a:rPr lang="en-US" sz="2200" dirty="0">
                <a:solidFill>
                  <a:schemeClr val="bg2"/>
                </a:solidFill>
              </a:rPr>
              <a:t>Testing a machine-learning trading model on the US stock market with $100,000</a:t>
            </a:r>
            <a:endParaRPr lang="en-US" sz="2200" dirty="0"/>
          </a:p>
          <a:p>
            <a:pPr indent="0" marL="0">
              <a:buNone/>
            </a:pPr>
            <a:r>
              <a:rPr lang="en-US" sz="1600" dirty="0">
                <a:solidFill>
                  <a:schemeClr val="accent3"/>
                </a:solidFill>
              </a:rPr>
              <a:t>[Presenter names] · [Date]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question in one picture</a:t>
            </a:r>
            <a:endParaRPr lang="en-US" sz="3200" dirty="0"/>
          </a:p>
        </p:txBody>
      </p:sp>
      <p:sp>
        <p:nvSpPr>
          <p:cNvPr id="3" name="Shape 1"/>
          <p:cNvSpPr/>
          <p:nvPr/>
        </p:nvSpPr>
        <p:spPr>
          <a:xfrm>
            <a:off x="548640" y="1417320"/>
            <a:ext cx="5303520" cy="3200400"/>
          </a:xfrm>
          <a:prstGeom prst="roundRect">
            <a:avLst>
              <a:gd name="adj" fmla="val 3429"/>
            </a:avLst>
          </a:prstGeom>
          <a:solidFill>
            <a:schemeClr val="bg2"/>
          </a:solidFill>
          <a:ln w="12700">
            <a:solidFill>
              <a:schemeClr val="bg2"/>
            </a:solidFill>
            <a:prstDash val="solid"/>
          </a:ln>
        </p:spPr>
      </p:sp>
      <p:sp>
        <p:nvSpPr>
          <p:cNvPr id="4" name="Text 2"/>
          <p:cNvSpPr txBox="1"/>
          <p:nvPr/>
        </p:nvSpPr>
        <p:spPr>
          <a:xfrm>
            <a:off x="777240"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A · Buy and wait</a:t>
            </a:r>
            <a:endParaRPr lang="en-US" sz="2200" dirty="0"/>
          </a:p>
        </p:txBody>
      </p:sp>
      <p:sp>
        <p:nvSpPr>
          <p:cNvPr id="5" name="Text 3"/>
          <p:cNvSpPr txBox="1"/>
          <p:nvPr/>
        </p:nvSpPr>
        <p:spPr>
          <a:xfrm>
            <a:off x="777240"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On 3 January 2023, put $100,000 into the US stock market and do nothing for two years.</a:t>
            </a:r>
            <a:endParaRPr lang="en-US" sz="1700" dirty="0"/>
          </a:p>
          <a:p>
            <a:pPr indent="0" marL="0">
              <a:buNone/>
            </a:pPr>
            <a:endParaRPr lang="en-US" sz="1700" dirty="0"/>
          </a:p>
          <a:p>
            <a:pPr indent="0" marL="0">
              <a:buNone/>
            </a:pPr>
            <a:r>
              <a:rPr lang="en-US" sz="1700" dirty="0">
                <a:solidFill>
                  <a:schemeClr val="tx2"/>
                </a:solidFill>
              </a:rPr>
              <a:t>This is the yardstick, called “Buy &amp; Hold”.</a:t>
            </a:r>
            <a:endParaRPr lang="en-US" sz="1700" dirty="0"/>
          </a:p>
        </p:txBody>
      </p:sp>
      <p:sp>
        <p:nvSpPr>
          <p:cNvPr id="6" name="Shape 4"/>
          <p:cNvSpPr/>
          <p:nvPr/>
        </p:nvSpPr>
        <p:spPr>
          <a:xfrm>
            <a:off x="6336792" y="1417320"/>
            <a:ext cx="5303520" cy="3200400"/>
          </a:xfrm>
          <a:prstGeom prst="roundRect">
            <a:avLst>
              <a:gd name="adj" fmla="val 3429"/>
            </a:avLst>
          </a:prstGeom>
          <a:solidFill>
            <a:srgbClr val="FBEDE4"/>
          </a:solidFill>
          <a:ln w="12700">
            <a:solidFill>
              <a:srgbClr val="FBEDE4"/>
            </a:solidFill>
            <a:prstDash val="solid"/>
          </a:ln>
        </p:spPr>
      </p:sp>
      <p:sp>
        <p:nvSpPr>
          <p:cNvPr id="7" name="Text 5"/>
          <p:cNvSpPr txBox="1"/>
          <p:nvPr/>
        </p:nvSpPr>
        <p:spPr>
          <a:xfrm>
            <a:off x="6565392"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B · Let the model decide</a:t>
            </a:r>
            <a:endParaRPr lang="en-US" sz="2200" dirty="0"/>
          </a:p>
        </p:txBody>
      </p:sp>
      <p:sp>
        <p:nvSpPr>
          <p:cNvPr id="8" name="Text 6"/>
          <p:cNvSpPr txBox="1"/>
          <p:nvPr/>
        </p:nvSpPr>
        <p:spPr>
          <a:xfrm>
            <a:off x="6565392"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Every evening, a computer model decides whether the money should be in the market or safely in cash the next day.</a:t>
            </a:r>
            <a:endParaRPr lang="en-US" sz="1700" dirty="0"/>
          </a:p>
          <a:p>
            <a:pPr indent="0" marL="0">
              <a:buNone/>
            </a:pPr>
            <a:endParaRPr lang="en-US" sz="1700" dirty="0"/>
          </a:p>
          <a:p>
            <a:pPr indent="0" marL="0">
              <a:buNone/>
            </a:pPr>
            <a:r>
              <a:rPr lang="en-US" sz="1700" dirty="0">
                <a:solidFill>
                  <a:schemeClr val="tx2"/>
                </a:solidFill>
              </a:rPr>
              <a:t>Every switch costs a small fee.</a:t>
            </a:r>
            <a:endParaRPr lang="en-US" sz="1700" dirty="0"/>
          </a:p>
        </p:txBody>
      </p:sp>
      <p:sp>
        <p:nvSpPr>
          <p:cNvPr id="9" name="Text 7"/>
          <p:cNvSpPr txBox="1"/>
          <p:nvPr/>
        </p:nvSpPr>
        <p:spPr>
          <a:xfrm>
            <a:off x="548640" y="4983480"/>
            <a:ext cx="11094415" cy="640080"/>
          </a:xfrm>
          <a:prstGeom prst="rect">
            <a:avLst/>
          </a:prstGeom>
          <a:noFill/>
          <a:ln/>
        </p:spPr>
        <p:txBody>
          <a:bodyPr wrap="square" lIns="0" tIns="0" rIns="0" bIns="0" rtlCol="0" anchor="t"/>
          <a:lstStyle/>
          <a:p>
            <a:pPr algn="ctr" indent="0" marL="0">
              <a:buNone/>
            </a:pPr>
            <a:r>
              <a:rPr lang="en-US" sz="2800" b="1" dirty="0">
                <a:solidFill>
                  <a:schemeClr val="accent1"/>
                </a:solidFill>
                <a:latin typeface="Cambria" pitchFamily="34" charset="0"/>
                <a:ea typeface="Cambria" pitchFamily="34" charset="-122"/>
                <a:cs typeface="Cambria" pitchFamily="34" charset="-120"/>
              </a:rPr>
              <a:t>Which one ends 2024 with more money?</a:t>
            </a:r>
            <a:endParaRPr lang="en-US" sz="28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Five words you’ll hear today</a:t>
            </a:r>
            <a:endParaRPr lang="en-US" sz="3200" dirty="0"/>
          </a:p>
        </p:txBody>
      </p:sp>
      <p:sp>
        <p:nvSpPr>
          <p:cNvPr id="3" name="Shape 1"/>
          <p:cNvSpPr/>
          <p:nvPr/>
        </p:nvSpPr>
        <p:spPr>
          <a:xfrm>
            <a:off x="548640" y="1444752"/>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444752"/>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SPY (the S&amp;P 500)</a:t>
            </a:r>
            <a:endParaRPr lang="en-US" sz="1900" dirty="0"/>
          </a:p>
        </p:txBody>
      </p:sp>
      <p:sp>
        <p:nvSpPr>
          <p:cNvPr id="6" name="Text 4"/>
          <p:cNvSpPr txBox="1"/>
          <p:nvPr/>
        </p:nvSpPr>
        <p:spPr>
          <a:xfrm>
            <a:off x="4480560" y="1444752"/>
            <a:ext cx="7162495" cy="731520"/>
          </a:xfrm>
          <a:prstGeom prst="rect">
            <a:avLst/>
          </a:prstGeom>
          <a:noFill/>
          <a:ln/>
        </p:spPr>
        <p:txBody>
          <a:bodyPr wrap="square" lIns="0" tIns="0" rIns="0" bIns="0" rtlCol="0" anchor="ctr"/>
          <a:lstStyle/>
          <a:p>
            <a:pPr indent="0" marL="0">
              <a:buNone/>
            </a:pPr>
            <a:r>
              <a:rPr lang="en-US" sz="1700" dirty="0">
                <a:solidFill>
                  <a:schemeClr val="tx2"/>
                </a:solidFill>
              </a:rPr>
              <a:t>One fund that holds the 500 biggest US companies. Its price rises and falls with the whole US stock market.</a:t>
            </a:r>
            <a:endParaRPr lang="en-US" sz="1700" dirty="0"/>
          </a:p>
        </p:txBody>
      </p:sp>
      <p:sp>
        <p:nvSpPr>
          <p:cNvPr id="7" name="Shape 5"/>
          <p:cNvSpPr/>
          <p:nvPr/>
        </p:nvSpPr>
        <p:spPr>
          <a:xfrm>
            <a:off x="548640" y="237744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54864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80160" y="2377440"/>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Buy &amp; Hold</a:t>
            </a:r>
            <a:endParaRPr lang="en-US" sz="1900" dirty="0"/>
          </a:p>
        </p:txBody>
      </p:sp>
      <p:sp>
        <p:nvSpPr>
          <p:cNvPr id="10" name="Text 8"/>
          <p:cNvSpPr txBox="1"/>
          <p:nvPr/>
        </p:nvSpPr>
        <p:spPr>
          <a:xfrm>
            <a:off x="4480560" y="2377440"/>
            <a:ext cx="7162495" cy="731520"/>
          </a:xfrm>
          <a:prstGeom prst="rect">
            <a:avLst/>
          </a:prstGeom>
          <a:noFill/>
          <a:ln/>
        </p:spPr>
        <p:txBody>
          <a:bodyPr wrap="square" lIns="0" tIns="0" rIns="0" bIns="0" rtlCol="0" anchor="ctr"/>
          <a:lstStyle/>
          <a:p>
            <a:pPr indent="0" marL="0">
              <a:buNone/>
            </a:pPr>
            <a:r>
              <a:rPr lang="en-US" sz="1700" dirty="0">
                <a:solidFill>
                  <a:schemeClr val="tx2"/>
                </a:solidFill>
              </a:rPr>
              <a:t>Buy once and never sell. The simplest strategy, and the one to beat.</a:t>
            </a:r>
            <a:endParaRPr lang="en-US" sz="1700" dirty="0"/>
          </a:p>
        </p:txBody>
      </p:sp>
      <p:sp>
        <p:nvSpPr>
          <p:cNvPr id="11" name="Shape 9"/>
          <p:cNvSpPr/>
          <p:nvPr/>
        </p:nvSpPr>
        <p:spPr>
          <a:xfrm>
            <a:off x="548640" y="3310128"/>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3101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80160" y="3310128"/>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Backtest</a:t>
            </a:r>
            <a:endParaRPr lang="en-US" sz="1900" dirty="0"/>
          </a:p>
        </p:txBody>
      </p:sp>
      <p:sp>
        <p:nvSpPr>
          <p:cNvPr id="14" name="Text 12"/>
          <p:cNvSpPr txBox="1"/>
          <p:nvPr/>
        </p:nvSpPr>
        <p:spPr>
          <a:xfrm>
            <a:off x="4480560" y="3310128"/>
            <a:ext cx="7162495" cy="731520"/>
          </a:xfrm>
          <a:prstGeom prst="rect">
            <a:avLst/>
          </a:prstGeom>
          <a:noFill/>
          <a:ln/>
        </p:spPr>
        <p:txBody>
          <a:bodyPr wrap="square" lIns="0" tIns="0" rIns="0" bIns="0" rtlCol="0" anchor="ctr"/>
          <a:lstStyle/>
          <a:p>
            <a:pPr indent="0" marL="0">
              <a:buNone/>
            </a:pPr>
            <a:r>
              <a:rPr lang="en-US" sz="1700" dirty="0">
                <a:solidFill>
                  <a:schemeClr val="tx2"/>
                </a:solidFill>
              </a:rPr>
              <a:t>Replaying history day by day as if the model had been trading, using only what was known on each day.</a:t>
            </a:r>
            <a:endParaRPr lang="en-US" sz="1700" dirty="0"/>
          </a:p>
        </p:txBody>
      </p:sp>
      <p:sp>
        <p:nvSpPr>
          <p:cNvPr id="15" name="Shape 13"/>
          <p:cNvSpPr/>
          <p:nvPr/>
        </p:nvSpPr>
        <p:spPr>
          <a:xfrm>
            <a:off x="548640" y="42428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42428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280160" y="4242816"/>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Trading cost</a:t>
            </a:r>
            <a:endParaRPr lang="en-US" sz="1900" dirty="0"/>
          </a:p>
        </p:txBody>
      </p:sp>
      <p:sp>
        <p:nvSpPr>
          <p:cNvPr id="18" name="Text 16"/>
          <p:cNvSpPr txBox="1"/>
          <p:nvPr/>
        </p:nvSpPr>
        <p:spPr>
          <a:xfrm>
            <a:off x="4480560" y="4242816"/>
            <a:ext cx="7162495" cy="731520"/>
          </a:xfrm>
          <a:prstGeom prst="rect">
            <a:avLst/>
          </a:prstGeom>
          <a:noFill/>
          <a:ln/>
        </p:spPr>
        <p:txBody>
          <a:bodyPr wrap="square" lIns="0" tIns="0" rIns="0" bIns="0" rtlCol="0" anchor="ctr"/>
          <a:lstStyle/>
          <a:p>
            <a:pPr indent="0" marL="0">
              <a:buNone/>
            </a:pPr>
            <a:r>
              <a:rPr lang="en-US" sz="1700" dirty="0">
                <a:solidFill>
                  <a:schemeClr val="tx2"/>
                </a:solidFill>
              </a:rPr>
              <a:t>Each buy or sell costs about 0.15% — $150 for every $100,000 moved.</a:t>
            </a:r>
            <a:endParaRPr lang="en-US" sz="1700" dirty="0"/>
          </a:p>
        </p:txBody>
      </p:sp>
      <p:sp>
        <p:nvSpPr>
          <p:cNvPr id="19" name="Shape 17"/>
          <p:cNvSpPr/>
          <p:nvPr/>
        </p:nvSpPr>
        <p:spPr>
          <a:xfrm>
            <a:off x="548640" y="5175504"/>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48640" y="51755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Text 19"/>
          <p:cNvSpPr txBox="1"/>
          <p:nvPr/>
        </p:nvSpPr>
        <p:spPr>
          <a:xfrm>
            <a:off x="1280160" y="5175504"/>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Drawdown</a:t>
            </a:r>
            <a:endParaRPr lang="en-US" sz="1900" dirty="0"/>
          </a:p>
        </p:txBody>
      </p:sp>
      <p:sp>
        <p:nvSpPr>
          <p:cNvPr id="22" name="Text 20"/>
          <p:cNvSpPr txBox="1"/>
          <p:nvPr/>
        </p:nvSpPr>
        <p:spPr>
          <a:xfrm>
            <a:off x="4480560" y="5175504"/>
            <a:ext cx="7162495" cy="731520"/>
          </a:xfrm>
          <a:prstGeom prst="rect">
            <a:avLst/>
          </a:prstGeom>
          <a:noFill/>
          <a:ln/>
        </p:spPr>
        <p:txBody>
          <a:bodyPr wrap="square" lIns="0" tIns="0" rIns="0" bIns="0" rtlCol="0" anchor="ctr"/>
          <a:lstStyle/>
          <a:p>
            <a:pPr indent="0" marL="0">
              <a:buNone/>
            </a:pPr>
            <a:r>
              <a:rPr lang="en-US" sz="1700" dirty="0">
                <a:solidFill>
                  <a:schemeClr val="tx2"/>
                </a:solidFill>
              </a:rPr>
              <a:t>The biggest drop from a high point. How much it hurts in the worst stretch.</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answer: buy-and-wait won by $32,832</a:t>
            </a:r>
            <a:endParaRPr lang="en-US" sz="3200" dirty="0"/>
          </a:p>
        </p:txBody>
      </p:sp>
      <p:graphicFrame>
        <p:nvGraphicFramePr>
          <p:cNvPr id="3" name="Chart 0" descr=""/>
          <p:cNvGraphicFramePr/>
          <p:nvPr/>
        </p:nvGraphicFramePr>
        <p:xfrm>
          <a:off x="548640" y="132588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040880" y="1463040"/>
            <a:ext cx="4572000" cy="914400"/>
          </a:xfrm>
          <a:prstGeom prst="rect">
            <a:avLst/>
          </a:prstGeom>
          <a:noFill/>
          <a:ln/>
        </p:spPr>
        <p:txBody>
          <a:bodyPr wrap="square" lIns="0" tIns="0" rIns="0" bIns="0" rtlCol="0" anchor="b"/>
          <a:lstStyle/>
          <a:p>
            <a:pPr indent="0" marL="0">
              <a:buNone/>
            </a:pPr>
            <a:r>
              <a:rPr lang="en-US" sz="4800" b="1" dirty="0">
                <a:solidFill>
                  <a:schemeClr val="tx1"/>
                </a:solidFill>
                <a:latin typeface="Cambria" pitchFamily="34" charset="0"/>
                <a:ea typeface="Cambria" pitchFamily="34" charset="-122"/>
                <a:cs typeface="Cambria" pitchFamily="34" charset="-120"/>
              </a:rPr>
              <a:t>+$56,546</a:t>
            </a:r>
            <a:endParaRPr lang="en-US" sz="4800" dirty="0"/>
          </a:p>
        </p:txBody>
      </p:sp>
      <p:sp>
        <p:nvSpPr>
          <p:cNvPr id="5" name="Text 2"/>
          <p:cNvSpPr txBox="1"/>
          <p:nvPr/>
        </p:nvSpPr>
        <p:spPr>
          <a:xfrm>
            <a:off x="7040880" y="2468880"/>
            <a:ext cx="4572000" cy="822960"/>
          </a:xfrm>
          <a:prstGeom prst="rect">
            <a:avLst/>
          </a:prstGeom>
          <a:noFill/>
          <a:ln/>
        </p:spPr>
        <p:txBody>
          <a:bodyPr wrap="square" lIns="0" tIns="0" rIns="0" bIns="0" rtlCol="0" anchor="t"/>
          <a:lstStyle/>
          <a:p>
            <a:pPr indent="0" marL="0">
              <a:buNone/>
            </a:pPr>
            <a:r>
              <a:rPr lang="en-US" sz="1500" dirty="0">
                <a:solidFill>
                  <a:schemeClr val="tx2"/>
                </a:solidFill>
              </a:rPr>
              <a:t>Buy &amp; Hold profit — bought once, paid $100 in costs</a:t>
            </a:r>
            <a:endParaRPr lang="en-US" sz="1500" dirty="0"/>
          </a:p>
        </p:txBody>
      </p:sp>
      <p:sp>
        <p:nvSpPr>
          <p:cNvPr id="6" name="Text 3"/>
          <p:cNvSpPr txBox="1"/>
          <p:nvPr/>
        </p:nvSpPr>
        <p:spPr>
          <a:xfrm>
            <a:off x="7040880" y="2971800"/>
            <a:ext cx="4572000" cy="91440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+$23,714</a:t>
            </a:r>
            <a:endParaRPr lang="en-US" sz="4800" dirty="0"/>
          </a:p>
        </p:txBody>
      </p:sp>
      <p:sp>
        <p:nvSpPr>
          <p:cNvPr id="7" name="Text 4"/>
          <p:cNvSpPr txBox="1"/>
          <p:nvPr/>
        </p:nvSpPr>
        <p:spPr>
          <a:xfrm>
            <a:off x="7040880" y="3977640"/>
            <a:ext cx="4572000" cy="822960"/>
          </a:xfrm>
          <a:prstGeom prst="rect">
            <a:avLst/>
          </a:prstGeom>
          <a:noFill/>
          <a:ln/>
        </p:spPr>
        <p:txBody>
          <a:bodyPr wrap="square" lIns="0" tIns="0" rIns="0" bIns="0" rtlCol="0" anchor="t"/>
          <a:lstStyle/>
          <a:p>
            <a:pPr indent="0" marL="0">
              <a:buNone/>
            </a:pPr>
            <a:r>
              <a:rPr lang="en-US" sz="1500" dirty="0">
                <a:solidFill>
                  <a:schemeClr val="tx2"/>
                </a:solidFill>
              </a:rPr>
              <a:t>Model profit — 15 round trips, paid $3,237 in costs</a:t>
            </a:r>
            <a:endParaRPr lang="en-US" sz="1500" dirty="0"/>
          </a:p>
        </p:txBody>
      </p:sp>
      <p:sp>
        <p:nvSpPr>
          <p:cNvPr id="8" name="Text 5"/>
          <p:cNvSpPr txBox="1"/>
          <p:nvPr/>
        </p:nvSpPr>
        <p:spPr>
          <a:xfrm>
            <a:off x="7040880" y="4480560"/>
            <a:ext cx="4572000" cy="91440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$32,832</a:t>
            </a:r>
            <a:endParaRPr lang="en-US" sz="4800" dirty="0"/>
          </a:p>
        </p:txBody>
      </p:sp>
      <p:sp>
        <p:nvSpPr>
          <p:cNvPr id="9" name="Text 6"/>
          <p:cNvSpPr txBox="1"/>
          <p:nvPr/>
        </p:nvSpPr>
        <p:spPr>
          <a:xfrm>
            <a:off x="7040880" y="5486400"/>
            <a:ext cx="4572000" cy="822960"/>
          </a:xfrm>
          <a:prstGeom prst="rect">
            <a:avLst/>
          </a:prstGeom>
          <a:noFill/>
          <a:ln/>
        </p:spPr>
        <p:txBody>
          <a:bodyPr wrap="square" lIns="0" tIns="0" rIns="0" bIns="0" rtlCol="0" anchor="t"/>
          <a:lstStyle/>
          <a:p>
            <a:pPr indent="0" marL="0">
              <a:buNone/>
            </a:pPr>
            <a:r>
              <a:rPr lang="en-US" sz="1500" dirty="0">
                <a:solidFill>
                  <a:schemeClr val="tx2"/>
                </a:solidFill>
              </a:rPr>
              <a:t>Less money than simply waiting</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two-year journey of $100,000</a:t>
            </a:r>
            <a:endParaRPr lang="en-US" sz="3200" dirty="0"/>
          </a:p>
        </p:txBody>
      </p:sp>
      <p:graphicFrame>
        <p:nvGraphicFramePr>
          <p:cNvPr id="3"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686800" y="1371600"/>
            <a:ext cx="2953512" cy="2148840"/>
          </a:xfrm>
          <a:prstGeom prst="roundRect">
            <a:avLst>
              <a:gd name="adj" fmla="val 5106"/>
            </a:avLst>
          </a:prstGeom>
          <a:solidFill>
            <a:srgbClr val="FBEDE4"/>
          </a:solidFill>
          <a:ln w="12700">
            <a:solidFill>
              <a:srgbClr val="FBEDE4"/>
            </a:solidFill>
            <a:prstDash val="solid"/>
          </a:ln>
        </p:spPr>
      </p:sp>
      <p:sp>
        <p:nvSpPr>
          <p:cNvPr id="5" name="Text 2"/>
          <p:cNvSpPr txBox="1"/>
          <p:nvPr/>
        </p:nvSpPr>
        <p:spPr>
          <a:xfrm>
            <a:off x="8915400" y="160020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costly pause</a:t>
            </a:r>
            <a:endParaRPr lang="en-US" sz="1700" dirty="0"/>
          </a:p>
        </p:txBody>
      </p:sp>
      <p:sp>
        <p:nvSpPr>
          <p:cNvPr id="6" name="Text 3"/>
          <p:cNvSpPr txBox="1"/>
          <p:nvPr/>
        </p:nvSpPr>
        <p:spPr>
          <a:xfrm>
            <a:off x="8915400" y="2148840"/>
            <a:ext cx="2496312" cy="1188720"/>
          </a:xfrm>
          <a:prstGeom prst="rect">
            <a:avLst/>
          </a:prstGeom>
          <a:noFill/>
          <a:ln/>
        </p:spPr>
        <p:txBody>
          <a:bodyPr wrap="square" lIns="0" tIns="0" rIns="0" bIns="0" rtlCol="0" anchor="t"/>
          <a:lstStyle/>
          <a:p>
            <a:pPr indent="0" marL="0">
              <a:buNone/>
            </a:pPr>
            <a:r>
              <a:rPr lang="en-US" sz="1400" dirty="0">
                <a:solidFill>
                  <a:schemeClr val="tx2"/>
                </a:solidFill>
              </a:rPr>
              <a:t>4 Dec 2023 → 5 Apr 2024: the model sat in cash while the market rose about 14%. The flat orange stretch.</a:t>
            </a:r>
            <a:endParaRPr lang="en-US" sz="1400" dirty="0"/>
          </a:p>
        </p:txBody>
      </p:sp>
      <p:sp>
        <p:nvSpPr>
          <p:cNvPr id="7" name="Shape 4"/>
          <p:cNvSpPr/>
          <p:nvPr/>
        </p:nvSpPr>
        <p:spPr>
          <a:xfrm>
            <a:off x="8686800" y="3703320"/>
            <a:ext cx="2953512" cy="2148840"/>
          </a:xfrm>
          <a:prstGeom prst="roundRect">
            <a:avLst>
              <a:gd name="adj" fmla="val 5106"/>
            </a:avLst>
          </a:prstGeom>
          <a:solidFill>
            <a:schemeClr val="bg2"/>
          </a:solidFill>
          <a:ln w="12700">
            <a:solidFill>
              <a:schemeClr val="bg2"/>
            </a:solidFill>
            <a:prstDash val="solid"/>
          </a:ln>
        </p:spPr>
      </p:sp>
      <p:sp>
        <p:nvSpPr>
          <p:cNvPr id="8" name="Text 5"/>
          <p:cNvSpPr txBox="1"/>
          <p:nvPr/>
        </p:nvSpPr>
        <p:spPr>
          <a:xfrm>
            <a:off x="8915400" y="393192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Time in cash</a:t>
            </a:r>
            <a:endParaRPr lang="en-US" sz="1700" dirty="0"/>
          </a:p>
        </p:txBody>
      </p:sp>
      <p:sp>
        <p:nvSpPr>
          <p:cNvPr id="9" name="Text 6"/>
          <p:cNvSpPr txBox="1"/>
          <p:nvPr/>
        </p:nvSpPr>
        <p:spPr>
          <a:xfrm>
            <a:off x="8915400" y="4480560"/>
            <a:ext cx="2496312" cy="1188720"/>
          </a:xfrm>
          <a:prstGeom prst="rect">
            <a:avLst/>
          </a:prstGeom>
          <a:noFill/>
          <a:ln/>
        </p:spPr>
        <p:txBody>
          <a:bodyPr wrap="square" lIns="0" tIns="0" rIns="0" bIns="0" rtlCol="0" anchor="t"/>
          <a:lstStyle/>
          <a:p>
            <a:pPr indent="0" marL="0">
              <a:buNone/>
            </a:pPr>
            <a:r>
              <a:rPr lang="en-US" sz="1400" dirty="0">
                <a:solidFill>
                  <a:schemeClr val="tx2"/>
                </a:solidFill>
              </a:rPr>
              <a:t>211 of 502 trading days (42%) out of the market — in a market that mostly went up.</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the model makes a decision, every evening</a:t>
            </a:r>
            <a:endParaRPr lang="en-US" sz="3200" dirty="0"/>
          </a:p>
        </p:txBody>
      </p:sp>
      <p:sp>
        <p:nvSpPr>
          <p:cNvPr id="3" name="Shape 1"/>
          <p:cNvSpPr/>
          <p:nvPr/>
        </p:nvSpPr>
        <p:spPr>
          <a:xfrm>
            <a:off x="548640" y="1554480"/>
            <a:ext cx="2514600" cy="2560320"/>
          </a:xfrm>
          <a:prstGeom prst="roundRect">
            <a:avLst>
              <a:gd name="adj" fmla="val 4364"/>
            </a:avLst>
          </a:prstGeom>
          <a:solidFill>
            <a:schemeClr val="bg2"/>
          </a:solidFill>
          <a:ln w="12700">
            <a:solidFill>
              <a:schemeClr val="bg2"/>
            </a:solidFill>
            <a:prstDash val="solid"/>
          </a:ln>
        </p:spPr>
      </p:sp>
      <p:sp>
        <p:nvSpPr>
          <p:cNvPr id="4" name="Shape 2"/>
          <p:cNvSpPr/>
          <p:nvPr/>
        </p:nvSpPr>
        <p:spPr>
          <a:xfrm>
            <a:off x="777240" y="178308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Look</a:t>
            </a:r>
            <a:endParaRPr lang="en-US" sz="2000" dirty="0"/>
          </a:p>
        </p:txBody>
      </p:sp>
      <p:sp>
        <p:nvSpPr>
          <p:cNvPr id="7" name="Text 5"/>
          <p:cNvSpPr txBox="1"/>
          <p:nvPr/>
        </p:nvSpPr>
        <p:spPr>
          <a:xfrm>
            <a:off x="777240"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Measure 15 things about recent prices and trading activity</a:t>
            </a:r>
            <a:endParaRPr lang="en-US" sz="1600" dirty="0"/>
          </a:p>
        </p:txBody>
      </p:sp>
      <p:sp>
        <p:nvSpPr>
          <p:cNvPr id="8" name="Shape 6"/>
          <p:cNvSpPr/>
          <p:nvPr/>
        </p:nvSpPr>
        <p:spPr>
          <a:xfrm>
            <a:off x="3098749" y="2697480"/>
            <a:ext cx="274320" cy="292608"/>
          </a:xfrm>
          <a:prstGeom prst="rightArrow">
            <a:avLst/>
          </a:prstGeom>
          <a:solidFill>
            <a:schemeClr val="accent1"/>
          </a:solidFill>
          <a:ln w="12700">
            <a:solidFill>
              <a:schemeClr val="accent1"/>
            </a:solidFill>
            <a:prstDash val="solid"/>
          </a:ln>
        </p:spPr>
      </p:sp>
      <p:sp>
        <p:nvSpPr>
          <p:cNvPr id="9" name="Shape 7"/>
          <p:cNvSpPr/>
          <p:nvPr/>
        </p:nvSpPr>
        <p:spPr>
          <a:xfrm>
            <a:off x="3408578" y="1554480"/>
            <a:ext cx="2514600" cy="2560320"/>
          </a:xfrm>
          <a:prstGeom prst="roundRect">
            <a:avLst>
              <a:gd name="adj" fmla="val 4364"/>
            </a:avLst>
          </a:prstGeom>
          <a:solidFill>
            <a:schemeClr val="bg2"/>
          </a:solidFill>
          <a:ln w="12700">
            <a:solidFill>
              <a:schemeClr val="bg2"/>
            </a:solidFill>
            <a:prstDash val="solid"/>
          </a:ln>
        </p:spPr>
      </p:sp>
      <p:sp>
        <p:nvSpPr>
          <p:cNvPr id="10" name="Shape 8"/>
          <p:cNvSpPr/>
          <p:nvPr/>
        </p:nvSpPr>
        <p:spPr>
          <a:xfrm>
            <a:off x="3637178" y="178308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3637178"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4231538"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Predict</a:t>
            </a:r>
            <a:endParaRPr lang="en-US" sz="2000" dirty="0"/>
          </a:p>
        </p:txBody>
      </p:sp>
      <p:sp>
        <p:nvSpPr>
          <p:cNvPr id="13" name="Text 11"/>
          <p:cNvSpPr txBox="1"/>
          <p:nvPr/>
        </p:nvSpPr>
        <p:spPr>
          <a:xfrm>
            <a:off x="3637178"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Will next week be Up (&gt; +1%), Down (&lt; −1%) or Flat?</a:t>
            </a:r>
            <a:endParaRPr lang="en-US" sz="1600" dirty="0"/>
          </a:p>
        </p:txBody>
      </p:sp>
      <p:sp>
        <p:nvSpPr>
          <p:cNvPr id="14" name="Shape 12"/>
          <p:cNvSpPr/>
          <p:nvPr/>
        </p:nvSpPr>
        <p:spPr>
          <a:xfrm>
            <a:off x="5958688" y="2697480"/>
            <a:ext cx="274320" cy="292608"/>
          </a:xfrm>
          <a:prstGeom prst="rightArrow">
            <a:avLst/>
          </a:prstGeom>
          <a:solidFill>
            <a:schemeClr val="accent1"/>
          </a:solidFill>
          <a:ln w="12700">
            <a:solidFill>
              <a:schemeClr val="accent1"/>
            </a:solidFill>
            <a:prstDash val="solid"/>
          </a:ln>
        </p:spPr>
      </p:sp>
      <p:sp>
        <p:nvSpPr>
          <p:cNvPr id="15" name="Shape 13"/>
          <p:cNvSpPr/>
          <p:nvPr/>
        </p:nvSpPr>
        <p:spPr>
          <a:xfrm>
            <a:off x="6268517" y="1554480"/>
            <a:ext cx="2514600" cy="2560320"/>
          </a:xfrm>
          <a:prstGeom prst="roundRect">
            <a:avLst>
              <a:gd name="adj" fmla="val 4364"/>
            </a:avLst>
          </a:prstGeom>
          <a:solidFill>
            <a:schemeClr val="bg2"/>
          </a:solidFill>
          <a:ln w="12700">
            <a:solidFill>
              <a:schemeClr val="bg2"/>
            </a:solidFill>
            <a:prstDash val="solid"/>
          </a:ln>
        </p:spPr>
      </p:sp>
      <p:sp>
        <p:nvSpPr>
          <p:cNvPr id="16" name="Shape 14"/>
          <p:cNvSpPr/>
          <p:nvPr/>
        </p:nvSpPr>
        <p:spPr>
          <a:xfrm>
            <a:off x="6497117" y="178308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6497117"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7091477"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Decide</a:t>
            </a:r>
            <a:endParaRPr lang="en-US" sz="2000" dirty="0"/>
          </a:p>
        </p:txBody>
      </p:sp>
      <p:sp>
        <p:nvSpPr>
          <p:cNvPr id="19" name="Text 17"/>
          <p:cNvSpPr txBox="1"/>
          <p:nvPr/>
        </p:nvSpPr>
        <p:spPr>
          <a:xfrm>
            <a:off x="6497117"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Turn that prediction into: in the market or in cash tomorrow</a:t>
            </a:r>
            <a:endParaRPr lang="en-US" sz="1600" dirty="0"/>
          </a:p>
        </p:txBody>
      </p:sp>
      <p:sp>
        <p:nvSpPr>
          <p:cNvPr id="20" name="Shape 18"/>
          <p:cNvSpPr/>
          <p:nvPr/>
        </p:nvSpPr>
        <p:spPr>
          <a:xfrm>
            <a:off x="8818626" y="2697480"/>
            <a:ext cx="274320" cy="292608"/>
          </a:xfrm>
          <a:prstGeom prst="rightArrow">
            <a:avLst/>
          </a:prstGeom>
          <a:solidFill>
            <a:schemeClr val="accent1"/>
          </a:solidFill>
          <a:ln w="12700">
            <a:solidFill>
              <a:schemeClr val="accent1"/>
            </a:solidFill>
            <a:prstDash val="solid"/>
          </a:ln>
        </p:spPr>
      </p:sp>
      <p:sp>
        <p:nvSpPr>
          <p:cNvPr id="21" name="Shape 19"/>
          <p:cNvSpPr/>
          <p:nvPr/>
        </p:nvSpPr>
        <p:spPr>
          <a:xfrm>
            <a:off x="9128455" y="1554480"/>
            <a:ext cx="2514600" cy="2560320"/>
          </a:xfrm>
          <a:prstGeom prst="roundRect">
            <a:avLst>
              <a:gd name="adj" fmla="val 4364"/>
            </a:avLst>
          </a:prstGeom>
          <a:solidFill>
            <a:schemeClr val="bg2"/>
          </a:solidFill>
          <a:ln w="12700">
            <a:solidFill>
              <a:schemeClr val="bg2"/>
            </a:solidFill>
            <a:prstDash val="solid"/>
          </a:ln>
        </p:spPr>
      </p:sp>
      <p:sp>
        <p:nvSpPr>
          <p:cNvPr id="22" name="Shape 20"/>
          <p:cNvSpPr/>
          <p:nvPr/>
        </p:nvSpPr>
        <p:spPr>
          <a:xfrm>
            <a:off x="9357055" y="1783080"/>
            <a:ext cx="438912" cy="438912"/>
          </a:xfrm>
          <a:prstGeom prst="ellipse">
            <a:avLst/>
          </a:prstGeom>
          <a:solidFill>
            <a:schemeClr val="accent1"/>
          </a:solidFill>
          <a:ln w="12700">
            <a:solidFill>
              <a:schemeClr val="accent1"/>
            </a:solidFill>
            <a:prstDash val="solid"/>
          </a:ln>
        </p:spPr>
      </p:sp>
      <p:sp>
        <p:nvSpPr>
          <p:cNvPr id="23" name="Text 21"/>
          <p:cNvSpPr txBox="1"/>
          <p:nvPr/>
        </p:nvSpPr>
        <p:spPr>
          <a:xfrm>
            <a:off x="9357055"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9951415"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Trade</a:t>
            </a:r>
            <a:endParaRPr lang="en-US" sz="2000" dirty="0"/>
          </a:p>
        </p:txBody>
      </p:sp>
      <p:sp>
        <p:nvSpPr>
          <p:cNvPr id="25" name="Text 23"/>
          <p:cNvSpPr txBox="1"/>
          <p:nvPr/>
        </p:nvSpPr>
        <p:spPr>
          <a:xfrm>
            <a:off x="9357055"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If it switches, buy or sell when the market opens, and pay the cost</a:t>
            </a:r>
            <a:endParaRPr lang="en-US" sz="1600" dirty="0"/>
          </a:p>
        </p:txBody>
      </p:sp>
      <p:sp>
        <p:nvSpPr>
          <p:cNvPr id="26" name="Text 24"/>
          <p:cNvSpPr txBox="1"/>
          <p:nvPr/>
        </p:nvSpPr>
        <p:spPr>
          <a:xfrm>
            <a:off x="548640" y="4572000"/>
            <a:ext cx="11094415" cy="914400"/>
          </a:xfrm>
          <a:prstGeom prst="rect">
            <a:avLst/>
          </a:prstGeom>
          <a:noFill/>
          <a:ln/>
        </p:spPr>
        <p:txBody>
          <a:bodyPr wrap="square" lIns="0" tIns="0" rIns="0" bIns="0" rtlCol="0" anchor="t"/>
          <a:lstStyle/>
          <a:p>
            <a:pPr indent="0" marL="0">
              <a:buNone/>
            </a:pPr>
            <a:r>
              <a:rPr lang="en-US" sz="1700" dirty="0">
                <a:solidFill>
                  <a:schemeClr val="tx1"/>
                </a:solidFill>
              </a:rPr>
              <a:t>Rule against cheating: the decision is made after the market closes, and the trade happens at the next morning’s price. The model never trades at a price it has already seen.</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looks at: 15 measurements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120640"/>
                <a:gridCol w="4572000"/>
                <a:gridCol w="1399032"/>
              </a:tblGrid>
              <a:tr h="566928">
                <a:tc>
                  <a:txBody>
                    <a:bodyPr/>
                    <a:lstStyle/>
                    <a:p>
                      <a:pPr indent="0" marL="0">
                        <a:buNone/>
                      </a:pPr>
                      <a:r>
                        <a:rPr lang="en-US" sz="1700" b="1" dirty="0">
                          <a:solidFill>
                            <a:schemeClr val="bg1"/>
                          </a:solidFill>
                        </a:rPr>
                        <a:t>Plain-English question</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Technical name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How many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700" dirty="0">
                          <a:solidFill>
                            <a:schemeClr val="tx2"/>
                          </a:solidFill>
                        </a:rPr>
                        <a:t>How much has the price moved lately?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 5, 10 and 20-day returns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Is the price above or below its usual level?</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Moving averages (20, 50, 200 days)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Has it risen or fallen unusually fast?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RSI, MACD, Bollinger %B</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How jumpy or nervous is the market?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Volatility, ATR, band width</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Are unusually many people trading?</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Volume z-score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120640"/>
            <a:ext cx="11094415" cy="731520"/>
          </a:xfrm>
          <a:prstGeom prst="rect">
            <a:avLst/>
          </a:prstGeom>
          <a:noFill/>
          <a:ln/>
        </p:spPr>
        <p:txBody>
          <a:bodyPr wrap="square" lIns="0" tIns="0" rIns="0" bIns="0" rtlCol="0" anchor="t"/>
          <a:lstStyle/>
          <a:p>
            <a:pPr indent="0" marL="0">
              <a:buNone/>
            </a:pPr>
            <a:r>
              <a:rPr lang="en-US" sz="1600" dirty="0">
                <a:solidFill>
                  <a:schemeClr val="tx2"/>
                </a:solidFill>
              </a:rPr>
              <a:t>Every measurement uses only prices up to today. 15 automated tests check this — for example, they change future prices and confirm that nothing the model saw changes.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predicts: what kind of week is next</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900" dirty="0">
                <a:solidFill>
                  <a:schemeClr val="tx1"/>
                </a:solidFill>
              </a:rPr>
              <a:t>Example: SPY closes at $500 on Monday. One week later it is…</a:t>
            </a:r>
            <a:endParaRPr lang="en-US" sz="1900" dirty="0"/>
          </a:p>
        </p:txBody>
      </p:sp>
      <p:sp>
        <p:nvSpPr>
          <p:cNvPr id="4" name="Shape 2"/>
          <p:cNvSpPr/>
          <p:nvPr/>
        </p:nvSpPr>
        <p:spPr>
          <a:xfrm>
            <a:off x="548640" y="2011680"/>
            <a:ext cx="3593592" cy="1371600"/>
          </a:xfrm>
          <a:prstGeom prst="roundRect">
            <a:avLst>
              <a:gd name="adj" fmla="val 8000"/>
            </a:avLst>
          </a:prstGeom>
          <a:solidFill>
            <a:schemeClr val="accent2"/>
          </a:solidFill>
          <a:ln w="12700">
            <a:solidFill>
              <a:schemeClr val="accent2"/>
            </a:solidFill>
            <a:prstDash val="solid"/>
          </a:ln>
        </p:spPr>
      </p:sp>
      <p:sp>
        <p:nvSpPr>
          <p:cNvPr id="5" name="Text 3"/>
          <p:cNvSpPr txBox="1"/>
          <p:nvPr/>
        </p:nvSpPr>
        <p:spPr>
          <a:xfrm>
            <a:off x="54864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Down week</a:t>
            </a:r>
            <a:endParaRPr lang="en-US" sz="2600" dirty="0"/>
          </a:p>
        </p:txBody>
      </p:sp>
      <p:sp>
        <p:nvSpPr>
          <p:cNvPr id="6" name="Text 4"/>
          <p:cNvSpPr txBox="1"/>
          <p:nvPr/>
        </p:nvSpPr>
        <p:spPr>
          <a:xfrm>
            <a:off x="54864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below $495</a:t>
            </a:r>
            <a:endParaRPr lang="en-US" sz="1800" dirty="0"/>
          </a:p>
        </p:txBody>
      </p:sp>
      <p:sp>
        <p:nvSpPr>
          <p:cNvPr id="7" name="Text 5"/>
          <p:cNvSpPr txBox="1"/>
          <p:nvPr/>
        </p:nvSpPr>
        <p:spPr>
          <a:xfrm>
            <a:off x="54864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18% of weeks in 2023–24</a:t>
            </a:r>
            <a:endParaRPr lang="en-US" sz="1500" dirty="0"/>
          </a:p>
        </p:txBody>
      </p:sp>
      <p:sp>
        <p:nvSpPr>
          <p:cNvPr id="8" name="Shape 6"/>
          <p:cNvSpPr/>
          <p:nvPr/>
        </p:nvSpPr>
        <p:spPr>
          <a:xfrm>
            <a:off x="4297680" y="2011680"/>
            <a:ext cx="3593592" cy="1371600"/>
          </a:xfrm>
          <a:prstGeom prst="roundRect">
            <a:avLst>
              <a:gd name="adj" fmla="val 8000"/>
            </a:avLst>
          </a:prstGeom>
          <a:solidFill>
            <a:schemeClr val="accent3"/>
          </a:solidFill>
          <a:ln w="12700">
            <a:solidFill>
              <a:schemeClr val="accent3"/>
            </a:solidFill>
            <a:prstDash val="solid"/>
          </a:ln>
        </p:spPr>
      </p:sp>
      <p:sp>
        <p:nvSpPr>
          <p:cNvPr id="9" name="Text 7"/>
          <p:cNvSpPr txBox="1"/>
          <p:nvPr/>
        </p:nvSpPr>
        <p:spPr>
          <a:xfrm>
            <a:off x="429768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Flat week</a:t>
            </a:r>
            <a:endParaRPr lang="en-US" sz="2600" dirty="0"/>
          </a:p>
        </p:txBody>
      </p:sp>
      <p:sp>
        <p:nvSpPr>
          <p:cNvPr id="10" name="Text 8"/>
          <p:cNvSpPr txBox="1"/>
          <p:nvPr/>
        </p:nvSpPr>
        <p:spPr>
          <a:xfrm>
            <a:off x="429768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$495 to $505</a:t>
            </a:r>
            <a:endParaRPr lang="en-US" sz="1800" dirty="0"/>
          </a:p>
        </p:txBody>
      </p:sp>
      <p:sp>
        <p:nvSpPr>
          <p:cNvPr id="11" name="Text 9"/>
          <p:cNvSpPr txBox="1"/>
          <p:nvPr/>
        </p:nvSpPr>
        <p:spPr>
          <a:xfrm>
            <a:off x="429768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42% of weeks in 2023–24</a:t>
            </a:r>
            <a:endParaRPr lang="en-US" sz="1500" dirty="0"/>
          </a:p>
        </p:txBody>
      </p:sp>
      <p:sp>
        <p:nvSpPr>
          <p:cNvPr id="12" name="Shape 10"/>
          <p:cNvSpPr/>
          <p:nvPr/>
        </p:nvSpPr>
        <p:spPr>
          <a:xfrm>
            <a:off x="8046720" y="2011680"/>
            <a:ext cx="3593592" cy="1371600"/>
          </a:xfrm>
          <a:prstGeom prst="roundRect">
            <a:avLst>
              <a:gd name="adj" fmla="val 8000"/>
            </a:avLst>
          </a:prstGeom>
          <a:solidFill>
            <a:schemeClr val="accent1"/>
          </a:solidFill>
          <a:ln w="12700">
            <a:solidFill>
              <a:schemeClr val="accent1"/>
            </a:solidFill>
            <a:prstDash val="solid"/>
          </a:ln>
        </p:spPr>
      </p:sp>
      <p:sp>
        <p:nvSpPr>
          <p:cNvPr id="13" name="Text 11"/>
          <p:cNvSpPr txBox="1"/>
          <p:nvPr/>
        </p:nvSpPr>
        <p:spPr>
          <a:xfrm>
            <a:off x="804672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Up week</a:t>
            </a:r>
            <a:endParaRPr lang="en-US" sz="2600" dirty="0"/>
          </a:p>
        </p:txBody>
      </p:sp>
      <p:sp>
        <p:nvSpPr>
          <p:cNvPr id="14" name="Text 12"/>
          <p:cNvSpPr txBox="1"/>
          <p:nvPr/>
        </p:nvSpPr>
        <p:spPr>
          <a:xfrm>
            <a:off x="804672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above $505</a:t>
            </a:r>
            <a:endParaRPr lang="en-US" sz="1800" dirty="0"/>
          </a:p>
        </p:txBody>
      </p:sp>
      <p:sp>
        <p:nvSpPr>
          <p:cNvPr id="15" name="Text 13"/>
          <p:cNvSpPr txBox="1"/>
          <p:nvPr/>
        </p:nvSpPr>
        <p:spPr>
          <a:xfrm>
            <a:off x="804672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40% of weeks in 2023–24</a:t>
            </a:r>
            <a:endParaRPr lang="en-US" sz="1500" dirty="0"/>
          </a:p>
        </p:txBody>
      </p:sp>
      <p:sp>
        <p:nvSpPr>
          <p:cNvPr id="16" name="Shape 14"/>
          <p:cNvSpPr/>
          <p:nvPr/>
        </p:nvSpPr>
        <p:spPr>
          <a:xfrm>
            <a:off x="548640" y="4114800"/>
            <a:ext cx="5468112" cy="1783080"/>
          </a:xfrm>
          <a:prstGeom prst="roundRect">
            <a:avLst>
              <a:gd name="adj" fmla="val 6154"/>
            </a:avLst>
          </a:prstGeom>
          <a:solidFill>
            <a:schemeClr val="bg2"/>
          </a:solidFill>
          <a:ln w="12700">
            <a:solidFill>
              <a:schemeClr val="bg2"/>
            </a:solidFill>
            <a:prstDash val="solid"/>
          </a:ln>
        </p:spPr>
      </p:sp>
      <p:sp>
        <p:nvSpPr>
          <p:cNvPr id="17" name="Text 15"/>
          <p:cNvSpPr txBox="1"/>
          <p:nvPr/>
        </p:nvSpPr>
        <p:spPr>
          <a:xfrm>
            <a:off x="77724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Uneven mix</a:t>
            </a:r>
            <a:endParaRPr lang="en-US" sz="1900" dirty="0"/>
          </a:p>
        </p:txBody>
      </p:sp>
      <p:sp>
        <p:nvSpPr>
          <p:cNvPr id="18" name="Text 16"/>
          <p:cNvSpPr txBox="1"/>
          <p:nvPr/>
        </p:nvSpPr>
        <p:spPr>
          <a:xfrm>
            <a:off x="77724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Up and flat weeks are far more common than down weeks, so the model is told to pay extra attention to the rare ones.</a:t>
            </a:r>
            <a:endParaRPr lang="en-US" sz="1500" dirty="0"/>
          </a:p>
        </p:txBody>
      </p:sp>
      <p:sp>
        <p:nvSpPr>
          <p:cNvPr id="19" name="Shape 17"/>
          <p:cNvSpPr/>
          <p:nvPr/>
        </p:nvSpPr>
        <p:spPr>
          <a:xfrm>
            <a:off x="6172200" y="4114800"/>
            <a:ext cx="5468112" cy="1783080"/>
          </a:xfrm>
          <a:prstGeom prst="roundRect">
            <a:avLst>
              <a:gd name="adj" fmla="val 6154"/>
            </a:avLst>
          </a:prstGeom>
          <a:solidFill>
            <a:schemeClr val="bg2"/>
          </a:solidFill>
          <a:ln w="12700">
            <a:solidFill>
              <a:schemeClr val="bg2"/>
            </a:solidFill>
            <a:prstDash val="solid"/>
          </a:ln>
        </p:spPr>
      </p:sp>
      <p:sp>
        <p:nvSpPr>
          <p:cNvPr id="20" name="Text 18"/>
          <p:cNvSpPr txBox="1"/>
          <p:nvPr/>
        </p:nvSpPr>
        <p:spPr>
          <a:xfrm>
            <a:off x="640080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mix changes every year</a:t>
            </a:r>
            <a:endParaRPr lang="en-US" sz="1900" dirty="0"/>
          </a:p>
        </p:txBody>
      </p:sp>
      <p:sp>
        <p:nvSpPr>
          <p:cNvPr id="21" name="Text 19"/>
          <p:cNvSpPr txBox="1"/>
          <p:nvPr/>
        </p:nvSpPr>
        <p:spPr>
          <a:xfrm>
            <a:off x="640080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2017: only 5% of weeks were down weeks. 2022: 41% were. Each period looks different.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No cheating: textbook, practice exam, final exam</a:t>
            </a:r>
            <a:endParaRPr lang="en-US" sz="3200" dirty="0"/>
          </a:p>
        </p:txBody>
      </p:sp>
      <p:sp>
        <p:nvSpPr>
          <p:cNvPr id="3" name="Shape 1"/>
          <p:cNvSpPr/>
          <p:nvPr/>
        </p:nvSpPr>
        <p:spPr>
          <a:xfrm>
            <a:off x="548640" y="1463040"/>
            <a:ext cx="8001792" cy="914400"/>
          </a:xfrm>
          <a:prstGeom prst="rect">
            <a:avLst/>
          </a:prstGeom>
          <a:solidFill>
            <a:schemeClr val="tx1"/>
          </a:solidFill>
          <a:ln w="12700">
            <a:solidFill>
              <a:schemeClr val="tx1"/>
            </a:solidFill>
            <a:prstDash val="solid"/>
          </a:ln>
        </p:spPr>
      </p:sp>
      <p:sp>
        <p:nvSpPr>
          <p:cNvPr id="4" name="Text 2"/>
          <p:cNvSpPr txBox="1"/>
          <p:nvPr/>
        </p:nvSpPr>
        <p:spPr>
          <a:xfrm>
            <a:off x="621792" y="1463040"/>
            <a:ext cx="7855488" cy="914400"/>
          </a:xfrm>
          <a:prstGeom prst="rect">
            <a:avLst/>
          </a:prstGeom>
          <a:noFill/>
          <a:ln/>
        </p:spPr>
        <p:txBody>
          <a:bodyPr wrap="square" lIns="0" tIns="0" rIns="0" bIns="0" rtlCol="0" anchor="ctr"/>
          <a:lstStyle/>
          <a:p>
            <a:pPr algn="ctr" indent="0" marL="0">
              <a:buNone/>
            </a:pPr>
            <a:r>
              <a:rPr lang="en-US" sz="1800" b="1" dirty="0">
                <a:solidFill>
                  <a:schemeClr val="bg1"/>
                </a:solidFill>
              </a:rPr>
              <a:t>Textbook · 2010–2020 · learn</a:t>
            </a:r>
            <a:endParaRPr lang="en-US" sz="1800" dirty="0"/>
          </a:p>
        </p:txBody>
      </p:sp>
      <p:sp>
        <p:nvSpPr>
          <p:cNvPr id="5" name="Shape 3"/>
          <p:cNvSpPr/>
          <p:nvPr/>
        </p:nvSpPr>
        <p:spPr>
          <a:xfrm>
            <a:off x="8641872" y="1463040"/>
            <a:ext cx="1454871" cy="914400"/>
          </a:xfrm>
          <a:prstGeom prst="rect">
            <a:avLst/>
          </a:prstGeom>
          <a:solidFill>
            <a:schemeClr val="accent2"/>
          </a:solidFill>
          <a:ln w="12700">
            <a:solidFill>
              <a:schemeClr val="accent2"/>
            </a:solidFill>
            <a:prstDash val="solid"/>
          </a:ln>
        </p:spPr>
      </p:sp>
      <p:sp>
        <p:nvSpPr>
          <p:cNvPr id="6" name="Text 4"/>
          <p:cNvSpPr txBox="1"/>
          <p:nvPr/>
        </p:nvSpPr>
        <p:spPr>
          <a:xfrm>
            <a:off x="8715024"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Practice exam · 2021–22</a:t>
            </a:r>
            <a:endParaRPr lang="en-US" sz="1300" dirty="0"/>
          </a:p>
        </p:txBody>
      </p:sp>
      <p:sp>
        <p:nvSpPr>
          <p:cNvPr id="7" name="Shape 5"/>
          <p:cNvSpPr/>
          <p:nvPr/>
        </p:nvSpPr>
        <p:spPr>
          <a:xfrm>
            <a:off x="10188184" y="1463040"/>
            <a:ext cx="1454871" cy="914400"/>
          </a:xfrm>
          <a:prstGeom prst="rect">
            <a:avLst/>
          </a:prstGeom>
          <a:solidFill>
            <a:schemeClr val="accent1"/>
          </a:solidFill>
          <a:ln w="12700">
            <a:solidFill>
              <a:schemeClr val="accent1"/>
            </a:solidFill>
            <a:prstDash val="solid"/>
          </a:ln>
        </p:spPr>
      </p:sp>
      <p:sp>
        <p:nvSpPr>
          <p:cNvPr id="8" name="Text 6"/>
          <p:cNvSpPr txBox="1"/>
          <p:nvPr/>
        </p:nvSpPr>
        <p:spPr>
          <a:xfrm>
            <a:off x="10261336"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Final exam · 2023–24</a:t>
            </a:r>
            <a:endParaRPr lang="en-US" sz="1300" dirty="0"/>
          </a:p>
        </p:txBody>
      </p:sp>
      <p:sp>
        <p:nvSpPr>
          <p:cNvPr id="9" name="Shape 7"/>
          <p:cNvSpPr/>
          <p:nvPr/>
        </p:nvSpPr>
        <p:spPr>
          <a:xfrm>
            <a:off x="548640" y="2743200"/>
            <a:ext cx="3593592" cy="2148840"/>
          </a:xfrm>
          <a:prstGeom prst="roundRect">
            <a:avLst>
              <a:gd name="adj" fmla="val 5106"/>
            </a:avLst>
          </a:prstGeom>
          <a:solidFill>
            <a:schemeClr val="bg2"/>
          </a:solidFill>
          <a:ln w="12700">
            <a:solidFill>
              <a:schemeClr val="bg2"/>
            </a:solidFill>
            <a:prstDash val="solid"/>
          </a:ln>
        </p:spPr>
      </p:sp>
      <p:sp>
        <p:nvSpPr>
          <p:cNvPr id="10" name="Shape 8"/>
          <p:cNvSpPr/>
          <p:nvPr/>
        </p:nvSpPr>
        <p:spPr>
          <a:xfrm>
            <a:off x="777240" y="297180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77724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Text 10"/>
          <p:cNvSpPr txBox="1"/>
          <p:nvPr/>
        </p:nvSpPr>
        <p:spPr>
          <a:xfrm>
            <a:off x="137160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Textbook (training)</a:t>
            </a:r>
            <a:endParaRPr lang="en-US" sz="1700" dirty="0"/>
          </a:p>
        </p:txBody>
      </p:sp>
      <p:sp>
        <p:nvSpPr>
          <p:cNvPr id="13" name="Text 11"/>
          <p:cNvSpPr txBox="1"/>
          <p:nvPr/>
        </p:nvSpPr>
        <p:spPr>
          <a:xfrm>
            <a:off x="77724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The model learns patterns from 11 years of history.</a:t>
            </a:r>
            <a:endParaRPr lang="en-US" sz="1500" dirty="0"/>
          </a:p>
        </p:txBody>
      </p:sp>
      <p:sp>
        <p:nvSpPr>
          <p:cNvPr id="14" name="Shape 12"/>
          <p:cNvSpPr/>
          <p:nvPr/>
        </p:nvSpPr>
        <p:spPr>
          <a:xfrm>
            <a:off x="4297680" y="2743200"/>
            <a:ext cx="3593592" cy="2148840"/>
          </a:xfrm>
          <a:prstGeom prst="roundRect">
            <a:avLst>
              <a:gd name="adj" fmla="val 5106"/>
            </a:avLst>
          </a:prstGeom>
          <a:solidFill>
            <a:schemeClr val="bg2"/>
          </a:solidFill>
          <a:ln w="12700">
            <a:solidFill>
              <a:schemeClr val="bg2"/>
            </a:solidFill>
            <a:prstDash val="solid"/>
          </a:ln>
        </p:spPr>
      </p:sp>
      <p:sp>
        <p:nvSpPr>
          <p:cNvPr id="15" name="Shape 13"/>
          <p:cNvSpPr/>
          <p:nvPr/>
        </p:nvSpPr>
        <p:spPr>
          <a:xfrm>
            <a:off x="4526280" y="2971800"/>
            <a:ext cx="438912" cy="438912"/>
          </a:xfrm>
          <a:prstGeom prst="ellipse">
            <a:avLst/>
          </a:prstGeom>
          <a:solidFill>
            <a:schemeClr val="accent1"/>
          </a:solidFill>
          <a:ln w="12700">
            <a:solidFill>
              <a:schemeClr val="accent1"/>
            </a:solidFill>
            <a:prstDash val="solid"/>
          </a:ln>
        </p:spPr>
      </p:sp>
      <p:sp>
        <p:nvSpPr>
          <p:cNvPr id="16" name="Text 14"/>
          <p:cNvSpPr txBox="1"/>
          <p:nvPr/>
        </p:nvSpPr>
        <p:spPr>
          <a:xfrm>
            <a:off x="452628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5"/>
          <p:cNvSpPr txBox="1"/>
          <p:nvPr/>
        </p:nvSpPr>
        <p:spPr>
          <a:xfrm>
            <a:off x="5120640" y="2971800"/>
            <a:ext cx="25420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Practice exam (validation)</a:t>
            </a:r>
            <a:endParaRPr lang="en-US" sz="1700" dirty="0"/>
          </a:p>
        </p:txBody>
      </p:sp>
      <p:sp>
        <p:nvSpPr>
          <p:cNvPr id="18" name="Text 16"/>
          <p:cNvSpPr txBox="1"/>
          <p:nvPr/>
        </p:nvSpPr>
        <p:spPr>
          <a:xfrm>
            <a:off x="4526280" y="3645408"/>
            <a:ext cx="3136392" cy="1063752"/>
          </a:xfrm>
          <a:prstGeom prst="rect">
            <a:avLst/>
          </a:prstGeom>
          <a:noFill/>
          <a:ln/>
        </p:spPr>
        <p:txBody>
          <a:bodyPr wrap="square" lIns="0" tIns="0" rIns="0" bIns="0" rtlCol="0" anchor="t"/>
          <a:lstStyle/>
          <a:p>
            <a:pPr indent="0" marL="0">
              <a:buNone/>
            </a:pPr>
            <a:r>
              <a:rPr lang="en-US" sz="1500" dirty="0">
                <a:solidFill>
                  <a:schemeClr val="tx2"/>
                </a:solidFill>
              </a:rPr>
              <a:t>We try several models and trading rules and pick the best, then lock everything.</a:t>
            </a:r>
            <a:endParaRPr lang="en-US" sz="1500" dirty="0"/>
          </a:p>
        </p:txBody>
      </p:sp>
      <p:sp>
        <p:nvSpPr>
          <p:cNvPr id="19" name="Shape 17"/>
          <p:cNvSpPr/>
          <p:nvPr/>
        </p:nvSpPr>
        <p:spPr>
          <a:xfrm>
            <a:off x="8046720" y="2743200"/>
            <a:ext cx="3593592" cy="2148840"/>
          </a:xfrm>
          <a:prstGeom prst="roundRect">
            <a:avLst>
              <a:gd name="adj" fmla="val 5106"/>
            </a:avLst>
          </a:prstGeom>
          <a:solidFill>
            <a:schemeClr val="bg2"/>
          </a:solidFill>
          <a:ln w="12700">
            <a:solidFill>
              <a:schemeClr val="bg2"/>
            </a:solidFill>
            <a:prstDash val="solid"/>
          </a:ln>
        </p:spPr>
      </p:sp>
      <p:sp>
        <p:nvSpPr>
          <p:cNvPr id="20" name="Shape 18"/>
          <p:cNvSpPr/>
          <p:nvPr/>
        </p:nvSpPr>
        <p:spPr>
          <a:xfrm>
            <a:off x="8275320" y="2971800"/>
            <a:ext cx="438912" cy="438912"/>
          </a:xfrm>
          <a:prstGeom prst="ellipse">
            <a:avLst/>
          </a:prstGeom>
          <a:solidFill>
            <a:schemeClr val="accent1"/>
          </a:solidFill>
          <a:ln w="12700">
            <a:solidFill>
              <a:schemeClr val="accent1"/>
            </a:solidFill>
            <a:prstDash val="solid"/>
          </a:ln>
        </p:spPr>
      </p:sp>
      <p:sp>
        <p:nvSpPr>
          <p:cNvPr id="21" name="Text 19"/>
          <p:cNvSpPr txBox="1"/>
          <p:nvPr/>
        </p:nvSpPr>
        <p:spPr>
          <a:xfrm>
            <a:off x="827532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Text 20"/>
          <p:cNvSpPr txBox="1"/>
          <p:nvPr/>
        </p:nvSpPr>
        <p:spPr>
          <a:xfrm>
            <a:off x="886968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Final exam (test)</a:t>
            </a:r>
            <a:endParaRPr lang="en-US" sz="1700" dirty="0"/>
          </a:p>
        </p:txBody>
      </p:sp>
      <p:sp>
        <p:nvSpPr>
          <p:cNvPr id="23" name="Text 21"/>
          <p:cNvSpPr txBox="1"/>
          <p:nvPr/>
        </p:nvSpPr>
        <p:spPr>
          <a:xfrm>
            <a:off x="827532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Opened once, after locking. Nothing we saw there changed the model.</a:t>
            </a:r>
            <a:endParaRPr lang="en-US" sz="1500" dirty="0"/>
          </a:p>
        </p:txBody>
      </p:sp>
      <p:sp>
        <p:nvSpPr>
          <p:cNvPr id="24" name="Text 22"/>
          <p:cNvSpPr txBox="1"/>
          <p:nvPr/>
        </p:nvSpPr>
        <p:spPr>
          <a:xfrm>
            <a:off x="548640" y="5166360"/>
            <a:ext cx="11094415" cy="640080"/>
          </a:xfrm>
          <a:prstGeom prst="rect">
            <a:avLst/>
          </a:prstGeom>
          <a:noFill/>
          <a:ln/>
        </p:spPr>
        <p:txBody>
          <a:bodyPr wrap="square" lIns="0" tIns="0" rIns="0" bIns="0" rtlCol="0" anchor="t"/>
          <a:lstStyle/>
          <a:p>
            <a:pPr indent="0" marL="0">
              <a:buNone/>
            </a:pPr>
            <a:r>
              <a:rPr lang="en-US" sz="1600" dirty="0">
                <a:solidFill>
                  <a:schemeClr val="tx1"/>
                </a:solidFill>
              </a:rPr>
              <a:t>Data is never shuffled: the model always learns from the past and is tested on the future, with a one-week buffer between periods.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Choosing the model: the random forest scored best</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057400"/>
          </a:xfrm>
          <a:prstGeom prst="roundRect">
            <a:avLst>
              <a:gd name="adj" fmla="val 5333"/>
            </a:avLst>
          </a:prstGeom>
          <a:solidFill>
            <a:schemeClr val="bg2"/>
          </a:solidFill>
          <a:ln w="12700">
            <a:solidFill>
              <a:schemeClr val="bg2"/>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What the score means</a:t>
            </a:r>
            <a:endParaRPr lang="en-US" sz="1700" dirty="0"/>
          </a:p>
        </p:txBody>
      </p:sp>
      <p:sp>
        <p:nvSpPr>
          <p:cNvPr id="6" name="Text 3"/>
          <p:cNvSpPr txBox="1"/>
          <p:nvPr/>
        </p:nvSpPr>
        <p:spPr>
          <a:xfrm>
            <a:off x="8275320" y="2148840"/>
            <a:ext cx="3136392" cy="1097280"/>
          </a:xfrm>
          <a:prstGeom prst="rect">
            <a:avLst/>
          </a:prstGeom>
          <a:noFill/>
          <a:ln/>
        </p:spPr>
        <p:txBody>
          <a:bodyPr wrap="square" lIns="0" tIns="0" rIns="0" bIns="0" rtlCol="0" anchor="t"/>
          <a:lstStyle/>
          <a:p>
            <a:pPr indent="0" marL="0">
              <a:buNone/>
            </a:pPr>
            <a:r>
              <a:rPr lang="en-US" sz="1500" dirty="0">
                <a:solidFill>
                  <a:schemeClr val="tx2"/>
                </a:solidFill>
              </a:rPr>
              <a:t>A grade from 0 to 1 for recognising all three kinds of week fairly. Random guessing scores about 0.33.</a:t>
            </a:r>
            <a:endParaRPr lang="en-US" sz="1500" dirty="0"/>
          </a:p>
        </p:txBody>
      </p:sp>
      <p:sp>
        <p:nvSpPr>
          <p:cNvPr id="7" name="Shape 4"/>
          <p:cNvSpPr/>
          <p:nvPr/>
        </p:nvSpPr>
        <p:spPr>
          <a:xfrm>
            <a:off x="8046720" y="3611880"/>
            <a:ext cx="3593592" cy="2194560"/>
          </a:xfrm>
          <a:prstGeom prst="roundRect">
            <a:avLst>
              <a:gd name="adj" fmla="val 5000"/>
            </a:avLst>
          </a:prstGeom>
          <a:solidFill>
            <a:srgbClr val="FBEDE4"/>
          </a:solidFill>
          <a:ln w="12700">
            <a:solidFill>
              <a:srgbClr val="FBEDE4"/>
            </a:solidFill>
            <a:prstDash val="solid"/>
          </a:ln>
        </p:spPr>
      </p:sp>
      <p:sp>
        <p:nvSpPr>
          <p:cNvPr id="8" name="Text 5"/>
          <p:cNvSpPr txBox="1"/>
          <p:nvPr/>
        </p:nvSpPr>
        <p:spPr>
          <a:xfrm>
            <a:off x="8275320" y="384048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Why the random forest</a:t>
            </a:r>
            <a:endParaRPr lang="en-US" sz="1700" dirty="0"/>
          </a:p>
        </p:txBody>
      </p:sp>
      <p:sp>
        <p:nvSpPr>
          <p:cNvPr id="9" name="Text 6"/>
          <p:cNvSpPr txBox="1"/>
          <p:nvPr/>
        </p:nvSpPr>
        <p:spPr>
          <a:xfrm>
            <a:off x="8275320" y="4389120"/>
            <a:ext cx="3136392" cy="1234440"/>
          </a:xfrm>
          <a:prstGeom prst="rect">
            <a:avLst/>
          </a:prstGeom>
          <a:noFill/>
          <a:ln/>
        </p:spPr>
        <p:txBody>
          <a:bodyPr wrap="square" lIns="0" tIns="0" rIns="0" bIns="0" rtlCol="0" anchor="t"/>
          <a:lstStyle/>
          <a:p>
            <a:pPr indent="0" marL="0">
              <a:buNone/>
            </a:pPr>
            <a:r>
              <a:rPr lang="en-US" sz="1400" dirty="0">
                <a:solidFill>
                  <a:schemeClr val="tx2"/>
                </a:solidFill>
              </a:rPr>
              <a:t>It was the only model clearly above guessing, and it scored 0.40 both on held-back parts of the textbook and on the practice exam: a consistent result, not a lucky one.</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a random forest is, and why it won</a:t>
            </a:r>
            <a:endParaRPr lang="en-US" sz="3200" dirty="0"/>
          </a:p>
        </p:txBody>
      </p:sp>
      <p:sp>
        <p:nvSpPr>
          <p:cNvPr id="3" name="Shape 1"/>
          <p:cNvSpPr/>
          <p:nvPr/>
        </p:nvSpPr>
        <p:spPr>
          <a:xfrm>
            <a:off x="548640" y="1463040"/>
            <a:ext cx="1325880" cy="1188720"/>
          </a:xfrm>
          <a:prstGeom prst="roundRect">
            <a:avLst>
              <a:gd name="adj" fmla="val 7692"/>
            </a:avLst>
          </a:prstGeom>
          <a:solidFill>
            <a:schemeClr val="bg2"/>
          </a:solidFill>
          <a:ln w="12700">
            <a:solidFill>
              <a:schemeClr val="bg2"/>
            </a:solidFill>
            <a:prstDash val="solid"/>
          </a:ln>
        </p:spPr>
      </p:sp>
      <p:sp>
        <p:nvSpPr>
          <p:cNvPr id="4" name="Text 2"/>
          <p:cNvSpPr txBox="1"/>
          <p:nvPr/>
        </p:nvSpPr>
        <p:spPr>
          <a:xfrm>
            <a:off x="548640"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1</a:t>
            </a:r>
            <a:endParaRPr lang="en-US" sz="1500" dirty="0"/>
          </a:p>
        </p:txBody>
      </p:sp>
      <p:sp>
        <p:nvSpPr>
          <p:cNvPr id="5" name="Text 3"/>
          <p:cNvSpPr txBox="1"/>
          <p:nvPr/>
        </p:nvSpPr>
        <p:spPr>
          <a:xfrm>
            <a:off x="548640"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6" name="Shape 4"/>
          <p:cNvSpPr/>
          <p:nvPr/>
        </p:nvSpPr>
        <p:spPr>
          <a:xfrm>
            <a:off x="2029968" y="1463040"/>
            <a:ext cx="1325880" cy="1188720"/>
          </a:xfrm>
          <a:prstGeom prst="roundRect">
            <a:avLst>
              <a:gd name="adj" fmla="val 7692"/>
            </a:avLst>
          </a:prstGeom>
          <a:solidFill>
            <a:schemeClr val="bg2"/>
          </a:solidFill>
          <a:ln w="12700">
            <a:solidFill>
              <a:schemeClr val="bg2"/>
            </a:solidFill>
            <a:prstDash val="solid"/>
          </a:ln>
        </p:spPr>
      </p:sp>
      <p:sp>
        <p:nvSpPr>
          <p:cNvPr id="7" name="Text 5"/>
          <p:cNvSpPr txBox="1"/>
          <p:nvPr/>
        </p:nvSpPr>
        <p:spPr>
          <a:xfrm>
            <a:off x="2029968"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2</a:t>
            </a:r>
            <a:endParaRPr lang="en-US" sz="1500" dirty="0"/>
          </a:p>
        </p:txBody>
      </p:sp>
      <p:sp>
        <p:nvSpPr>
          <p:cNvPr id="8" name="Text 6"/>
          <p:cNvSpPr txBox="1"/>
          <p:nvPr/>
        </p:nvSpPr>
        <p:spPr>
          <a:xfrm>
            <a:off x="2029968"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Flat</a:t>
            </a:r>
            <a:endParaRPr lang="en-US" sz="1500" dirty="0"/>
          </a:p>
        </p:txBody>
      </p:sp>
      <p:sp>
        <p:nvSpPr>
          <p:cNvPr id="9" name="Shape 7"/>
          <p:cNvSpPr/>
          <p:nvPr/>
        </p:nvSpPr>
        <p:spPr>
          <a:xfrm>
            <a:off x="3511296" y="1463040"/>
            <a:ext cx="1325880" cy="1188720"/>
          </a:xfrm>
          <a:prstGeom prst="roundRect">
            <a:avLst>
              <a:gd name="adj" fmla="val 7692"/>
            </a:avLst>
          </a:prstGeom>
          <a:solidFill>
            <a:schemeClr val="bg2"/>
          </a:solidFill>
          <a:ln w="12700">
            <a:solidFill>
              <a:schemeClr val="bg2"/>
            </a:solidFill>
            <a:prstDash val="solid"/>
          </a:ln>
        </p:spPr>
      </p:sp>
      <p:sp>
        <p:nvSpPr>
          <p:cNvPr id="10" name="Text 8"/>
          <p:cNvSpPr txBox="1"/>
          <p:nvPr/>
        </p:nvSpPr>
        <p:spPr>
          <a:xfrm>
            <a:off x="3511296"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3</a:t>
            </a:r>
            <a:endParaRPr lang="en-US" sz="1500" dirty="0"/>
          </a:p>
        </p:txBody>
      </p:sp>
      <p:sp>
        <p:nvSpPr>
          <p:cNvPr id="11" name="Text 9"/>
          <p:cNvSpPr txBox="1"/>
          <p:nvPr/>
        </p:nvSpPr>
        <p:spPr>
          <a:xfrm>
            <a:off x="3511296"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12" name="Shape 10"/>
          <p:cNvSpPr/>
          <p:nvPr/>
        </p:nvSpPr>
        <p:spPr>
          <a:xfrm>
            <a:off x="4992624" y="1463040"/>
            <a:ext cx="1325880" cy="1188720"/>
          </a:xfrm>
          <a:prstGeom prst="roundRect">
            <a:avLst>
              <a:gd name="adj" fmla="val 7692"/>
            </a:avLst>
          </a:prstGeom>
          <a:solidFill>
            <a:schemeClr val="bg2"/>
          </a:solidFill>
          <a:ln w="12700">
            <a:solidFill>
              <a:schemeClr val="bg2"/>
            </a:solidFill>
            <a:prstDash val="solid"/>
          </a:ln>
        </p:spPr>
      </p:sp>
      <p:sp>
        <p:nvSpPr>
          <p:cNvPr id="13" name="Text 11"/>
          <p:cNvSpPr txBox="1"/>
          <p:nvPr/>
        </p:nvSpPr>
        <p:spPr>
          <a:xfrm>
            <a:off x="4992624"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 Tree 300</a:t>
            </a:r>
            <a:endParaRPr lang="en-US" sz="1500" dirty="0"/>
          </a:p>
        </p:txBody>
      </p:sp>
      <p:sp>
        <p:nvSpPr>
          <p:cNvPr id="14" name="Text 12"/>
          <p:cNvSpPr txBox="1"/>
          <p:nvPr/>
        </p:nvSpPr>
        <p:spPr>
          <a:xfrm>
            <a:off x="4992624"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Down</a:t>
            </a:r>
            <a:endParaRPr lang="en-US" sz="1500" dirty="0"/>
          </a:p>
        </p:txBody>
      </p:sp>
      <p:sp>
        <p:nvSpPr>
          <p:cNvPr id="15" name="Shape 13"/>
          <p:cNvSpPr/>
          <p:nvPr/>
        </p:nvSpPr>
        <p:spPr>
          <a:xfrm>
            <a:off x="6492240" y="1874520"/>
            <a:ext cx="411480" cy="365760"/>
          </a:xfrm>
          <a:prstGeom prst="rightArrow">
            <a:avLst/>
          </a:prstGeom>
          <a:solidFill>
            <a:schemeClr val="accent1"/>
          </a:solidFill>
          <a:ln w="12700">
            <a:solidFill>
              <a:schemeClr val="accent1"/>
            </a:solidFill>
            <a:prstDash val="solid"/>
          </a:ln>
        </p:spPr>
      </p:sp>
      <p:sp>
        <p:nvSpPr>
          <p:cNvPr id="16" name="Shape 14"/>
          <p:cNvSpPr/>
          <p:nvPr/>
        </p:nvSpPr>
        <p:spPr>
          <a:xfrm>
            <a:off x="7040880" y="1463040"/>
            <a:ext cx="4599432" cy="1188720"/>
          </a:xfrm>
          <a:prstGeom prst="roundRect">
            <a:avLst>
              <a:gd name="adj" fmla="val 7692"/>
            </a:avLst>
          </a:prstGeom>
          <a:solidFill>
            <a:srgbClr val="FBEDE4"/>
          </a:solidFill>
          <a:ln w="12700">
            <a:solidFill>
              <a:srgbClr val="FBEDE4"/>
            </a:solidFill>
            <a:prstDash val="solid"/>
          </a:ln>
        </p:spPr>
      </p:sp>
      <p:sp>
        <p:nvSpPr>
          <p:cNvPr id="17" name="Text 15"/>
          <p:cNvSpPr txBox="1"/>
          <p:nvPr/>
        </p:nvSpPr>
        <p:spPr>
          <a:xfrm>
            <a:off x="7223760" y="1463040"/>
            <a:ext cx="4233672" cy="1188720"/>
          </a:xfrm>
          <a:prstGeom prst="rect">
            <a:avLst/>
          </a:prstGeom>
          <a:noFill/>
          <a:ln/>
        </p:spPr>
        <p:txBody>
          <a:bodyPr wrap="square" lIns="0" tIns="0" rIns="0" bIns="0" rtlCol="0" anchor="ctr"/>
          <a:lstStyle/>
          <a:p>
            <a:pPr indent="0" marL="0">
              <a:buNone/>
            </a:pPr>
            <a:r>
              <a:rPr lang="en-US" sz="1700" b="1" dirty="0">
                <a:solidFill>
                  <a:schemeClr val="tx1"/>
                </a:solidFill>
              </a:rPr>
              <a:t>Tally of 300 votes → P(Up) 38%, P(Flat) 35%, P(Down) 27%</a:t>
            </a:r>
            <a:endParaRPr lang="en-US" sz="1700" dirty="0"/>
          </a:p>
        </p:txBody>
      </p:sp>
      <p:sp>
        <p:nvSpPr>
          <p:cNvPr id="18" name="Shape 16"/>
          <p:cNvSpPr/>
          <p:nvPr/>
        </p:nvSpPr>
        <p:spPr>
          <a:xfrm>
            <a:off x="548640" y="3017520"/>
            <a:ext cx="3593592" cy="2743200"/>
          </a:xfrm>
          <a:prstGeom prst="roundRect">
            <a:avLst>
              <a:gd name="adj" fmla="val 4000"/>
            </a:avLst>
          </a:prstGeom>
          <a:solidFill>
            <a:schemeClr val="bg2"/>
          </a:solidFill>
          <a:ln w="12700">
            <a:solidFill>
              <a:schemeClr val="bg2"/>
            </a:solidFill>
            <a:prstDash val="solid"/>
          </a:ln>
        </p:spPr>
      </p:sp>
      <p:sp>
        <p:nvSpPr>
          <p:cNvPr id="19" name="Text 17"/>
          <p:cNvSpPr txBox="1"/>
          <p:nvPr/>
        </p:nvSpPr>
        <p:spPr>
          <a:xfrm>
            <a:off x="77724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Many simple flowcharts</a:t>
            </a:r>
            <a:endParaRPr lang="en-US" sz="1800" dirty="0"/>
          </a:p>
        </p:txBody>
      </p:sp>
      <p:sp>
        <p:nvSpPr>
          <p:cNvPr id="20" name="Text 18"/>
          <p:cNvSpPr txBox="1"/>
          <p:nvPr/>
        </p:nvSpPr>
        <p:spPr>
          <a:xfrm>
            <a:off x="77724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Each tree is a flowchart of yes/no questions (“Is the market jumpy? Is the price above its 200-day level?”), trained on a different random slice of history.</a:t>
            </a:r>
            <a:endParaRPr lang="en-US" sz="1500" dirty="0"/>
          </a:p>
        </p:txBody>
      </p:sp>
      <p:sp>
        <p:nvSpPr>
          <p:cNvPr id="21" name="Shape 19"/>
          <p:cNvSpPr/>
          <p:nvPr/>
        </p:nvSpPr>
        <p:spPr>
          <a:xfrm>
            <a:off x="4297680" y="3017520"/>
            <a:ext cx="3593592" cy="2743200"/>
          </a:xfrm>
          <a:prstGeom prst="roundRect">
            <a:avLst>
              <a:gd name="adj" fmla="val 4000"/>
            </a:avLst>
          </a:prstGeom>
          <a:solidFill>
            <a:schemeClr val="bg2"/>
          </a:solidFill>
          <a:ln w="12700">
            <a:solidFill>
              <a:schemeClr val="bg2"/>
            </a:solidFill>
            <a:prstDash val="solid"/>
          </a:ln>
        </p:spPr>
      </p:sp>
      <p:sp>
        <p:nvSpPr>
          <p:cNvPr id="22" name="Text 20"/>
          <p:cNvSpPr txBox="1"/>
          <p:nvPr/>
        </p:nvSpPr>
        <p:spPr>
          <a:xfrm>
            <a:off x="452628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Combinations count</a:t>
            </a:r>
            <a:endParaRPr lang="en-US" sz="1800" dirty="0"/>
          </a:p>
        </p:txBody>
      </p:sp>
      <p:sp>
        <p:nvSpPr>
          <p:cNvPr id="23" name="Text 21"/>
          <p:cNvSpPr txBox="1"/>
          <p:nvPr/>
        </p:nvSpPr>
        <p:spPr>
          <a:xfrm>
            <a:off x="452628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Trees can learn that a signal matters only together with another one — something the simpler model can’t do.</a:t>
            </a:r>
            <a:endParaRPr lang="en-US" sz="1500" dirty="0"/>
          </a:p>
        </p:txBody>
      </p:sp>
      <p:sp>
        <p:nvSpPr>
          <p:cNvPr id="24" name="Shape 22"/>
          <p:cNvSpPr/>
          <p:nvPr/>
        </p:nvSpPr>
        <p:spPr>
          <a:xfrm>
            <a:off x="8046720" y="3017520"/>
            <a:ext cx="3593592" cy="2743200"/>
          </a:xfrm>
          <a:prstGeom prst="roundRect">
            <a:avLst>
              <a:gd name="adj" fmla="val 4000"/>
            </a:avLst>
          </a:prstGeom>
          <a:solidFill>
            <a:schemeClr val="bg2"/>
          </a:solidFill>
          <a:ln w="12700">
            <a:solidFill>
              <a:schemeClr val="bg2"/>
            </a:solidFill>
            <a:prstDash val="solid"/>
          </a:ln>
        </p:spPr>
      </p:sp>
      <p:sp>
        <p:nvSpPr>
          <p:cNvPr id="25" name="Text 23"/>
          <p:cNvSpPr txBox="1"/>
          <p:nvPr/>
        </p:nvSpPr>
        <p:spPr>
          <a:xfrm>
            <a:off x="827532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Voting avoids memorising</a:t>
            </a:r>
            <a:endParaRPr lang="en-US" sz="1800" dirty="0"/>
          </a:p>
        </p:txBody>
      </p:sp>
      <p:sp>
        <p:nvSpPr>
          <p:cNvPr id="26" name="Text 24"/>
          <p:cNvSpPr txBox="1"/>
          <p:nvPr/>
        </p:nvSpPr>
        <p:spPr>
          <a:xfrm>
            <a:off x="827532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Gradient boosting scored 0.74 on its own training data but 0.32 on the practice exam: it memorised noise. The forest: 0.54 vs 0.40, a much smaller drop.</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Final exam: good at spotting calm weeks, not direction</a:t>
            </a:r>
            <a:endParaRPr lang="en-US" sz="3200" dirty="0"/>
          </a:p>
        </p:txBody>
      </p:sp>
      <p:sp>
        <p:nvSpPr>
          <p:cNvPr id="3" name="Text 1"/>
          <p:cNvSpPr txBox="1"/>
          <p:nvPr/>
        </p:nvSpPr>
        <p:spPr>
          <a:xfrm>
            <a:off x="320040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Down</a:t>
            </a:r>
            <a:endParaRPr lang="en-US" sz="1500" dirty="0"/>
          </a:p>
        </p:txBody>
      </p:sp>
      <p:sp>
        <p:nvSpPr>
          <p:cNvPr id="4" name="Text 2"/>
          <p:cNvSpPr txBox="1"/>
          <p:nvPr/>
        </p:nvSpPr>
        <p:spPr>
          <a:xfrm>
            <a:off x="461772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Flat</a:t>
            </a:r>
            <a:endParaRPr lang="en-US" sz="1500" dirty="0"/>
          </a:p>
        </p:txBody>
      </p:sp>
      <p:sp>
        <p:nvSpPr>
          <p:cNvPr id="5" name="Text 3"/>
          <p:cNvSpPr txBox="1"/>
          <p:nvPr/>
        </p:nvSpPr>
        <p:spPr>
          <a:xfrm>
            <a:off x="603504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Up</a:t>
            </a:r>
            <a:endParaRPr lang="en-US" sz="1500" dirty="0"/>
          </a:p>
        </p:txBody>
      </p:sp>
      <p:sp>
        <p:nvSpPr>
          <p:cNvPr id="6" name="Text 4"/>
          <p:cNvSpPr txBox="1"/>
          <p:nvPr/>
        </p:nvSpPr>
        <p:spPr>
          <a:xfrm>
            <a:off x="548640" y="178308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down weeks (92)</a:t>
            </a:r>
            <a:endParaRPr lang="en-US" sz="1500" dirty="0"/>
          </a:p>
        </p:txBody>
      </p:sp>
      <p:sp>
        <p:nvSpPr>
          <p:cNvPr id="7" name="Shape 5"/>
          <p:cNvSpPr/>
          <p:nvPr/>
        </p:nvSpPr>
        <p:spPr>
          <a:xfrm>
            <a:off x="3200400" y="1783080"/>
            <a:ext cx="1362456" cy="905256"/>
          </a:xfrm>
          <a:prstGeom prst="rect">
            <a:avLst/>
          </a:prstGeom>
          <a:solidFill>
            <a:srgbClr val="F6D2BC"/>
          </a:solidFill>
          <a:ln w="12700">
            <a:solidFill>
              <a:srgbClr val="F6D2BC"/>
            </a:solidFill>
            <a:prstDash val="solid"/>
          </a:ln>
        </p:spPr>
      </p:sp>
      <p:sp>
        <p:nvSpPr>
          <p:cNvPr id="8" name="Text 6"/>
          <p:cNvSpPr txBox="1"/>
          <p:nvPr/>
        </p:nvSpPr>
        <p:spPr>
          <a:xfrm>
            <a:off x="320040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24</a:t>
            </a:r>
            <a:endParaRPr lang="en-US" sz="2400" dirty="0"/>
          </a:p>
        </p:txBody>
      </p:sp>
      <p:sp>
        <p:nvSpPr>
          <p:cNvPr id="9" name="Shape 7"/>
          <p:cNvSpPr/>
          <p:nvPr/>
        </p:nvSpPr>
        <p:spPr>
          <a:xfrm>
            <a:off x="4617720" y="1783080"/>
            <a:ext cx="1362456" cy="905256"/>
          </a:xfrm>
          <a:prstGeom prst="rect">
            <a:avLst/>
          </a:prstGeom>
          <a:solidFill>
            <a:srgbClr val="EEF1F6"/>
          </a:solidFill>
          <a:ln w="12700">
            <a:solidFill>
              <a:srgbClr val="EEF1F6"/>
            </a:solidFill>
            <a:prstDash val="solid"/>
          </a:ln>
        </p:spPr>
      </p:sp>
      <p:sp>
        <p:nvSpPr>
          <p:cNvPr id="10" name="Text 8"/>
          <p:cNvSpPr txBox="1"/>
          <p:nvPr/>
        </p:nvSpPr>
        <p:spPr>
          <a:xfrm>
            <a:off x="461772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29</a:t>
            </a:r>
            <a:endParaRPr lang="en-US" sz="2400" dirty="0"/>
          </a:p>
        </p:txBody>
      </p:sp>
      <p:sp>
        <p:nvSpPr>
          <p:cNvPr id="11" name="Shape 9"/>
          <p:cNvSpPr/>
          <p:nvPr/>
        </p:nvSpPr>
        <p:spPr>
          <a:xfrm>
            <a:off x="6035040" y="1783080"/>
            <a:ext cx="1362456" cy="905256"/>
          </a:xfrm>
          <a:prstGeom prst="rect">
            <a:avLst/>
          </a:prstGeom>
          <a:solidFill>
            <a:srgbClr val="D9E2F0"/>
          </a:solidFill>
          <a:ln w="12700">
            <a:solidFill>
              <a:srgbClr val="D9E2F0"/>
            </a:solidFill>
            <a:prstDash val="solid"/>
          </a:ln>
        </p:spPr>
      </p:sp>
      <p:sp>
        <p:nvSpPr>
          <p:cNvPr id="12" name="Text 10"/>
          <p:cNvSpPr txBox="1"/>
          <p:nvPr/>
        </p:nvSpPr>
        <p:spPr>
          <a:xfrm>
            <a:off x="603504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39</a:t>
            </a:r>
            <a:endParaRPr lang="en-US" sz="2400" dirty="0"/>
          </a:p>
        </p:txBody>
      </p:sp>
      <p:sp>
        <p:nvSpPr>
          <p:cNvPr id="13" name="Text 11"/>
          <p:cNvSpPr txBox="1"/>
          <p:nvPr/>
        </p:nvSpPr>
        <p:spPr>
          <a:xfrm>
            <a:off x="548640" y="274320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flat weeks (207)</a:t>
            </a:r>
            <a:endParaRPr lang="en-US" sz="1500" dirty="0"/>
          </a:p>
        </p:txBody>
      </p:sp>
      <p:sp>
        <p:nvSpPr>
          <p:cNvPr id="14" name="Shape 12"/>
          <p:cNvSpPr/>
          <p:nvPr/>
        </p:nvSpPr>
        <p:spPr>
          <a:xfrm>
            <a:off x="3200400" y="2743200"/>
            <a:ext cx="1362456" cy="905256"/>
          </a:xfrm>
          <a:prstGeom prst="rect">
            <a:avLst/>
          </a:prstGeom>
          <a:solidFill>
            <a:srgbClr val="EEF1F6"/>
          </a:solidFill>
          <a:ln w="12700">
            <a:solidFill>
              <a:srgbClr val="EEF1F6"/>
            </a:solidFill>
            <a:prstDash val="solid"/>
          </a:ln>
        </p:spPr>
      </p:sp>
      <p:sp>
        <p:nvSpPr>
          <p:cNvPr id="15" name="Text 13"/>
          <p:cNvSpPr txBox="1"/>
          <p:nvPr/>
        </p:nvSpPr>
        <p:spPr>
          <a:xfrm>
            <a:off x="320040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20</a:t>
            </a:r>
            <a:endParaRPr lang="en-US" sz="2400" dirty="0"/>
          </a:p>
        </p:txBody>
      </p:sp>
      <p:sp>
        <p:nvSpPr>
          <p:cNvPr id="16" name="Shape 14"/>
          <p:cNvSpPr/>
          <p:nvPr/>
        </p:nvSpPr>
        <p:spPr>
          <a:xfrm>
            <a:off x="4617720" y="2743200"/>
            <a:ext cx="1362456" cy="905256"/>
          </a:xfrm>
          <a:prstGeom prst="rect">
            <a:avLst/>
          </a:prstGeom>
          <a:solidFill>
            <a:srgbClr val="C8571B"/>
          </a:solidFill>
          <a:ln w="12700">
            <a:solidFill>
              <a:srgbClr val="C8571B"/>
            </a:solidFill>
            <a:prstDash val="solid"/>
          </a:ln>
        </p:spPr>
      </p:sp>
      <p:sp>
        <p:nvSpPr>
          <p:cNvPr id="17" name="Text 15"/>
          <p:cNvSpPr txBox="1"/>
          <p:nvPr/>
        </p:nvSpPr>
        <p:spPr>
          <a:xfrm>
            <a:off x="4617720" y="2743200"/>
            <a:ext cx="1362456" cy="905256"/>
          </a:xfrm>
          <a:prstGeom prst="rect">
            <a:avLst/>
          </a:prstGeom>
          <a:noFill/>
          <a:ln/>
        </p:spPr>
        <p:txBody>
          <a:bodyPr wrap="square" lIns="0" tIns="0" rIns="0" bIns="0" rtlCol="0" anchor="ctr"/>
          <a:lstStyle/>
          <a:p>
            <a:pPr algn="ctr" indent="0" marL="0">
              <a:buNone/>
            </a:pPr>
            <a:r>
              <a:rPr lang="en-US" sz="2400" b="1" dirty="0">
                <a:solidFill>
                  <a:schemeClr val="bg1"/>
                </a:solidFill>
              </a:rPr>
              <a:t>129</a:t>
            </a:r>
            <a:endParaRPr lang="en-US" sz="2400" dirty="0"/>
          </a:p>
        </p:txBody>
      </p:sp>
      <p:sp>
        <p:nvSpPr>
          <p:cNvPr id="18" name="Shape 16"/>
          <p:cNvSpPr/>
          <p:nvPr/>
        </p:nvSpPr>
        <p:spPr>
          <a:xfrm>
            <a:off x="6035040" y="2743200"/>
            <a:ext cx="1362456" cy="905256"/>
          </a:xfrm>
          <a:prstGeom prst="rect">
            <a:avLst/>
          </a:prstGeom>
          <a:solidFill>
            <a:srgbClr val="EEF1F6"/>
          </a:solidFill>
          <a:ln w="12700">
            <a:solidFill>
              <a:srgbClr val="EEF1F6"/>
            </a:solidFill>
            <a:prstDash val="solid"/>
          </a:ln>
        </p:spPr>
      </p:sp>
      <p:sp>
        <p:nvSpPr>
          <p:cNvPr id="19" name="Text 17"/>
          <p:cNvSpPr txBox="1"/>
          <p:nvPr/>
        </p:nvSpPr>
        <p:spPr>
          <a:xfrm>
            <a:off x="603504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58</a:t>
            </a:r>
            <a:endParaRPr lang="en-US" sz="2400" dirty="0"/>
          </a:p>
        </p:txBody>
      </p:sp>
      <p:sp>
        <p:nvSpPr>
          <p:cNvPr id="20" name="Text 18"/>
          <p:cNvSpPr txBox="1"/>
          <p:nvPr/>
        </p:nvSpPr>
        <p:spPr>
          <a:xfrm>
            <a:off x="548640" y="370332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up weeks (198)</a:t>
            </a:r>
            <a:endParaRPr lang="en-US" sz="1500" dirty="0"/>
          </a:p>
        </p:txBody>
      </p:sp>
      <p:sp>
        <p:nvSpPr>
          <p:cNvPr id="21" name="Shape 19"/>
          <p:cNvSpPr/>
          <p:nvPr/>
        </p:nvSpPr>
        <p:spPr>
          <a:xfrm>
            <a:off x="3200400" y="3703320"/>
            <a:ext cx="1362456" cy="905256"/>
          </a:xfrm>
          <a:prstGeom prst="rect">
            <a:avLst/>
          </a:prstGeom>
          <a:solidFill>
            <a:srgbClr val="D9E2F0"/>
          </a:solidFill>
          <a:ln w="12700">
            <a:solidFill>
              <a:srgbClr val="D9E2F0"/>
            </a:solidFill>
            <a:prstDash val="solid"/>
          </a:ln>
        </p:spPr>
      </p:sp>
      <p:sp>
        <p:nvSpPr>
          <p:cNvPr id="22" name="Text 20"/>
          <p:cNvSpPr txBox="1"/>
          <p:nvPr/>
        </p:nvSpPr>
        <p:spPr>
          <a:xfrm>
            <a:off x="320040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56</a:t>
            </a:r>
            <a:endParaRPr lang="en-US" sz="2400" dirty="0"/>
          </a:p>
        </p:txBody>
      </p:sp>
      <p:sp>
        <p:nvSpPr>
          <p:cNvPr id="23" name="Shape 21"/>
          <p:cNvSpPr/>
          <p:nvPr/>
        </p:nvSpPr>
        <p:spPr>
          <a:xfrm>
            <a:off x="4617720" y="3703320"/>
            <a:ext cx="1362456" cy="905256"/>
          </a:xfrm>
          <a:prstGeom prst="rect">
            <a:avLst/>
          </a:prstGeom>
          <a:solidFill>
            <a:srgbClr val="EEF1F6"/>
          </a:solidFill>
          <a:ln w="12700">
            <a:solidFill>
              <a:srgbClr val="EEF1F6"/>
            </a:solidFill>
            <a:prstDash val="solid"/>
          </a:ln>
        </p:spPr>
      </p:sp>
      <p:sp>
        <p:nvSpPr>
          <p:cNvPr id="24" name="Text 22"/>
          <p:cNvSpPr txBox="1"/>
          <p:nvPr/>
        </p:nvSpPr>
        <p:spPr>
          <a:xfrm>
            <a:off x="461772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72</a:t>
            </a:r>
            <a:endParaRPr lang="en-US" sz="2400" dirty="0"/>
          </a:p>
        </p:txBody>
      </p:sp>
      <p:sp>
        <p:nvSpPr>
          <p:cNvPr id="25" name="Shape 23"/>
          <p:cNvSpPr/>
          <p:nvPr/>
        </p:nvSpPr>
        <p:spPr>
          <a:xfrm>
            <a:off x="6035040" y="3703320"/>
            <a:ext cx="1362456" cy="905256"/>
          </a:xfrm>
          <a:prstGeom prst="rect">
            <a:avLst/>
          </a:prstGeom>
          <a:solidFill>
            <a:srgbClr val="F6D2BC"/>
          </a:solidFill>
          <a:ln w="12700">
            <a:solidFill>
              <a:srgbClr val="F6D2BC"/>
            </a:solidFill>
            <a:prstDash val="solid"/>
          </a:ln>
        </p:spPr>
      </p:sp>
      <p:sp>
        <p:nvSpPr>
          <p:cNvPr id="26" name="Text 24"/>
          <p:cNvSpPr txBox="1"/>
          <p:nvPr/>
        </p:nvSpPr>
        <p:spPr>
          <a:xfrm>
            <a:off x="603504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70</a:t>
            </a:r>
            <a:endParaRPr lang="en-US" sz="2400" dirty="0"/>
          </a:p>
        </p:txBody>
      </p:sp>
      <p:sp>
        <p:nvSpPr>
          <p:cNvPr id="27" name="Text 25"/>
          <p:cNvSpPr txBox="1"/>
          <p:nvPr/>
        </p:nvSpPr>
        <p:spPr>
          <a:xfrm>
            <a:off x="548640" y="4800600"/>
            <a:ext cx="6949440" cy="365760"/>
          </a:xfrm>
          <a:prstGeom prst="rect">
            <a:avLst/>
          </a:prstGeom>
          <a:noFill/>
          <a:ln/>
        </p:spPr>
        <p:txBody>
          <a:bodyPr wrap="square" lIns="0" tIns="0" rIns="0" bIns="0" rtlCol="0" anchor="t"/>
          <a:lstStyle/>
          <a:p>
            <a:pPr indent="0" marL="0">
              <a:buNone/>
            </a:pPr>
            <a:r>
              <a:rPr lang="en-US" sz="1400" dirty="0">
                <a:solidFill>
                  <a:schemeClr val="accent3"/>
                </a:solidFill>
              </a:rPr>
              <a:t>Orange: correct calls. Blue: up and down mixed up.</a:t>
            </a:r>
            <a:endParaRPr lang="en-US" sz="1400" dirty="0"/>
          </a:p>
        </p:txBody>
      </p:sp>
      <p:sp>
        <p:nvSpPr>
          <p:cNvPr id="28" name="Text 26"/>
          <p:cNvSpPr txBox="1"/>
          <p:nvPr/>
        </p:nvSpPr>
        <p:spPr>
          <a:xfrm>
            <a:off x="8046720" y="1280160"/>
            <a:ext cx="3593592" cy="914400"/>
          </a:xfrm>
          <a:prstGeom prst="rect">
            <a:avLst/>
          </a:prstGeom>
          <a:noFill/>
          <a:ln/>
        </p:spPr>
        <p:txBody>
          <a:bodyPr wrap="square" lIns="0" tIns="0" rIns="0" bIns="0" rtlCol="0" anchor="b"/>
          <a:lstStyle/>
          <a:p>
            <a:pPr indent="0" marL="0">
              <a:buNone/>
            </a:pPr>
            <a:r>
              <a:rPr lang="en-US" sz="4400" b="1" dirty="0">
                <a:solidFill>
                  <a:schemeClr val="tx1"/>
                </a:solidFill>
                <a:latin typeface="Cambria" pitchFamily="34" charset="0"/>
                <a:ea typeface="Cambria" pitchFamily="34" charset="-122"/>
                <a:cs typeface="Cambria" pitchFamily="34" charset="-120"/>
              </a:rPr>
              <a:t>0.41</a:t>
            </a:r>
            <a:endParaRPr lang="en-US" sz="4400" dirty="0"/>
          </a:p>
        </p:txBody>
      </p:sp>
      <p:sp>
        <p:nvSpPr>
          <p:cNvPr id="29" name="Text 27"/>
          <p:cNvSpPr txBox="1"/>
          <p:nvPr/>
        </p:nvSpPr>
        <p:spPr>
          <a:xfrm>
            <a:off x="8046720" y="2286000"/>
            <a:ext cx="3593592" cy="822960"/>
          </a:xfrm>
          <a:prstGeom prst="rect">
            <a:avLst/>
          </a:prstGeom>
          <a:noFill/>
          <a:ln/>
        </p:spPr>
        <p:txBody>
          <a:bodyPr wrap="square" lIns="0" tIns="0" rIns="0" bIns="0" rtlCol="0" anchor="t"/>
          <a:lstStyle/>
          <a:p>
            <a:pPr indent="0" marL="0">
              <a:buNone/>
            </a:pPr>
            <a:r>
              <a:rPr lang="en-US" sz="1500" dirty="0">
                <a:solidFill>
                  <a:schemeClr val="tx2"/>
                </a:solidFill>
              </a:rPr>
              <a:t>Final-exam score (0.40 on the practice exam). Best simple baseline: 0.31.</a:t>
            </a:r>
            <a:endParaRPr lang="en-US" sz="1500" dirty="0"/>
          </a:p>
        </p:txBody>
      </p:sp>
      <p:sp>
        <p:nvSpPr>
          <p:cNvPr id="30" name="Text 28"/>
          <p:cNvSpPr txBox="1"/>
          <p:nvPr/>
        </p:nvSpPr>
        <p:spPr>
          <a:xfrm>
            <a:off x="8046720" y="3017520"/>
            <a:ext cx="3593592" cy="91440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62%</a:t>
            </a:r>
            <a:endParaRPr lang="en-US" sz="4400" dirty="0"/>
          </a:p>
        </p:txBody>
      </p:sp>
      <p:sp>
        <p:nvSpPr>
          <p:cNvPr id="31" name="Text 29"/>
          <p:cNvSpPr txBox="1"/>
          <p:nvPr/>
        </p:nvSpPr>
        <p:spPr>
          <a:xfrm>
            <a:off x="8046720" y="4023360"/>
            <a:ext cx="3593592" cy="822960"/>
          </a:xfrm>
          <a:prstGeom prst="rect">
            <a:avLst/>
          </a:prstGeom>
          <a:noFill/>
          <a:ln/>
        </p:spPr>
        <p:txBody>
          <a:bodyPr wrap="square" lIns="0" tIns="0" rIns="0" bIns="0" rtlCol="0" anchor="t"/>
          <a:lstStyle/>
          <a:p>
            <a:pPr indent="0" marL="0">
              <a:buNone/>
            </a:pPr>
            <a:r>
              <a:rPr lang="en-US" sz="1500" dirty="0">
                <a:solidFill>
                  <a:schemeClr val="tx2"/>
                </a:solidFill>
              </a:rPr>
              <a:t>of flat weeks recognised correctly — almost all of its skill.</a:t>
            </a:r>
            <a:endParaRPr lang="en-US" sz="1500" dirty="0"/>
          </a:p>
        </p:txBody>
      </p:sp>
      <p:sp>
        <p:nvSpPr>
          <p:cNvPr id="32" name="Text 30"/>
          <p:cNvSpPr txBox="1"/>
          <p:nvPr/>
        </p:nvSpPr>
        <p:spPr>
          <a:xfrm>
            <a:off x="8046720" y="4800600"/>
            <a:ext cx="3593592" cy="1005840"/>
          </a:xfrm>
          <a:prstGeom prst="rect">
            <a:avLst/>
          </a:prstGeom>
          <a:noFill/>
          <a:ln/>
        </p:spPr>
        <p:txBody>
          <a:bodyPr wrap="square" lIns="0" tIns="0" rIns="0" bIns="0" rtlCol="0" anchor="t"/>
          <a:lstStyle/>
          <a:p>
            <a:pPr indent="0" marL="0">
              <a:buNone/>
            </a:pPr>
            <a:r>
              <a:rPr lang="en-US" sz="1500" b="1" dirty="0">
                <a:solidFill>
                  <a:schemeClr val="accent2"/>
                </a:solidFill>
              </a:rPr>
              <a:t>Of 92 real down weeks, it called 39 “up”. Of 198 real up weeks, it called 56 “down”.</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Turning predictions into trades (v1’s rule)</a:t>
            </a:r>
            <a:endParaRPr lang="en-US" sz="3200" dirty="0"/>
          </a:p>
        </p:txBody>
      </p:sp>
      <p:sp>
        <p:nvSpPr>
          <p:cNvPr id="3" name="Shape 1"/>
          <p:cNvSpPr/>
          <p:nvPr/>
        </p:nvSpPr>
        <p:spPr>
          <a:xfrm>
            <a:off x="548640" y="1463040"/>
            <a:ext cx="6400800" cy="868680"/>
          </a:xfrm>
          <a:prstGeom prst="roundRect">
            <a:avLst>
              <a:gd name="adj" fmla="val 10526"/>
            </a:avLst>
          </a:prstGeom>
          <a:solidFill>
            <a:schemeClr val="bg2"/>
          </a:solidFill>
          <a:ln w="12700">
            <a:solidFill>
              <a:schemeClr val="bg2"/>
            </a:solidFill>
            <a:prstDash val="solid"/>
          </a:ln>
        </p:spPr>
      </p:sp>
      <p:sp>
        <p:nvSpPr>
          <p:cNvPr id="4" name="Text 2"/>
          <p:cNvSpPr txBox="1"/>
          <p:nvPr/>
        </p:nvSpPr>
        <p:spPr>
          <a:xfrm>
            <a:off x="777240" y="146304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Up than in Down, by 5+ points</a:t>
            </a:r>
            <a:endParaRPr lang="en-US" sz="1700" dirty="0"/>
          </a:p>
        </p:txBody>
      </p:sp>
      <p:sp>
        <p:nvSpPr>
          <p:cNvPr id="5" name="Shape 3"/>
          <p:cNvSpPr/>
          <p:nvPr/>
        </p:nvSpPr>
        <p:spPr>
          <a:xfrm>
            <a:off x="7086600" y="1737360"/>
            <a:ext cx="411480" cy="329184"/>
          </a:xfrm>
          <a:prstGeom prst="rightArrow">
            <a:avLst/>
          </a:prstGeom>
          <a:solidFill>
            <a:schemeClr val="accent1"/>
          </a:solidFill>
          <a:ln w="12700">
            <a:solidFill>
              <a:schemeClr val="accent1"/>
            </a:solidFill>
            <a:prstDash val="solid"/>
          </a:ln>
        </p:spPr>
      </p:sp>
      <p:sp>
        <p:nvSpPr>
          <p:cNvPr id="6" name="Shape 4"/>
          <p:cNvSpPr/>
          <p:nvPr/>
        </p:nvSpPr>
        <p:spPr>
          <a:xfrm>
            <a:off x="7635240" y="1463040"/>
            <a:ext cx="4005072" cy="868680"/>
          </a:xfrm>
          <a:prstGeom prst="roundRect">
            <a:avLst>
              <a:gd name="adj" fmla="val 10526"/>
            </a:avLst>
          </a:prstGeom>
          <a:solidFill>
            <a:schemeClr val="accent1"/>
          </a:solidFill>
          <a:ln w="12700">
            <a:solidFill>
              <a:schemeClr val="accent1"/>
            </a:solidFill>
            <a:prstDash val="solid"/>
          </a:ln>
        </p:spPr>
      </p:sp>
      <p:sp>
        <p:nvSpPr>
          <p:cNvPr id="7" name="Text 5"/>
          <p:cNvSpPr txBox="1"/>
          <p:nvPr/>
        </p:nvSpPr>
        <p:spPr>
          <a:xfrm>
            <a:off x="7818120" y="146304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Be in the market</a:t>
            </a:r>
            <a:endParaRPr lang="en-US" sz="1900" dirty="0"/>
          </a:p>
        </p:txBody>
      </p:sp>
      <p:sp>
        <p:nvSpPr>
          <p:cNvPr id="8" name="Shape 6"/>
          <p:cNvSpPr/>
          <p:nvPr/>
        </p:nvSpPr>
        <p:spPr>
          <a:xfrm>
            <a:off x="548640" y="2514600"/>
            <a:ext cx="6400800" cy="868680"/>
          </a:xfrm>
          <a:prstGeom prst="roundRect">
            <a:avLst>
              <a:gd name="adj" fmla="val 10526"/>
            </a:avLst>
          </a:prstGeom>
          <a:solidFill>
            <a:schemeClr val="bg2"/>
          </a:solidFill>
          <a:ln w="12700">
            <a:solidFill>
              <a:schemeClr val="bg2"/>
            </a:solidFill>
            <a:prstDash val="solid"/>
          </a:ln>
        </p:spPr>
      </p:sp>
      <p:sp>
        <p:nvSpPr>
          <p:cNvPr id="9" name="Text 7"/>
          <p:cNvSpPr txBox="1"/>
          <p:nvPr/>
        </p:nvSpPr>
        <p:spPr>
          <a:xfrm>
            <a:off x="777240" y="251460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Down than in Up, by 5+ points</a:t>
            </a:r>
            <a:endParaRPr lang="en-US" sz="1700" dirty="0"/>
          </a:p>
        </p:txBody>
      </p:sp>
      <p:sp>
        <p:nvSpPr>
          <p:cNvPr id="10" name="Shape 8"/>
          <p:cNvSpPr/>
          <p:nvPr/>
        </p:nvSpPr>
        <p:spPr>
          <a:xfrm>
            <a:off x="7086600" y="2788920"/>
            <a:ext cx="411480" cy="329184"/>
          </a:xfrm>
          <a:prstGeom prst="rightArrow">
            <a:avLst/>
          </a:prstGeom>
          <a:solidFill>
            <a:schemeClr val="accent2"/>
          </a:solidFill>
          <a:ln w="12700">
            <a:solidFill>
              <a:schemeClr val="accent2"/>
            </a:solidFill>
            <a:prstDash val="solid"/>
          </a:ln>
        </p:spPr>
      </p:sp>
      <p:sp>
        <p:nvSpPr>
          <p:cNvPr id="11" name="Shape 9"/>
          <p:cNvSpPr/>
          <p:nvPr/>
        </p:nvSpPr>
        <p:spPr>
          <a:xfrm>
            <a:off x="7635240" y="2514600"/>
            <a:ext cx="4005072" cy="868680"/>
          </a:xfrm>
          <a:prstGeom prst="roundRect">
            <a:avLst>
              <a:gd name="adj" fmla="val 10526"/>
            </a:avLst>
          </a:prstGeom>
          <a:solidFill>
            <a:schemeClr val="accent2"/>
          </a:solidFill>
          <a:ln w="12700">
            <a:solidFill>
              <a:schemeClr val="accent2"/>
            </a:solidFill>
            <a:prstDash val="solid"/>
          </a:ln>
        </p:spPr>
      </p:sp>
      <p:sp>
        <p:nvSpPr>
          <p:cNvPr id="12" name="Text 10"/>
          <p:cNvSpPr txBox="1"/>
          <p:nvPr/>
        </p:nvSpPr>
        <p:spPr>
          <a:xfrm>
            <a:off x="7818120" y="251460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Move to cash</a:t>
            </a:r>
            <a:endParaRPr lang="en-US" sz="1900" dirty="0"/>
          </a:p>
        </p:txBody>
      </p:sp>
      <p:sp>
        <p:nvSpPr>
          <p:cNvPr id="13" name="Shape 11"/>
          <p:cNvSpPr/>
          <p:nvPr/>
        </p:nvSpPr>
        <p:spPr>
          <a:xfrm>
            <a:off x="548640" y="3566160"/>
            <a:ext cx="6400800" cy="868680"/>
          </a:xfrm>
          <a:prstGeom prst="roundRect">
            <a:avLst>
              <a:gd name="adj" fmla="val 10526"/>
            </a:avLst>
          </a:prstGeom>
          <a:solidFill>
            <a:schemeClr val="bg2"/>
          </a:solidFill>
          <a:ln w="12700">
            <a:solidFill>
              <a:schemeClr val="bg2"/>
            </a:solidFill>
            <a:prstDash val="solid"/>
          </a:ln>
        </p:spPr>
      </p:sp>
      <p:sp>
        <p:nvSpPr>
          <p:cNvPr id="14" name="Text 12"/>
          <p:cNvSpPr txBox="1"/>
          <p:nvPr/>
        </p:nvSpPr>
        <p:spPr>
          <a:xfrm>
            <a:off x="777240" y="3566160"/>
            <a:ext cx="5943600" cy="868680"/>
          </a:xfrm>
          <a:prstGeom prst="rect">
            <a:avLst/>
          </a:prstGeom>
          <a:noFill/>
          <a:ln/>
        </p:spPr>
        <p:txBody>
          <a:bodyPr wrap="square" lIns="0" tIns="0" rIns="0" bIns="0" rtlCol="0" anchor="ctr"/>
          <a:lstStyle/>
          <a:p>
            <a:pPr indent="0" marL="0">
              <a:buNone/>
            </a:pPr>
            <a:r>
              <a:rPr lang="en-US" sz="1700" dirty="0">
                <a:solidFill>
                  <a:schemeClr val="tx1"/>
                </a:solidFill>
              </a:rPr>
              <a:t>Neither</a:t>
            </a:r>
            <a:endParaRPr lang="en-US" sz="1700" dirty="0"/>
          </a:p>
        </p:txBody>
      </p:sp>
      <p:sp>
        <p:nvSpPr>
          <p:cNvPr id="15" name="Shape 13"/>
          <p:cNvSpPr/>
          <p:nvPr/>
        </p:nvSpPr>
        <p:spPr>
          <a:xfrm>
            <a:off x="7086600" y="3840480"/>
            <a:ext cx="411480" cy="329184"/>
          </a:xfrm>
          <a:prstGeom prst="rightArrow">
            <a:avLst/>
          </a:prstGeom>
          <a:solidFill>
            <a:schemeClr val="accent3"/>
          </a:solidFill>
          <a:ln w="12700">
            <a:solidFill>
              <a:schemeClr val="accent3"/>
            </a:solidFill>
            <a:prstDash val="solid"/>
          </a:ln>
        </p:spPr>
      </p:sp>
      <p:sp>
        <p:nvSpPr>
          <p:cNvPr id="16" name="Shape 14"/>
          <p:cNvSpPr/>
          <p:nvPr/>
        </p:nvSpPr>
        <p:spPr>
          <a:xfrm>
            <a:off x="7635240" y="3566160"/>
            <a:ext cx="4005072" cy="868680"/>
          </a:xfrm>
          <a:prstGeom prst="roundRect">
            <a:avLst>
              <a:gd name="adj" fmla="val 10526"/>
            </a:avLst>
          </a:prstGeom>
          <a:solidFill>
            <a:schemeClr val="accent3"/>
          </a:solidFill>
          <a:ln w="12700">
            <a:solidFill>
              <a:schemeClr val="accent3"/>
            </a:solidFill>
            <a:prstDash val="solid"/>
          </a:ln>
        </p:spPr>
      </p:sp>
      <p:sp>
        <p:nvSpPr>
          <p:cNvPr id="17" name="Text 15"/>
          <p:cNvSpPr txBox="1"/>
          <p:nvPr/>
        </p:nvSpPr>
        <p:spPr>
          <a:xfrm>
            <a:off x="7818120" y="356616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Keep doing what you’re doing</a:t>
            </a:r>
            <a:endParaRPr lang="en-US" sz="1900" dirty="0"/>
          </a:p>
        </p:txBody>
      </p:sp>
      <p:sp>
        <p:nvSpPr>
          <p:cNvPr id="18" name="Text 16"/>
          <p:cNvSpPr txBox="1"/>
          <p:nvPr/>
        </p:nvSpPr>
        <p:spPr>
          <a:xfrm>
            <a:off x="548640" y="4709160"/>
            <a:ext cx="11094415" cy="457200"/>
          </a:xfrm>
          <a:prstGeom prst="rect">
            <a:avLst/>
          </a:prstGeom>
          <a:noFill/>
          <a:ln/>
        </p:spPr>
        <p:txBody>
          <a:bodyPr wrap="square" lIns="0" tIns="0" rIns="0" bIns="0" rtlCol="0" anchor="t"/>
          <a:lstStyle/>
          <a:p>
            <a:pPr indent="0" marL="0">
              <a:buNone/>
            </a:pPr>
            <a:r>
              <a:rPr lang="en-US" sz="1600" dirty="0">
                <a:solidFill>
                  <a:schemeClr val="tx1"/>
                </a:solidFill>
              </a:rPr>
              <a:t>Extra rule: after buying, stay in for at least 5 days. All in or all out — never part of the money.</a:t>
            </a:r>
            <a:endParaRPr lang="en-US" sz="1600" dirty="0"/>
          </a:p>
        </p:txBody>
      </p:sp>
      <p:sp>
        <p:nvSpPr>
          <p:cNvPr id="19" name="Text 17"/>
          <p:cNvSpPr txBox="1"/>
          <p:nvPr/>
        </p:nvSpPr>
        <p:spPr>
          <a:xfrm>
            <a:off x="548640" y="5257800"/>
            <a:ext cx="11094415" cy="640080"/>
          </a:xfrm>
          <a:prstGeom prst="rect">
            <a:avLst/>
          </a:prstGeom>
          <a:noFill/>
          <a:ln/>
        </p:spPr>
        <p:txBody>
          <a:bodyPr wrap="square" lIns="0" tIns="0" rIns="0" bIns="0" rtlCol="0" anchor="t"/>
          <a:lstStyle/>
          <a:p>
            <a:pPr indent="0" marL="0">
              <a:buNone/>
            </a:pPr>
            <a:r>
              <a:rPr lang="en-US" sz="1600" b="1" dirty="0">
                <a:solidFill>
                  <a:schemeClr val="accent1"/>
                </a:solidFill>
              </a:rPr>
              <a:t>Warning sign we had in advance: on the practice exam, this rule turned $100,000 into $99,809. Buy &amp; Hold made $104,773.</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Where the $32,832 went</a:t>
            </a:r>
            <a:endParaRPr lang="en-US" sz="3200" dirty="0"/>
          </a:p>
        </p:txBody>
      </p:sp>
      <p:sp>
        <p:nvSpPr>
          <p:cNvPr id="3" name="Shape 1"/>
          <p:cNvSpPr/>
          <p:nvPr/>
        </p:nvSpPr>
        <p:spPr>
          <a:xfrm>
            <a:off x="548640" y="1371600"/>
            <a:ext cx="3593592" cy="2926080"/>
          </a:xfrm>
          <a:prstGeom prst="roundRect">
            <a:avLst>
              <a:gd name="adj" fmla="val 3750"/>
            </a:avLst>
          </a:prstGeom>
          <a:solidFill>
            <a:schemeClr val="bg2"/>
          </a:solidFill>
          <a:ln w="12700">
            <a:solidFill>
              <a:schemeClr val="bg2"/>
            </a:solidFill>
            <a:prstDash val="solid"/>
          </a:ln>
        </p:spPr>
      </p:sp>
      <p:sp>
        <p:nvSpPr>
          <p:cNvPr id="4" name="Text 2"/>
          <p:cNvSpPr txBox="1"/>
          <p:nvPr/>
        </p:nvSpPr>
        <p:spPr>
          <a:xfrm>
            <a:off x="77724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 $15,000</a:t>
            </a:r>
            <a:endParaRPr lang="en-US" sz="3200" dirty="0"/>
          </a:p>
        </p:txBody>
      </p:sp>
      <p:sp>
        <p:nvSpPr>
          <p:cNvPr id="5" name="Text 3"/>
          <p:cNvSpPr txBox="1"/>
          <p:nvPr/>
        </p:nvSpPr>
        <p:spPr>
          <a:xfrm>
            <a:off x="77724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One long pause</a:t>
            </a:r>
            <a:endParaRPr lang="en-US" sz="1900" dirty="0"/>
          </a:p>
        </p:txBody>
      </p:sp>
      <p:sp>
        <p:nvSpPr>
          <p:cNvPr id="6" name="Text 4"/>
          <p:cNvSpPr txBox="1"/>
          <p:nvPr/>
        </p:nvSpPr>
        <p:spPr>
          <a:xfrm>
            <a:off x="77724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Out of the market from December 2023 to April 2024 while it rose about 14%.</a:t>
            </a:r>
            <a:endParaRPr lang="en-US" sz="1500" dirty="0"/>
          </a:p>
        </p:txBody>
      </p:sp>
      <p:sp>
        <p:nvSpPr>
          <p:cNvPr id="7" name="Shape 5"/>
          <p:cNvSpPr/>
          <p:nvPr/>
        </p:nvSpPr>
        <p:spPr>
          <a:xfrm>
            <a:off x="4297680" y="1371600"/>
            <a:ext cx="3593592" cy="2926080"/>
          </a:xfrm>
          <a:prstGeom prst="roundRect">
            <a:avLst>
              <a:gd name="adj" fmla="val 3750"/>
            </a:avLst>
          </a:prstGeom>
          <a:solidFill>
            <a:schemeClr val="bg2"/>
          </a:solidFill>
          <a:ln w="12700">
            <a:solidFill>
              <a:schemeClr val="bg2"/>
            </a:solidFill>
            <a:prstDash val="solid"/>
          </a:ln>
        </p:spPr>
      </p:sp>
      <p:sp>
        <p:nvSpPr>
          <p:cNvPr id="8" name="Text 6"/>
          <p:cNvSpPr txBox="1"/>
          <p:nvPr/>
        </p:nvSpPr>
        <p:spPr>
          <a:xfrm>
            <a:off x="452628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42% of days</a:t>
            </a:r>
            <a:endParaRPr lang="en-US" sz="3200" dirty="0"/>
          </a:p>
        </p:txBody>
      </p:sp>
      <p:sp>
        <p:nvSpPr>
          <p:cNvPr id="9" name="Text 7"/>
          <p:cNvSpPr txBox="1"/>
          <p:nvPr/>
        </p:nvSpPr>
        <p:spPr>
          <a:xfrm>
            <a:off x="452628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Too much time in cash</a:t>
            </a:r>
            <a:endParaRPr lang="en-US" sz="1900" dirty="0"/>
          </a:p>
        </p:txBody>
      </p:sp>
      <p:sp>
        <p:nvSpPr>
          <p:cNvPr id="10" name="Text 8"/>
          <p:cNvSpPr txBox="1"/>
          <p:nvPr/>
        </p:nvSpPr>
        <p:spPr>
          <a:xfrm>
            <a:off x="452628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On days the model sat out, the market rose just as much as on days it was in. Sitting out bought nothing.</a:t>
            </a:r>
            <a:endParaRPr lang="en-US" sz="1500" dirty="0"/>
          </a:p>
        </p:txBody>
      </p:sp>
      <p:sp>
        <p:nvSpPr>
          <p:cNvPr id="11" name="Shape 9"/>
          <p:cNvSpPr/>
          <p:nvPr/>
        </p:nvSpPr>
        <p:spPr>
          <a:xfrm>
            <a:off x="8046720" y="1371600"/>
            <a:ext cx="3593592" cy="2926080"/>
          </a:xfrm>
          <a:prstGeom prst="roundRect">
            <a:avLst>
              <a:gd name="adj" fmla="val 3750"/>
            </a:avLst>
          </a:prstGeom>
          <a:solidFill>
            <a:schemeClr val="bg2"/>
          </a:solidFill>
          <a:ln w="12700">
            <a:solidFill>
              <a:schemeClr val="bg2"/>
            </a:solidFill>
            <a:prstDash val="solid"/>
          </a:ln>
        </p:spPr>
      </p:sp>
      <p:sp>
        <p:nvSpPr>
          <p:cNvPr id="12" name="Text 10"/>
          <p:cNvSpPr txBox="1"/>
          <p:nvPr/>
        </p:nvSpPr>
        <p:spPr>
          <a:xfrm>
            <a:off x="827532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$3,237</a:t>
            </a:r>
            <a:endParaRPr lang="en-US" sz="3200" dirty="0"/>
          </a:p>
        </p:txBody>
      </p:sp>
      <p:sp>
        <p:nvSpPr>
          <p:cNvPr id="13" name="Text 11"/>
          <p:cNvSpPr txBox="1"/>
          <p:nvPr/>
        </p:nvSpPr>
        <p:spPr>
          <a:xfrm>
            <a:off x="827532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Trading costs</a:t>
            </a:r>
            <a:endParaRPr lang="en-US" sz="1900" dirty="0"/>
          </a:p>
        </p:txBody>
      </p:sp>
      <p:sp>
        <p:nvSpPr>
          <p:cNvPr id="14" name="Text 12"/>
          <p:cNvSpPr txBox="1"/>
          <p:nvPr/>
        </p:nvSpPr>
        <p:spPr>
          <a:xfrm>
            <a:off x="827532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15 round trips at about $300 each, against $100 for buying once.</a:t>
            </a:r>
            <a:endParaRPr lang="en-US" sz="1500" dirty="0"/>
          </a:p>
        </p:txBody>
      </p:sp>
      <p:sp>
        <p:nvSpPr>
          <p:cNvPr id="15" name="Shape 13"/>
          <p:cNvSpPr/>
          <p:nvPr/>
        </p:nvSpPr>
        <p:spPr>
          <a:xfrm>
            <a:off x="548640" y="4434840"/>
            <a:ext cx="11094415" cy="1463040"/>
          </a:xfrm>
          <a:prstGeom prst="roundRect">
            <a:avLst>
              <a:gd name="adj" fmla="val 7500"/>
            </a:avLst>
          </a:prstGeom>
          <a:solidFill>
            <a:srgbClr val="FBEDE4"/>
          </a:solidFill>
          <a:ln w="12700">
            <a:solidFill>
              <a:srgbClr val="FBEDE4"/>
            </a:solidFill>
            <a:prstDash val="solid"/>
          </a:ln>
        </p:spPr>
      </p:sp>
      <p:sp>
        <p:nvSpPr>
          <p:cNvPr id="16" name="Text 14"/>
          <p:cNvSpPr txBox="1"/>
          <p:nvPr/>
        </p:nvSpPr>
        <p:spPr>
          <a:xfrm>
            <a:off x="777240" y="466344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Costs were not the main reason</a:t>
            </a:r>
            <a:endParaRPr lang="en-US" sz="1700" dirty="0"/>
          </a:p>
        </p:txBody>
      </p:sp>
      <p:sp>
        <p:nvSpPr>
          <p:cNvPr id="17" name="Text 15"/>
          <p:cNvSpPr txBox="1"/>
          <p:nvPr/>
        </p:nvSpPr>
        <p:spPr>
          <a:xfrm>
            <a:off x="777240" y="5212080"/>
            <a:ext cx="10637215" cy="502920"/>
          </a:xfrm>
          <a:prstGeom prst="rect">
            <a:avLst/>
          </a:prstGeom>
          <a:noFill/>
          <a:ln/>
        </p:spPr>
        <p:txBody>
          <a:bodyPr wrap="square" lIns="0" tIns="0" rIns="0" bIns="0" rtlCol="0" anchor="t"/>
          <a:lstStyle/>
          <a:p>
            <a:pPr indent="0" marL="0">
              <a:buNone/>
            </a:pPr>
            <a:r>
              <a:rPr lang="en-US" sz="1500" dirty="0">
                <a:solidFill>
                  <a:schemeClr val="tx2"/>
                </a:solidFill>
              </a:rPr>
              <a:t>With no broker fees at all, the model would have ended with about $127,500 — still about $29,000 behind Buy &amp; Hold.</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The model could tell how big next week’s move would be — not which way it would go</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It’s like a weather forecaster who can tell you tomorrow will be windy, but not which way the wind will blow — and we asked them to choose our sailing direction.</a:t>
            </a:r>
            <a:endParaRPr lang="en-US" sz="2100" dirty="0"/>
          </a:p>
          <a:p>
            <a:pPr indent="0" marL="0">
              <a:buNone/>
            </a:pPr>
            <a:r>
              <a:rPr lang="en-US" sz="2100" dirty="0">
                <a:solidFill>
                  <a:schemeClr val="bg2"/>
                </a:solidFill>
              </a:rPr>
              <a:t> </a:t>
            </a:r>
            <a:endParaRPr lang="en-US" sz="2100" dirty="0"/>
          </a:p>
          <a:p>
            <a:pPr indent="0" marL="0">
              <a:buNone/>
            </a:pPr>
            <a:r>
              <a:rPr lang="en-US" sz="2100" dirty="0">
                <a:solidFill>
                  <a:schemeClr val="accent4"/>
                </a:solidFill>
              </a:rPr>
              <a:t>v1’s trading rule only used the “which way” part (Up vs Down). The model’s real skill — spotting calm weeks — was never used for a single trade.</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version 2 changes</a:t>
            </a:r>
            <a:endParaRPr lang="en-US" sz="3200" dirty="0"/>
          </a:p>
        </p:txBody>
      </p:sp>
      <p:sp>
        <p:nvSpPr>
          <p:cNvPr id="3" name="Shape 1"/>
          <p:cNvSpPr/>
          <p:nvPr/>
        </p:nvSpPr>
        <p:spPr>
          <a:xfrm>
            <a:off x="548640" y="1371600"/>
            <a:ext cx="11094415" cy="841248"/>
          </a:xfrm>
          <a:prstGeom prst="roundRect">
            <a:avLst>
              <a:gd name="adj" fmla="val 10870"/>
            </a:avLst>
          </a:prstGeom>
          <a:solidFill>
            <a:schemeClr val="bg2"/>
          </a:solidFill>
          <a:ln w="12700">
            <a:solidFill>
              <a:schemeClr val="bg2"/>
            </a:solidFill>
            <a:prstDash val="solid"/>
          </a:ln>
        </p:spPr>
      </p:sp>
      <p:sp>
        <p:nvSpPr>
          <p:cNvPr id="4" name="Shape 2"/>
          <p:cNvSpPr/>
          <p:nvPr/>
        </p:nvSpPr>
        <p:spPr>
          <a:xfrm>
            <a:off x="749808" y="1572768"/>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49808" y="1572768"/>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371600"/>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Use all three predictions</a:t>
            </a:r>
            <a:endParaRPr lang="en-US" sz="1700" dirty="0"/>
          </a:p>
        </p:txBody>
      </p:sp>
      <p:sp>
        <p:nvSpPr>
          <p:cNvPr id="7" name="Text 5"/>
          <p:cNvSpPr txBox="1"/>
          <p:nvPr/>
        </p:nvSpPr>
        <p:spPr>
          <a:xfrm>
            <a:off x="4663440" y="1371600"/>
            <a:ext cx="6751015" cy="841248"/>
          </a:xfrm>
          <a:prstGeom prst="rect">
            <a:avLst/>
          </a:prstGeom>
          <a:noFill/>
          <a:ln/>
        </p:spPr>
        <p:txBody>
          <a:bodyPr wrap="square" lIns="0" tIns="0" rIns="0" bIns="0" rtlCol="0" anchor="ctr"/>
          <a:lstStyle/>
          <a:p>
            <a:pPr indent="0" marL="0">
              <a:buNone/>
            </a:pPr>
            <a:r>
              <a:rPr lang="en-US" sz="1500" dirty="0">
                <a:solidFill>
                  <a:schemeClr val="tx2"/>
                </a:solidFill>
              </a:rPr>
              <a:t>Combine Up, Flat and Down into one expected gain for next week. Trade only if it beats the ~$300 round-trip cost.</a:t>
            </a:r>
            <a:endParaRPr lang="en-US" sz="1500" dirty="0"/>
          </a:p>
        </p:txBody>
      </p:sp>
      <p:sp>
        <p:nvSpPr>
          <p:cNvPr id="8" name="Shape 6"/>
          <p:cNvSpPr/>
          <p:nvPr/>
        </p:nvSpPr>
        <p:spPr>
          <a:xfrm>
            <a:off x="548640" y="2304288"/>
            <a:ext cx="11094415" cy="841248"/>
          </a:xfrm>
          <a:prstGeom prst="roundRect">
            <a:avLst>
              <a:gd name="adj" fmla="val 10870"/>
            </a:avLst>
          </a:prstGeom>
          <a:solidFill>
            <a:schemeClr val="bg2"/>
          </a:solidFill>
          <a:ln w="12700">
            <a:solidFill>
              <a:schemeClr val="bg2"/>
            </a:solidFill>
            <a:prstDash val="solid"/>
          </a:ln>
        </p:spPr>
      </p:sp>
      <p:sp>
        <p:nvSpPr>
          <p:cNvPr id="9" name="Shape 7"/>
          <p:cNvSpPr/>
          <p:nvPr/>
        </p:nvSpPr>
        <p:spPr>
          <a:xfrm>
            <a:off x="749808" y="2505456"/>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749808" y="2505456"/>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1371600" y="2304288"/>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two default habits</a:t>
            </a:r>
            <a:endParaRPr lang="en-US" sz="1700" dirty="0"/>
          </a:p>
        </p:txBody>
      </p:sp>
      <p:sp>
        <p:nvSpPr>
          <p:cNvPr id="12" name="Text 10"/>
          <p:cNvSpPr txBox="1"/>
          <p:nvPr/>
        </p:nvSpPr>
        <p:spPr>
          <a:xfrm>
            <a:off x="4663440" y="2304288"/>
            <a:ext cx="6751015" cy="841248"/>
          </a:xfrm>
          <a:prstGeom prst="rect">
            <a:avLst/>
          </a:prstGeom>
          <a:noFill/>
          <a:ln/>
        </p:spPr>
        <p:txBody>
          <a:bodyPr wrap="square" lIns="0" tIns="0" rIns="0" bIns="0" rtlCol="0" anchor="ctr"/>
          <a:lstStyle/>
          <a:p>
            <a:pPr indent="0" marL="0">
              <a:buNone/>
            </a:pPr>
            <a:r>
              <a:rPr lang="en-US" sz="1500" dirty="0">
                <a:solidFill>
                  <a:schemeClr val="tx2"/>
                </a:solidFill>
              </a:rPr>
              <a:t>“Stay invested, step out only on strong warnings” vs “stay in cash, step in on strong signals”. The practice exam picks.</a:t>
            </a:r>
            <a:endParaRPr lang="en-US" sz="1500" dirty="0"/>
          </a:p>
        </p:txBody>
      </p:sp>
      <p:sp>
        <p:nvSpPr>
          <p:cNvPr id="13" name="Shape 11"/>
          <p:cNvSpPr/>
          <p:nvPr/>
        </p:nvSpPr>
        <p:spPr>
          <a:xfrm>
            <a:off x="548640" y="3236976"/>
            <a:ext cx="11094415" cy="841248"/>
          </a:xfrm>
          <a:prstGeom prst="roundRect">
            <a:avLst>
              <a:gd name="adj" fmla="val 10870"/>
            </a:avLst>
          </a:prstGeom>
          <a:solidFill>
            <a:schemeClr val="bg2"/>
          </a:solidFill>
          <a:ln w="12700">
            <a:solidFill>
              <a:schemeClr val="bg2"/>
            </a:solidFill>
            <a:prstDash val="solid"/>
          </a:ln>
        </p:spPr>
      </p:sp>
      <p:sp>
        <p:nvSpPr>
          <p:cNvPr id="14" name="Shape 12"/>
          <p:cNvSpPr/>
          <p:nvPr/>
        </p:nvSpPr>
        <p:spPr>
          <a:xfrm>
            <a:off x="749808" y="3438144"/>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49808" y="3438144"/>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236976"/>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Measure what we can trade</a:t>
            </a:r>
            <a:endParaRPr lang="en-US" sz="1700" dirty="0"/>
          </a:p>
        </p:txBody>
      </p:sp>
      <p:sp>
        <p:nvSpPr>
          <p:cNvPr id="17" name="Text 15"/>
          <p:cNvSpPr txBox="1"/>
          <p:nvPr/>
        </p:nvSpPr>
        <p:spPr>
          <a:xfrm>
            <a:off x="4663440" y="3236976"/>
            <a:ext cx="6751015" cy="841248"/>
          </a:xfrm>
          <a:prstGeom prst="rect">
            <a:avLst/>
          </a:prstGeom>
          <a:noFill/>
          <a:ln/>
        </p:spPr>
        <p:txBody>
          <a:bodyPr wrap="square" lIns="0" tIns="0" rIns="0" bIns="0" rtlCol="0" anchor="ctr"/>
          <a:lstStyle/>
          <a:p>
            <a:pPr indent="0" marL="0">
              <a:buNone/>
            </a:pPr>
            <a:r>
              <a:rPr lang="en-US" sz="1500" dirty="0">
                <a:solidFill>
                  <a:schemeClr val="tx2"/>
                </a:solidFill>
              </a:rPr>
              <a:t>Predict from next morning’s price, when the trade actually happens, not today’s close.</a:t>
            </a:r>
            <a:endParaRPr lang="en-US" sz="1500" dirty="0"/>
          </a:p>
        </p:txBody>
      </p:sp>
      <p:sp>
        <p:nvSpPr>
          <p:cNvPr id="18" name="Shape 16"/>
          <p:cNvSpPr/>
          <p:nvPr/>
        </p:nvSpPr>
        <p:spPr>
          <a:xfrm>
            <a:off x="548640" y="4169664"/>
            <a:ext cx="11094415" cy="841248"/>
          </a:xfrm>
          <a:prstGeom prst="roundRect">
            <a:avLst>
              <a:gd name="adj" fmla="val 10870"/>
            </a:avLst>
          </a:prstGeom>
          <a:solidFill>
            <a:schemeClr val="bg2"/>
          </a:solidFill>
          <a:ln w="12700">
            <a:solidFill>
              <a:schemeClr val="bg2"/>
            </a:solidFill>
            <a:prstDash val="solid"/>
          </a:ln>
        </p:spPr>
      </p:sp>
      <p:sp>
        <p:nvSpPr>
          <p:cNvPr id="19" name="Shape 17"/>
          <p:cNvSpPr/>
          <p:nvPr/>
        </p:nvSpPr>
        <p:spPr>
          <a:xfrm>
            <a:off x="749808" y="4370832"/>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749808" y="4370832"/>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371600" y="4169664"/>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Choose by money, not score</a:t>
            </a:r>
            <a:endParaRPr lang="en-US" sz="1700" dirty="0"/>
          </a:p>
        </p:txBody>
      </p:sp>
      <p:sp>
        <p:nvSpPr>
          <p:cNvPr id="22" name="Text 20"/>
          <p:cNvSpPr txBox="1"/>
          <p:nvPr/>
        </p:nvSpPr>
        <p:spPr>
          <a:xfrm>
            <a:off x="4663440" y="4169664"/>
            <a:ext cx="6751015" cy="841248"/>
          </a:xfrm>
          <a:prstGeom prst="rect">
            <a:avLst/>
          </a:prstGeom>
          <a:noFill/>
          <a:ln/>
        </p:spPr>
        <p:txBody>
          <a:bodyPr wrap="square" lIns="0" tIns="0" rIns="0" bIns="0" rtlCol="0" anchor="ctr"/>
          <a:lstStyle/>
          <a:p>
            <a:pPr indent="0" marL="0">
              <a:buNone/>
            </a:pPr>
            <a:r>
              <a:rPr lang="en-US" sz="1500" dirty="0">
                <a:solidFill>
                  <a:schemeClr val="tx2"/>
                </a:solidFill>
              </a:rPr>
              <a:t>Pick the model and the rule together, by money made on the practice exam after costs.</a:t>
            </a:r>
            <a:endParaRPr lang="en-US" sz="1500" dirty="0"/>
          </a:p>
        </p:txBody>
      </p:sp>
      <p:sp>
        <p:nvSpPr>
          <p:cNvPr id="23" name="Shape 21"/>
          <p:cNvSpPr/>
          <p:nvPr/>
        </p:nvSpPr>
        <p:spPr>
          <a:xfrm>
            <a:off x="548640" y="5102352"/>
            <a:ext cx="11094415" cy="841248"/>
          </a:xfrm>
          <a:prstGeom prst="roundRect">
            <a:avLst>
              <a:gd name="adj" fmla="val 10870"/>
            </a:avLst>
          </a:prstGeom>
          <a:solidFill>
            <a:schemeClr val="bg2"/>
          </a:solidFill>
          <a:ln w="12700">
            <a:solidFill>
              <a:schemeClr val="bg2"/>
            </a:solidFill>
            <a:prstDash val="solid"/>
          </a:ln>
        </p:spPr>
      </p:sp>
      <p:sp>
        <p:nvSpPr>
          <p:cNvPr id="24" name="Shape 22"/>
          <p:cNvSpPr/>
          <p:nvPr/>
        </p:nvSpPr>
        <p:spPr>
          <a:xfrm>
            <a:off x="749808" y="5303520"/>
            <a:ext cx="438912" cy="438912"/>
          </a:xfrm>
          <a:prstGeom prst="ellipse">
            <a:avLst/>
          </a:prstGeom>
          <a:solidFill>
            <a:schemeClr val="accent1"/>
          </a:solidFill>
          <a:ln w="12700">
            <a:solidFill>
              <a:schemeClr val="accent1"/>
            </a:solidFill>
            <a:prstDash val="solid"/>
          </a:ln>
        </p:spPr>
      </p:sp>
      <p:sp>
        <p:nvSpPr>
          <p:cNvPr id="25" name="Text 23"/>
          <p:cNvSpPr txBox="1"/>
          <p:nvPr/>
        </p:nvSpPr>
        <p:spPr>
          <a:xfrm>
            <a:off x="749808" y="53035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371600" y="5102352"/>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on 12 years, not 2</a:t>
            </a:r>
            <a:endParaRPr lang="en-US" sz="1700" dirty="0"/>
          </a:p>
        </p:txBody>
      </p:sp>
      <p:sp>
        <p:nvSpPr>
          <p:cNvPr id="27" name="Text 25"/>
          <p:cNvSpPr txBox="1"/>
          <p:nvPr/>
        </p:nvSpPr>
        <p:spPr>
          <a:xfrm>
            <a:off x="4663440" y="5102352"/>
            <a:ext cx="6751015" cy="841248"/>
          </a:xfrm>
          <a:prstGeom prst="rect">
            <a:avLst/>
          </a:prstGeom>
          <a:noFill/>
          <a:ln/>
        </p:spPr>
        <p:txBody>
          <a:bodyPr wrap="square" lIns="0" tIns="0" rIns="0" bIns="0" rtlCol="0" anchor="ctr"/>
          <a:lstStyle/>
          <a:p>
            <a:pPr indent="0" marL="0">
              <a:buNone/>
            </a:pPr>
            <a:r>
              <a:rPr lang="en-US" sz="1500" dirty="0">
                <a:solidFill>
                  <a:schemeClr val="tx2"/>
                </a:solidFill>
              </a:rPr>
              <a:t>Re-train each year and test 2013–2024 one year at a time, plus the same final exam.</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we’ll know if it really works</a:t>
            </a:r>
            <a:endParaRPr lang="en-US" sz="3200" dirty="0"/>
          </a:p>
        </p:txBody>
      </p:sp>
      <p:sp>
        <p:nvSpPr>
          <p:cNvPr id="3" name="Shape 1"/>
          <p:cNvSpPr/>
          <p:nvPr/>
        </p:nvSpPr>
        <p:spPr>
          <a:xfrm>
            <a:off x="548640" y="1371600"/>
            <a:ext cx="5852160" cy="4526280"/>
          </a:xfrm>
          <a:prstGeom prst="roundRect">
            <a:avLst>
              <a:gd name="adj" fmla="val 2424"/>
            </a:avLst>
          </a:prstGeom>
          <a:solidFill>
            <a:srgbClr val="FBEDE4"/>
          </a:solidFill>
          <a:ln w="12700">
            <a:solidFill>
              <a:srgbClr val="FBEDE4"/>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480060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1,000 random “coin-flip” traders</a:t>
            </a:r>
            <a:endParaRPr lang="en-US" sz="2000" dirty="0"/>
          </a:p>
        </p:txBody>
      </p:sp>
      <p:sp>
        <p:nvSpPr>
          <p:cNvPr id="7" name="Text 5"/>
          <p:cNvSpPr txBox="1"/>
          <p:nvPr/>
        </p:nvSpPr>
        <p:spPr>
          <a:xfrm>
            <a:off x="777240" y="2148840"/>
            <a:ext cx="5394960" cy="3566160"/>
          </a:xfrm>
          <a:prstGeom prst="rect">
            <a:avLst/>
          </a:prstGeom>
          <a:noFill/>
          <a:ln/>
        </p:spPr>
        <p:txBody>
          <a:bodyPr wrap="square" lIns="0" tIns="0" rIns="0" bIns="0" rtlCol="0" anchor="t"/>
          <a:lstStyle/>
          <a:p>
            <a:pPr indent="0" marL="0">
              <a:buNone/>
            </a:pPr>
            <a:r>
              <a:rPr lang="en-US" sz="1700" dirty="0">
                <a:solidFill>
                  <a:schemeClr val="tx2"/>
                </a:solidFill>
              </a:rPr>
              <a:t>We create 1,000 fake traders who are in the market for the same number of days as our model, but on random days.</a:t>
            </a:r>
            <a:endParaRPr lang="en-US" sz="1700" dirty="0"/>
          </a:p>
          <a:p>
            <a:pPr indent="0" marL="0">
              <a:buNone/>
            </a:pPr>
            <a:endParaRPr lang="en-US" sz="1700" dirty="0"/>
          </a:p>
          <a:p>
            <a:pPr indent="0" marL="0">
              <a:buNone/>
            </a:pPr>
            <a:r>
              <a:rPr lang="en-US" sz="1700" dirty="0">
                <a:solidFill>
                  <a:schemeClr val="tx2"/>
                </a:solidFill>
              </a:rPr>
              <a:t>If our model doesn’t end with more money than at least 950 of them, its timing is no better than luck — whatever its final dollar amount.</a:t>
            </a:r>
            <a:endParaRPr lang="en-US" sz="1700" dirty="0"/>
          </a:p>
        </p:txBody>
      </p:sp>
      <p:sp>
        <p:nvSpPr>
          <p:cNvPr id="8" name="Shape 6"/>
          <p:cNvSpPr/>
          <p:nvPr/>
        </p:nvSpPr>
        <p:spPr>
          <a:xfrm>
            <a:off x="6583680" y="1371600"/>
            <a:ext cx="5056632" cy="1417320"/>
          </a:xfrm>
          <a:prstGeom prst="roundRect">
            <a:avLst>
              <a:gd name="adj" fmla="val 7742"/>
            </a:avLst>
          </a:prstGeom>
          <a:solidFill>
            <a:schemeClr val="bg2"/>
          </a:solidFill>
          <a:ln w="12700">
            <a:solidFill>
              <a:schemeClr val="bg2"/>
            </a:solidFill>
            <a:prstDash val="solid"/>
          </a:ln>
        </p:spPr>
      </p:sp>
      <p:sp>
        <p:nvSpPr>
          <p:cNvPr id="9" name="Shape 7"/>
          <p:cNvSpPr/>
          <p:nvPr/>
        </p:nvSpPr>
        <p:spPr>
          <a:xfrm>
            <a:off x="6812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812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406640" y="160020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Cash earns interest</a:t>
            </a:r>
            <a:endParaRPr lang="en-US" sz="1700" dirty="0"/>
          </a:p>
        </p:txBody>
      </p:sp>
      <p:sp>
        <p:nvSpPr>
          <p:cNvPr id="12" name="Text 10"/>
          <p:cNvSpPr txBox="1"/>
          <p:nvPr/>
        </p:nvSpPr>
        <p:spPr>
          <a:xfrm>
            <a:off x="6812280" y="2148840"/>
            <a:ext cx="4599432" cy="457200"/>
          </a:xfrm>
          <a:prstGeom prst="rect">
            <a:avLst/>
          </a:prstGeom>
          <a:noFill/>
          <a:ln/>
        </p:spPr>
        <p:txBody>
          <a:bodyPr wrap="square" lIns="0" tIns="0" rIns="0" bIns="0" rtlCol="0" anchor="t"/>
          <a:lstStyle/>
          <a:p>
            <a:pPr indent="0" marL="0">
              <a:buNone/>
            </a:pPr>
            <a:r>
              <a:rPr lang="en-US" sz="1400" dirty="0">
                <a:solidFill>
                  <a:schemeClr val="tx2"/>
                </a:solidFill>
              </a:rPr>
              <a:t>In 2023–24, cash in Treasury bills earned about 5% a year. v1 assumed 0%.</a:t>
            </a:r>
            <a:endParaRPr lang="en-US" sz="1400" dirty="0"/>
          </a:p>
        </p:txBody>
      </p:sp>
      <p:sp>
        <p:nvSpPr>
          <p:cNvPr id="13" name="Shape 11"/>
          <p:cNvSpPr/>
          <p:nvPr/>
        </p:nvSpPr>
        <p:spPr>
          <a:xfrm>
            <a:off x="6583680" y="2926080"/>
            <a:ext cx="5056632" cy="1417320"/>
          </a:xfrm>
          <a:prstGeom prst="roundRect">
            <a:avLst>
              <a:gd name="adj" fmla="val 7742"/>
            </a:avLst>
          </a:prstGeom>
          <a:solidFill>
            <a:schemeClr val="bg2"/>
          </a:solidFill>
          <a:ln w="12700">
            <a:solidFill>
              <a:schemeClr val="bg2"/>
            </a:solidFill>
            <a:prstDash val="solid"/>
          </a:ln>
        </p:spPr>
      </p:sp>
      <p:sp>
        <p:nvSpPr>
          <p:cNvPr id="14" name="Shape 12"/>
          <p:cNvSpPr/>
          <p:nvPr/>
        </p:nvSpPr>
        <p:spPr>
          <a:xfrm>
            <a:off x="6812280" y="315468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6812280" y="31546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7406640" y="315468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Error bars, not single numbers</a:t>
            </a:r>
            <a:endParaRPr lang="en-US" sz="1700" dirty="0"/>
          </a:p>
        </p:txBody>
      </p:sp>
      <p:sp>
        <p:nvSpPr>
          <p:cNvPr id="17" name="Text 15"/>
          <p:cNvSpPr txBox="1"/>
          <p:nvPr/>
        </p:nvSpPr>
        <p:spPr>
          <a:xfrm>
            <a:off x="6812280" y="3703320"/>
            <a:ext cx="4599432" cy="457200"/>
          </a:xfrm>
          <a:prstGeom prst="rect">
            <a:avLst/>
          </a:prstGeom>
          <a:noFill/>
          <a:ln/>
        </p:spPr>
        <p:txBody>
          <a:bodyPr wrap="square" lIns="0" tIns="0" rIns="0" bIns="0" rtlCol="0" anchor="t"/>
          <a:lstStyle/>
          <a:p>
            <a:pPr indent="0" marL="0">
              <a:buNone/>
            </a:pPr>
            <a:r>
              <a:rPr lang="en-US" sz="1400" dirty="0">
                <a:solidFill>
                  <a:schemeClr val="tx2"/>
                </a:solidFill>
              </a:rPr>
              <a:t>Re-run the results on shuffled blocks of weeks to see how much they could vary by chance.</a:t>
            </a:r>
            <a:endParaRPr lang="en-US" sz="1400" dirty="0"/>
          </a:p>
        </p:txBody>
      </p:sp>
      <p:sp>
        <p:nvSpPr>
          <p:cNvPr id="18" name="Shape 16"/>
          <p:cNvSpPr/>
          <p:nvPr/>
        </p:nvSpPr>
        <p:spPr>
          <a:xfrm>
            <a:off x="6583680" y="4480560"/>
            <a:ext cx="5056632" cy="1417320"/>
          </a:xfrm>
          <a:prstGeom prst="roundRect">
            <a:avLst>
              <a:gd name="adj" fmla="val 7742"/>
            </a:avLst>
          </a:prstGeom>
          <a:solidFill>
            <a:schemeClr val="bg2"/>
          </a:solidFill>
          <a:ln w="12700">
            <a:solidFill>
              <a:schemeClr val="bg2"/>
            </a:solidFill>
            <a:prstDash val="solid"/>
          </a:ln>
        </p:spPr>
      </p:sp>
      <p:sp>
        <p:nvSpPr>
          <p:cNvPr id="19" name="Shape 17"/>
          <p:cNvSpPr/>
          <p:nvPr/>
        </p:nvSpPr>
        <p:spPr>
          <a:xfrm>
            <a:off x="6812280" y="470916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812280" y="47091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406640" y="470916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Trade-by-trade receipt</a:t>
            </a:r>
            <a:endParaRPr lang="en-US" sz="1700" dirty="0"/>
          </a:p>
        </p:txBody>
      </p:sp>
      <p:sp>
        <p:nvSpPr>
          <p:cNvPr id="22" name="Text 20"/>
          <p:cNvSpPr txBox="1"/>
          <p:nvPr/>
        </p:nvSpPr>
        <p:spPr>
          <a:xfrm>
            <a:off x="6812280" y="5257800"/>
            <a:ext cx="4599432" cy="457200"/>
          </a:xfrm>
          <a:prstGeom prst="rect">
            <a:avLst/>
          </a:prstGeom>
          <a:noFill/>
          <a:ln/>
        </p:spPr>
        <p:txBody>
          <a:bodyPr wrap="square" lIns="0" tIns="0" rIns="0" bIns="0" rtlCol="0" anchor="t"/>
          <a:lstStyle/>
          <a:p>
            <a:pPr indent="0" marL="0">
              <a:buNone/>
            </a:pPr>
            <a:r>
              <a:rPr lang="en-US" sz="1400" dirty="0">
                <a:solidFill>
                  <a:schemeClr val="tx2"/>
                </a:solidFill>
              </a:rPr>
              <a:t>For every exit: how much did the market move while we were out, in dollars?</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2 results: $100,000, 2023–2024</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017520"/>
                <a:gridCol w="1600200"/>
                <a:gridCol w="1325880"/>
                <a:gridCol w="1280160"/>
              </a:tblGrid>
              <a:tr h="566928">
                <a:tc>
                  <a:txBody>
                    <a:bodyPr/>
                    <a:lstStyle/>
                    <a:p>
                      <a:pPr indent="0" marL="0">
                        <a:buNone/>
                      </a:pPr>
                      <a:r>
                        <a:rPr lang="en-US" sz="1500" b="1" dirty="0">
                          <a:solidFill>
                            <a:schemeClr val="bg1"/>
                          </a:solidFill>
                        </a:rPr>
                        <a:t>Strategy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$100,000 became</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Profit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Time in the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2"/>
                          </a:solidFill>
                        </a:rPr>
                        <a:t>Buy &amp; Hold</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1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58%</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2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Typical random trader (v2’s time in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Shape 1"/>
          <p:cNvSpPr/>
          <p:nvPr/>
        </p:nvSpPr>
        <p:spPr>
          <a:xfrm>
            <a:off x="8001000" y="1371600"/>
            <a:ext cx="3639312" cy="2834640"/>
          </a:xfrm>
          <a:prstGeom prst="roundRect">
            <a:avLst>
              <a:gd name="adj" fmla="val 3871"/>
            </a:avLst>
          </a:prstGeom>
          <a:solidFill>
            <a:srgbClr val="FBEDE4"/>
          </a:solidFill>
          <a:ln w="12700">
            <a:solidFill>
              <a:srgbClr val="FBEDE4"/>
            </a:solidFill>
            <a:prstDash val="solid"/>
          </a:ln>
        </p:spPr>
      </p:sp>
      <p:sp>
        <p:nvSpPr>
          <p:cNvPr id="5" name="Text 2"/>
          <p:cNvSpPr txBox="1"/>
          <p:nvPr/>
        </p:nvSpPr>
        <p:spPr>
          <a:xfrm>
            <a:off x="8183880" y="1508760"/>
            <a:ext cx="3291840" cy="1005840"/>
          </a:xfrm>
          <a:prstGeom prst="rect">
            <a:avLst/>
          </a:prstGeom>
          <a:noFill/>
          <a:ln/>
        </p:spPr>
        <p:txBody>
          <a:bodyPr wrap="square" lIns="0" tIns="0" rIns="0" bIns="0" rtlCol="0" anchor="b"/>
          <a:lstStyle/>
          <a:p>
            <a:pPr indent="0" marL="0">
              <a:buNone/>
            </a:pPr>
            <a:r>
              <a:rPr lang="en-US" sz="6000" b="1" dirty="0">
                <a:solidFill>
                  <a:schemeClr val="accent1"/>
                </a:solidFill>
                <a:latin typeface="Cambria" pitchFamily="34" charset="0"/>
                <a:ea typeface="Cambria" pitchFamily="34" charset="-122"/>
                <a:cs typeface="Cambria" pitchFamily="34" charset="-120"/>
              </a:rPr>
              <a:t>264</a:t>
            </a:r>
            <a:endParaRPr lang="en-US" sz="6000" dirty="0"/>
          </a:p>
        </p:txBody>
      </p:sp>
      <p:sp>
        <p:nvSpPr>
          <p:cNvPr id="6" name="Text 3"/>
          <p:cNvSpPr txBox="1"/>
          <p:nvPr/>
        </p:nvSpPr>
        <p:spPr>
          <a:xfrm>
            <a:off x="8183880" y="2606040"/>
            <a:ext cx="3291840" cy="1371600"/>
          </a:xfrm>
          <a:prstGeom prst="rect">
            <a:avLst/>
          </a:prstGeom>
          <a:noFill/>
          <a:ln/>
        </p:spPr>
        <p:txBody>
          <a:bodyPr wrap="square" lIns="0" tIns="0" rIns="0" bIns="0" rtlCol="0" anchor="t"/>
          <a:lstStyle/>
          <a:p>
            <a:pPr indent="0" marL="0">
              <a:buNone/>
            </a:pPr>
            <a:r>
              <a:rPr lang="en-US" sz="1600" dirty="0">
                <a:solidFill>
                  <a:schemeClr val="tx1"/>
                </a:solidFill>
              </a:rPr>
              <a:t>of 1,000 random traders beaten by version 2. To show real skill it needed at least 950.</a:t>
            </a:r>
            <a:endParaRPr lang="en-US" sz="1600" dirty="0"/>
          </a:p>
        </p:txBody>
      </p:sp>
      <p:sp>
        <p:nvSpPr>
          <p:cNvPr id="7" name="Shape 4"/>
          <p:cNvSpPr/>
          <p:nvPr/>
        </p:nvSpPr>
        <p:spPr>
          <a:xfrm>
            <a:off x="548640" y="4389120"/>
            <a:ext cx="11094415" cy="1536192"/>
          </a:xfrm>
          <a:prstGeom prst="roundRect">
            <a:avLst>
              <a:gd name="adj" fmla="val 7143"/>
            </a:avLst>
          </a:prstGeom>
          <a:solidFill>
            <a:schemeClr val="bg2"/>
          </a:solidFill>
          <a:ln w="12700">
            <a:solidFill>
              <a:schemeClr val="bg2"/>
            </a:solidFill>
            <a:prstDash val="solid"/>
          </a:ln>
        </p:spPr>
      </p:sp>
      <p:sp>
        <p:nvSpPr>
          <p:cNvPr id="8" name="Text 5"/>
          <p:cNvSpPr txBox="1"/>
          <p:nvPr/>
        </p:nvSpPr>
        <p:spPr>
          <a:xfrm>
            <a:off x="777240" y="461772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 also lost — and now we can prove it wasn’t bad luck</a:t>
            </a:r>
            <a:endParaRPr lang="en-US" sz="1700" dirty="0"/>
          </a:p>
        </p:txBody>
      </p:sp>
      <p:sp>
        <p:nvSpPr>
          <p:cNvPr id="9" name="Text 6"/>
          <p:cNvSpPr txBox="1"/>
          <p:nvPr/>
        </p:nvSpPr>
        <p:spPr>
          <a:xfrm>
            <a:off x="777240" y="5166360"/>
            <a:ext cx="10637215" cy="576072"/>
          </a:xfrm>
          <a:prstGeom prst="rect">
            <a:avLst/>
          </a:prstGeom>
          <a:noFill/>
          <a:ln/>
        </p:spPr>
        <p:txBody>
          <a:bodyPr wrap="square" lIns="0" tIns="0" rIns="0" bIns="0" rtlCol="0" anchor="t"/>
          <a:lstStyle/>
          <a:p>
            <a:pPr indent="0" marL="0">
              <a:buNone/>
            </a:pPr>
            <a:r>
              <a:rPr lang="en-US" sz="1500" dirty="0">
                <a:solidFill>
                  <a:schemeClr val="tx2"/>
                </a:solidFill>
              </a:rPr>
              <a:t>Its timing was worse than most random traders who spent the same time in the market. Version 1’s problem was fixed, but there was no direction skill underneath to use.</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Twelve years, one year at a time</a:t>
            </a:r>
            <a:endParaRPr lang="en-US" sz="3200" dirty="0"/>
          </a:p>
        </p:txBody>
      </p:sp>
      <p:graphicFrame>
        <p:nvGraphicFramePr>
          <p:cNvPr id="3"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321040" y="1371600"/>
            <a:ext cx="3319272" cy="9144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$179,977</a:t>
            </a:r>
            <a:endParaRPr lang="en-US" sz="4000" dirty="0"/>
          </a:p>
        </p:txBody>
      </p:sp>
      <p:sp>
        <p:nvSpPr>
          <p:cNvPr id="5" name="Text 2"/>
          <p:cNvSpPr txBox="1"/>
          <p:nvPr/>
        </p:nvSpPr>
        <p:spPr>
          <a:xfrm>
            <a:off x="8321040" y="237744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version 2, 2013–2024</a:t>
            </a:r>
            <a:endParaRPr lang="en-US" sz="1500" dirty="0"/>
          </a:p>
        </p:txBody>
      </p:sp>
      <p:sp>
        <p:nvSpPr>
          <p:cNvPr id="6" name="Text 3"/>
          <p:cNvSpPr txBox="1"/>
          <p:nvPr/>
        </p:nvSpPr>
        <p:spPr>
          <a:xfrm>
            <a:off x="8321040" y="2926080"/>
            <a:ext cx="3319272" cy="914400"/>
          </a:xfrm>
          <a:prstGeom prst="rect">
            <a:avLst/>
          </a:prstGeom>
          <a:noFill/>
          <a:ln/>
        </p:spPr>
        <p:txBody>
          <a:bodyPr wrap="square" lIns="0" tIns="0" rIns="0" bIns="0" rtlCol="0" anchor="b"/>
          <a:lstStyle/>
          <a:p>
            <a:pPr indent="0" marL="0">
              <a:buNone/>
            </a:pPr>
            <a:r>
              <a:rPr lang="en-US" sz="4000" b="1" dirty="0">
                <a:solidFill>
                  <a:schemeClr val="tx1"/>
                </a:solidFill>
                <a:latin typeface="Cambria" pitchFamily="34" charset="0"/>
                <a:ea typeface="Cambria" pitchFamily="34" charset="-122"/>
                <a:cs typeface="Cambria" pitchFamily="34" charset="-120"/>
              </a:rPr>
              <a:t>$499,271</a:t>
            </a:r>
            <a:endParaRPr lang="en-US" sz="4000" dirty="0"/>
          </a:p>
        </p:txBody>
      </p:sp>
      <p:sp>
        <p:nvSpPr>
          <p:cNvPr id="7" name="Text 4"/>
          <p:cNvSpPr txBox="1"/>
          <p:nvPr/>
        </p:nvSpPr>
        <p:spPr>
          <a:xfrm>
            <a:off x="8321040" y="393192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Buy &amp; Hold, same 12 years</a:t>
            </a:r>
            <a:endParaRPr lang="en-US" sz="1500" dirty="0"/>
          </a:p>
        </p:txBody>
      </p:sp>
      <p:sp>
        <p:nvSpPr>
          <p:cNvPr id="8" name="Text 5"/>
          <p:cNvSpPr txBox="1"/>
          <p:nvPr/>
        </p:nvSpPr>
        <p:spPr>
          <a:xfrm>
            <a:off x="8321040" y="4572000"/>
            <a:ext cx="3319272" cy="1280160"/>
          </a:xfrm>
          <a:prstGeom prst="rect">
            <a:avLst/>
          </a:prstGeom>
          <a:noFill/>
          <a:ln/>
        </p:spPr>
        <p:txBody>
          <a:bodyPr wrap="square" lIns="0" tIns="0" rIns="0" bIns="0" rtlCol="0" anchor="t"/>
          <a:lstStyle/>
          <a:p>
            <a:pPr indent="0" marL="0">
              <a:buNone/>
            </a:pPr>
            <a:r>
              <a:rPr lang="en-US" sz="1500" dirty="0">
                <a:solidFill>
                  <a:schemeClr val="tx1"/>
                </a:solidFill>
              </a:rPr>
              <a:t>Ahead in only 2 of 12 years: 2016 and the 2022 downturn. Its worst fall was smaller (−22% vs −34%).</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Why version 2 still lost</a:t>
            </a:r>
            <a:endParaRPr lang="en-US" sz="3200" dirty="0"/>
          </a:p>
        </p:txBody>
      </p:sp>
      <p:sp>
        <p:nvSpPr>
          <p:cNvPr id="3" name="Shape 1"/>
          <p:cNvSpPr/>
          <p:nvPr/>
        </p:nvSpPr>
        <p:spPr>
          <a:xfrm>
            <a:off x="548640" y="1371600"/>
            <a:ext cx="3593592" cy="4526280"/>
          </a:xfrm>
          <a:prstGeom prst="roundRect">
            <a:avLst>
              <a:gd name="adj" fmla="val 3053"/>
            </a:avLst>
          </a:prstGeom>
          <a:solidFill>
            <a:schemeClr val="bg2"/>
          </a:solidFill>
          <a:ln w="12700">
            <a:solidFill>
              <a:schemeClr val="bg2"/>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 still stepped out too often</a:t>
            </a:r>
            <a:endParaRPr lang="en-US" sz="1800" dirty="0"/>
          </a:p>
        </p:txBody>
      </p:sp>
      <p:sp>
        <p:nvSpPr>
          <p:cNvPr id="7" name="Text 5"/>
          <p:cNvSpPr txBox="1"/>
          <p:nvPr/>
        </p:nvSpPr>
        <p:spPr>
          <a:xfrm>
            <a:off x="77724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Even the “stay invested” version was in the market only 53% of the time. It made 17 round trips and paid $3,754 in costs.</a:t>
            </a:r>
            <a:endParaRPr lang="en-US" sz="1600" dirty="0"/>
          </a:p>
        </p:txBody>
      </p:sp>
      <p:sp>
        <p:nvSpPr>
          <p:cNvPr id="8" name="Shape 6"/>
          <p:cNvSpPr/>
          <p:nvPr/>
        </p:nvSpPr>
        <p:spPr>
          <a:xfrm>
            <a:off x="4297680" y="1371600"/>
            <a:ext cx="3593592" cy="4526280"/>
          </a:xfrm>
          <a:prstGeom prst="roundRect">
            <a:avLst>
              <a:gd name="adj" fmla="val 3053"/>
            </a:avLst>
          </a:prstGeom>
          <a:solidFill>
            <a:srgbClr val="FBEDE4"/>
          </a:solidFill>
          <a:ln w="12700">
            <a:solidFill>
              <a:srgbClr val="FBEDE4"/>
            </a:solidFill>
            <a:prstDash val="solid"/>
          </a:ln>
        </p:spPr>
      </p:sp>
      <p:sp>
        <p:nvSpPr>
          <p:cNvPr id="9" name="Shape 7"/>
          <p:cNvSpPr/>
          <p:nvPr/>
        </p:nvSpPr>
        <p:spPr>
          <a:xfrm>
            <a:off x="4526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4526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12064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Its down-week odds were inflated</a:t>
            </a:r>
            <a:endParaRPr lang="en-US" sz="1800" dirty="0"/>
          </a:p>
        </p:txBody>
      </p:sp>
      <p:sp>
        <p:nvSpPr>
          <p:cNvPr id="12" name="Text 10"/>
          <p:cNvSpPr txBox="1"/>
          <p:nvPr/>
        </p:nvSpPr>
        <p:spPr>
          <a:xfrm>
            <a:off x="4526280" y="2304288"/>
            <a:ext cx="3136392" cy="3410712"/>
          </a:xfrm>
          <a:prstGeom prst="rect">
            <a:avLst/>
          </a:prstGeom>
          <a:noFill/>
          <a:ln/>
        </p:spPr>
        <p:txBody>
          <a:bodyPr wrap="square" lIns="0" tIns="0" rIns="0" bIns="0" rtlCol="0" anchor="t"/>
          <a:lstStyle/>
          <a:p>
            <a:pPr indent="0" marL="0">
              <a:buNone/>
            </a:pPr>
            <a:r>
              <a:rPr lang="en-US" sz="1500" dirty="0">
                <a:solidFill>
                  <a:schemeClr val="tx2"/>
                </a:solidFill>
              </a:rPr>
              <a:t>We told the model to pay extra attention to rare down weeks. That helps its prediction score, but it also makes it overstate their chances, and down weeks are also the biggest moves (−2.8% on average vs +2.2% for up weeks). So the expected gain kept tipping negative.</a:t>
            </a:r>
            <a:endParaRPr lang="en-US" sz="1500" dirty="0"/>
          </a:p>
        </p:txBody>
      </p:sp>
      <p:sp>
        <p:nvSpPr>
          <p:cNvPr id="13" name="Shape 11"/>
          <p:cNvSpPr/>
          <p:nvPr/>
        </p:nvSpPr>
        <p:spPr>
          <a:xfrm>
            <a:off x="8046720" y="1371600"/>
            <a:ext cx="3593592" cy="4526280"/>
          </a:xfrm>
          <a:prstGeom prst="roundRect">
            <a:avLst>
              <a:gd name="adj" fmla="val 3053"/>
            </a:avLst>
          </a:prstGeom>
          <a:solidFill>
            <a:schemeClr val="bg2"/>
          </a:solidFill>
          <a:ln w="12700">
            <a:solidFill>
              <a:schemeClr val="bg2"/>
            </a:solidFill>
            <a:prstDash val="solid"/>
          </a:ln>
        </p:spPr>
      </p:sp>
      <p:sp>
        <p:nvSpPr>
          <p:cNvPr id="14" name="Shape 12"/>
          <p:cNvSpPr/>
          <p:nvPr/>
        </p:nvSpPr>
        <p:spPr>
          <a:xfrm>
            <a:off x="8275320" y="160020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827532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86968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 direction skill underneath</a:t>
            </a:r>
            <a:endParaRPr lang="en-US" sz="1800" dirty="0"/>
          </a:p>
        </p:txBody>
      </p:sp>
      <p:sp>
        <p:nvSpPr>
          <p:cNvPr id="17" name="Text 15"/>
          <p:cNvSpPr txBox="1"/>
          <p:nvPr/>
        </p:nvSpPr>
        <p:spPr>
          <a:xfrm>
            <a:off x="827532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Its exits mostly missed gains, e.g. out from 6 Dec 2023 to 24 Jan 2024 while the market rose 6.8%. Its prediction score beat guessing only just (0.38 vs 0.32).</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3: correct the odds first</a:t>
            </a:r>
            <a:endParaRPr lang="en-US" sz="3200" dirty="0"/>
          </a:p>
        </p:txBody>
      </p:sp>
      <p:graphicFrame>
        <p:nvGraphicFramePr>
          <p:cNvPr id="3" name="Chart 0"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589520" y="1371600"/>
            <a:ext cx="4050792" cy="2011680"/>
          </a:xfrm>
          <a:prstGeom prst="roundRect">
            <a:avLst>
              <a:gd name="adj" fmla="val 5455"/>
            </a:avLst>
          </a:prstGeom>
          <a:solidFill>
            <a:srgbClr val="FBEDE4"/>
          </a:solidFill>
          <a:ln w="12700">
            <a:solidFill>
              <a:srgbClr val="FBEDE4"/>
            </a:solidFill>
            <a:prstDash val="solid"/>
          </a:ln>
        </p:spPr>
      </p:sp>
      <p:sp>
        <p:nvSpPr>
          <p:cNvPr id="5" name="Text 2"/>
          <p:cNvSpPr txBox="1"/>
          <p:nvPr/>
        </p:nvSpPr>
        <p:spPr>
          <a:xfrm>
            <a:off x="7818120" y="160020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On average: fixed</a:t>
            </a:r>
            <a:endParaRPr lang="en-US" sz="1800" dirty="0"/>
          </a:p>
        </p:txBody>
      </p:sp>
      <p:sp>
        <p:nvSpPr>
          <p:cNvPr id="6" name="Text 3"/>
          <p:cNvSpPr txBox="1"/>
          <p:nvPr/>
        </p:nvSpPr>
        <p:spPr>
          <a:xfrm>
            <a:off x="7818120" y="2148840"/>
            <a:ext cx="3593592" cy="1051560"/>
          </a:xfrm>
          <a:prstGeom prst="rect">
            <a:avLst/>
          </a:prstGeom>
          <a:noFill/>
          <a:ln/>
        </p:spPr>
        <p:txBody>
          <a:bodyPr wrap="square" lIns="0" tIns="0" rIns="0" bIns="0" rtlCol="0" anchor="t"/>
          <a:lstStyle/>
          <a:p>
            <a:pPr indent="0" marL="0">
              <a:buNone/>
            </a:pPr>
            <a:r>
              <a:rPr lang="en-US" sz="1500" dirty="0">
                <a:solidFill>
                  <a:schemeClr val="tx2"/>
                </a:solidFill>
              </a:rPr>
              <a:t>Two simple corrections bring the predicted chance of a down week from 30% to about 21–22%, close to the real 21%.</a:t>
            </a:r>
            <a:endParaRPr lang="en-US" sz="1500" dirty="0"/>
          </a:p>
        </p:txBody>
      </p:sp>
      <p:sp>
        <p:nvSpPr>
          <p:cNvPr id="7" name="Shape 4"/>
          <p:cNvSpPr/>
          <p:nvPr/>
        </p:nvSpPr>
        <p:spPr>
          <a:xfrm>
            <a:off x="7589520" y="3566160"/>
            <a:ext cx="4050792" cy="2331720"/>
          </a:xfrm>
          <a:prstGeom prst="roundRect">
            <a:avLst>
              <a:gd name="adj" fmla="val 4706"/>
            </a:avLst>
          </a:prstGeom>
          <a:solidFill>
            <a:schemeClr val="bg2"/>
          </a:solidFill>
          <a:ln w="12700">
            <a:solidFill>
              <a:schemeClr val="bg2"/>
            </a:solidFill>
            <a:prstDash val="solid"/>
          </a:ln>
        </p:spPr>
      </p:sp>
      <p:sp>
        <p:nvSpPr>
          <p:cNvPr id="8" name="Text 5"/>
          <p:cNvSpPr txBox="1"/>
          <p:nvPr/>
        </p:nvSpPr>
        <p:spPr>
          <a:xfrm>
            <a:off x="7818120" y="379476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Year by year: not fixed</a:t>
            </a:r>
            <a:endParaRPr lang="en-US" sz="1800" dirty="0"/>
          </a:p>
        </p:txBody>
      </p:sp>
      <p:sp>
        <p:nvSpPr>
          <p:cNvPr id="9" name="Text 6"/>
          <p:cNvSpPr txBox="1"/>
          <p:nvPr/>
        </p:nvSpPr>
        <p:spPr>
          <a:xfrm>
            <a:off x="7818120" y="4343400"/>
            <a:ext cx="3593592" cy="1371600"/>
          </a:xfrm>
          <a:prstGeom prst="rect">
            <a:avLst/>
          </a:prstGeom>
          <a:noFill/>
          <a:ln/>
        </p:spPr>
        <p:txBody>
          <a:bodyPr wrap="square" lIns="0" tIns="0" rIns="0" bIns="0" rtlCol="0" anchor="t"/>
          <a:lstStyle/>
          <a:p>
            <a:pPr indent="0" marL="0">
              <a:buNone/>
            </a:pPr>
            <a:r>
              <a:rPr lang="en-US" sz="1500" dirty="0">
                <a:solidFill>
                  <a:schemeClr val="tx2"/>
                </a:solidFill>
              </a:rPr>
              <a:t>The real share of down weeks swings (few in 2017, many in 2022). No correction stayed within 3 points in more than 4 of 10 years; our rule, set in advance, needed 8. So v3 failed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With honest odds, the best rule is: don’t trade</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286000"/>
          </a:xfrm>
          <a:prstGeom prst="roundRect">
            <a:avLst>
              <a:gd name="adj" fmla="val 4800"/>
            </a:avLst>
          </a:prstGeom>
          <a:solidFill>
            <a:srgbClr val="FBEDE4"/>
          </a:solidFill>
          <a:ln w="12700">
            <a:solidFill>
              <a:srgbClr val="FBEDE4"/>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pick never sold</a:t>
            </a:r>
            <a:endParaRPr lang="en-US" sz="1800" dirty="0"/>
          </a:p>
        </p:txBody>
      </p:sp>
      <p:sp>
        <p:nvSpPr>
          <p:cNvPr id="6" name="Text 3"/>
          <p:cNvSpPr txBox="1"/>
          <p:nvPr/>
        </p:nvSpPr>
        <p:spPr>
          <a:xfrm>
            <a:off x="8275320" y="2148840"/>
            <a:ext cx="3136392" cy="1325880"/>
          </a:xfrm>
          <a:prstGeom prst="rect">
            <a:avLst/>
          </a:prstGeom>
          <a:noFill/>
          <a:ln/>
        </p:spPr>
        <p:txBody>
          <a:bodyPr wrap="square" lIns="0" tIns="0" rIns="0" bIns="0" rtlCol="0" anchor="t"/>
          <a:lstStyle/>
          <a:p>
            <a:pPr indent="0" marL="0">
              <a:buNone/>
            </a:pPr>
            <a:r>
              <a:rPr lang="en-US" sz="1500" dirty="0">
                <a:solidFill>
                  <a:schemeClr val="tx2"/>
                </a:solidFill>
              </a:rPr>
              <a:t>Chosen by a rule fixed in advance. In ten years it never stepped out of the market: it is Buy &amp; Hold, and it ties Buy &amp; Hold.</a:t>
            </a:r>
            <a:endParaRPr lang="en-US" sz="1500" dirty="0"/>
          </a:p>
        </p:txBody>
      </p:sp>
      <p:sp>
        <p:nvSpPr>
          <p:cNvPr id="7" name="Shape 4"/>
          <p:cNvSpPr/>
          <p:nvPr/>
        </p:nvSpPr>
        <p:spPr>
          <a:xfrm>
            <a:off x="8046720" y="3840480"/>
            <a:ext cx="3593592" cy="2057400"/>
          </a:xfrm>
          <a:prstGeom prst="roundRect">
            <a:avLst>
              <a:gd name="adj" fmla="val 5333"/>
            </a:avLst>
          </a:prstGeom>
          <a:solidFill>
            <a:schemeClr val="bg2"/>
          </a:solidFill>
          <a:ln w="12700">
            <a:solidFill>
              <a:schemeClr val="bg2"/>
            </a:solidFill>
            <a:prstDash val="solid"/>
          </a:ln>
        </p:spPr>
      </p:sp>
      <p:sp>
        <p:nvSpPr>
          <p:cNvPr id="8" name="Text 5"/>
          <p:cNvSpPr txBox="1"/>
          <p:nvPr/>
        </p:nvSpPr>
        <p:spPr>
          <a:xfrm>
            <a:off x="8275320" y="4069080"/>
            <a:ext cx="313639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Every version that traded did worse</a:t>
            </a:r>
            <a:endParaRPr lang="en-US" sz="1800" dirty="0"/>
          </a:p>
        </p:txBody>
      </p:sp>
      <p:sp>
        <p:nvSpPr>
          <p:cNvPr id="9" name="Text 6"/>
          <p:cNvSpPr txBox="1"/>
          <p:nvPr/>
        </p:nvSpPr>
        <p:spPr>
          <a:xfrm>
            <a:off x="8275320" y="4773168"/>
            <a:ext cx="3136392" cy="941832"/>
          </a:xfrm>
          <a:prstGeom prst="rect">
            <a:avLst/>
          </a:prstGeom>
          <a:noFill/>
          <a:ln/>
        </p:spPr>
        <p:txBody>
          <a:bodyPr wrap="square" lIns="0" tIns="0" rIns="0" bIns="0" rtlCol="0" anchor="t"/>
          <a:lstStyle/>
          <a:p>
            <a:pPr indent="0" marL="0">
              <a:buNone/>
            </a:pPr>
            <a:r>
              <a:rPr lang="en-US" sz="1500" dirty="0">
                <a:solidFill>
                  <a:schemeClr val="tx2"/>
                </a:solidFill>
              </a:rPr>
              <a:t>Even the ones invested 95% of the time ended about $70,000 behind.</a:t>
            </a:r>
            <a:endParaRPr lang="en-US" sz="1500" dirty="0"/>
          </a:p>
        </p:txBody>
      </p:sp>
      <p:sp>
        <p:nvSpPr>
          <p:cNvPr id="10" name="Text 7"/>
          <p:cNvSpPr txBox="1"/>
          <p:nvPr/>
        </p:nvSpPr>
        <p:spPr>
          <a:xfrm>
            <a:off x="548640" y="5943600"/>
            <a:ext cx="11094415" cy="320040"/>
          </a:xfrm>
          <a:prstGeom prst="rect">
            <a:avLst/>
          </a:prstGeom>
          <a:noFill/>
          <a:ln/>
        </p:spPr>
        <p:txBody>
          <a:bodyPr wrap="square" lIns="0" tIns="0" rIns="0" bIns="0" rtlCol="0" anchor="t"/>
          <a:lstStyle/>
          <a:p>
            <a:pPr indent="0" marL="0">
              <a:buNone/>
            </a:pPr>
            <a:r>
              <a:rPr lang="en-US" sz="1300" i="1" dirty="0">
                <a:solidFill>
                  <a:schemeClr val="accent3"/>
                </a:solidFill>
              </a:rPr>
              <a:t>Still to come: the frozen pick on 2025–26 data and a live paper-trade from 13 Oct 2026.</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 kept the test honest</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Plans written before code</a:t>
            </a:r>
            <a:endParaRPr lang="en-US" sz="1800" dirty="0"/>
          </a:p>
        </p:txBody>
      </p:sp>
      <p:sp>
        <p:nvSpPr>
          <p:cNvPr id="7" name="Text 5"/>
          <p:cNvSpPr txBox="1"/>
          <p:nvPr/>
        </p:nvSpPr>
        <p:spPr>
          <a:xfrm>
            <a:off x="77724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version’s design was committed before any code or result existed, with a digital fingerprint (SHA-256) so later edits would show.</a:t>
            </a:r>
            <a:endParaRPr lang="en-US" sz="15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Final exam opened once</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 picked its model on earlier data, locked it, and only then saw the test years.</a:t>
            </a:r>
            <a:endParaRPr lang="en-US" sz="15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46 automated tests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They check the model never sees the future, e.g. scrambling future data must not change any prediction.</a:t>
            </a:r>
            <a:endParaRPr lang="en-US" sz="15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reported, not hidden</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Every change after results is logged, including a one-day overlap we found in v1’s work and v3 failing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we learned</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Size is predictable; direction isn’t</a:t>
            </a:r>
            <a:endParaRPr lang="en-US" sz="1800" dirty="0"/>
          </a:p>
        </p:txBody>
      </p:sp>
      <p:sp>
        <p:nvSpPr>
          <p:cNvPr id="7" name="Text 5"/>
          <p:cNvSpPr txBox="1"/>
          <p:nvPr/>
        </p:nvSpPr>
        <p:spPr>
          <a:xfrm>
            <a:off x="777240" y="2350008"/>
            <a:ext cx="5010912" cy="987552"/>
          </a:xfrm>
          <a:prstGeom prst="rect">
            <a:avLst/>
          </a:prstGeom>
          <a:noFill/>
          <a:ln/>
        </p:spPr>
        <p:txBody>
          <a:bodyPr wrap="square" lIns="0" tIns="0" rIns="0" bIns="0" rtlCol="0" anchor="t"/>
          <a:lstStyle/>
          <a:p>
            <a:pPr indent="0" marL="0">
              <a:buNone/>
            </a:pPr>
            <a:r>
              <a:rPr lang="en-US" sz="1600" dirty="0">
                <a:solidFill>
                  <a:schemeClr val="tx2"/>
                </a:solidFill>
              </a:rPr>
              <a:t>Big-move weeks cluster together, so the model can see them coming. Which way they go is close to a coin flip.</a:t>
            </a:r>
            <a:endParaRPr lang="en-US" sz="16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Sitting in cash has a cost</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600" dirty="0">
                <a:solidFill>
                  <a:schemeClr val="tx2"/>
                </a:solidFill>
              </a:rPr>
              <a:t>The market mostly goes up. Without real timing skill, every day out of the market loses money on average.</a:t>
            </a:r>
            <a:endParaRPr lang="en-US" sz="16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past changes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A signal that helped from 2010 to 2020 actually misled the model in 2022.</a:t>
            </a:r>
            <a:endParaRPr lang="en-US" sz="16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Good predictions ≠ good trades</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Settings that improve the prediction score can distort the odds a trading rule relies on. With honest odds (v3), the best rule was not to trade.</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Questions?</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$100,000 in 2023–24 → $156,546 by waiting, $123,714 with v1, $121,812 with v2. With honest odds, v3’s best rule is not to trade.</a:t>
            </a:r>
            <a:endParaRPr lang="en-US" sz="2100" dirty="0"/>
          </a:p>
          <a:p>
            <a:pPr indent="0" marL="0">
              <a:buNone/>
            </a:pPr>
            <a:r>
              <a:rPr lang="en-US" sz="2100" dirty="0">
                <a:solidFill>
                  <a:schemeClr val="bg2"/>
                </a:solidFill>
              </a:rPr>
              <a:t> </a:t>
            </a:r>
            <a:endParaRPr lang="en-US" sz="2100" dirty="0"/>
          </a:p>
          <a:p>
            <a:pPr indent="0" marL="0">
              <a:buNone/>
            </a:pPr>
            <a:r>
              <a:rPr lang="en-US" sz="1800" dirty="0">
                <a:solidFill>
                  <a:schemeClr val="accent4"/>
                </a:solidFill>
              </a:rPr>
              <a:t>github.com/TKCH121/spy</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PY Signal">
  <a:themeElements>
    <a:clrScheme name="SPY Signal">
      <a:dk1>
        <a:srgbClr val="14213D"/>
      </a:dk1>
      <a:lt1>
        <a:srgbClr val="FFFFFF"/>
      </a:lt1>
      <a:dk2>
        <a:srgbClr val="3B4A63"/>
      </a:dk2>
      <a:lt2>
        <a:srgbClr val="EEF1F6"/>
      </a:lt2>
      <a:accent1>
        <a:srgbClr val="C8571B"/>
      </a:accent1>
      <a:accent2>
        <a:srgbClr val="2F5D9E"/>
      </a:accent2>
      <a:accent3>
        <a:srgbClr val="8A96A8"/>
      </a:accent3>
      <a:accent4>
        <a:srgbClr val="E9A46A"/>
      </a:accent4>
      <a:accent5>
        <a:srgbClr val="4E7D5B"/>
      </a:accent5>
      <a:accent6>
        <a:srgbClr val="6B4F96"/>
      </a:accent6>
      <a:hlink>
        <a:srgbClr val="2F5D9E"/>
      </a:hlink>
      <a:folHlink>
        <a:srgbClr val="6B4F96"/>
      </a:folHlink>
    </a:clrScheme>
    <a:fontScheme name="SPY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computer beat buy-and-wait?</dc:title>
  <dc:subject>PptxGenJS Presentation</dc:subject>
  <dc:creator>Module 3 Group 7</dc:creator>
  <cp:lastModifiedBy>Module 3 Group 7</cp:lastModifiedBy>
  <cp:revision>1</cp:revision>
  <dcterms:created xsi:type="dcterms:W3CDTF">2026-10-22T11:57:27Z</dcterms:created>
  <dcterms:modified xsi:type="dcterms:W3CDTF">2026-10-22T11:57:27Z</dcterms:modified>
</cp:coreProperties>
</file>