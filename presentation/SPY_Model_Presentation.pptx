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7926e54d-b7b5-9f39-52fe-afaefaaed1a7}">
          <p14:sldIdLst>
            <p14:sldId id="256"/>
            <p14:sldId id="257"/>
            <p14:sldId id="258"/>
            <p14:sldId id="259"/>
            <p14:sldId id="260"/>
            <p14:sldId id="261"/>
          </p14:sldIdLst>
        </p14:section>
        <p14:section name="How the model works" id="{573efc90-d4d6-aa97-9c41-73ec56ed59ca}">
          <p14:sldIdLst>
            <p14:sldId id="262"/>
            <p14:sldId id="263"/>
            <p14:sldId id="264"/>
            <p14:sldId id="265"/>
            <p14:sldId id="266"/>
            <p14:sldId id="267"/>
          </p14:sldIdLst>
        </p14:section>
        <p14:section name="What happened" id="{f6b10112-8e2e-e9ea-a239-c566157fba9a}">
          <p14:sldIdLst>
            <p14:sldId id="268"/>
            <p14:sldId id="269"/>
            <p14:sldId id="270"/>
            <p14:sldId id="271"/>
          </p14:sldIdLst>
        </p14:section>
        <p14:section name="Version 2" id="{d2330aae-f162-be65-2586-8aca15d63e86}">
          <p14:sldIdLst>
            <p14:sldId id="272"/>
            <p14:sldId id="273"/>
            <p14:sldId id="274"/>
            <p14:sldId id="275"/>
            <p14:sldId id="276"/>
            <p14:sldId id="277"/>
          </p14:sldIdLst>
        </p14:section>
        <p14:section name="Version 3" id="{43f40a15-f5d2-7d27-ebfb-cf32b0cd0fe5}">
          <p14:sldIdLst>
            <p14:sldId id="278"/>
            <p14:sldId id="279"/>
            <p14:sldId id="280"/>
            <p14:sldId id="281"/>
            <p14:sldId id="282"/>
          </p14:sldIdLst>
        </p14:section>
        <p14:section name="Wrap-up" id="{00dbf3a0-7ca6-7283-5b62-53083822df8a}">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A model that predicts Buy, Hold or Sell for the next 5 trading days, tested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delivered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3291840"/>
                <a:gridCol w="5148072"/>
              </a:tblGrid>
              <a:tr h="548640">
                <a:tc>
                  <a:txBody>
                    <a:bodyPr/>
                    <a:lstStyle/>
                    <a:p>
                      <a:pPr indent="0" marL="0">
                        <a:buNone/>
                      </a:pPr>
                      <a:r>
                        <a:rPr lang="en-US" sz="1600" b="1" dirty="0">
                          <a:solidFill>
                            <a:schemeClr val="bg1"/>
                          </a:solidFill>
                        </a:rPr>
                        <a:t>The brief asked for</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Where it 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What it shows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2"/>
                          </a:solidFill>
                        </a:rPr>
                        <a:t>Exploratory analysis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notebooks/01_eda.ipynb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Feature distributions, indicator correlations, class balance</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Modelling notebook</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notebooks/02_modeling.ipynb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Lagged features, time-ordered splits, tuning; random forest chosen</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Realistic backtest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notebooks/03_backtest.ipynb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vectorbt, 0.10% fee + 0.05% slippage, plotted against Buy &amp; Hold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“Lessons learned” report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outputs/report.md, SUMMARY.md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Where the model failed, why it lost, why markets are hard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Beyond the brief</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v2 and v3 notebooks, docs/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Two improved versions, planned in advance and tested honestly</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548640"/>
          </a:xfrm>
          <a:prstGeom prst="rect">
            <a:avLst/>
          </a:prstGeom>
          <a:noFill/>
          <a:ln/>
        </p:spPr>
        <p:txBody>
          <a:bodyPr wrap="square" lIns="0" tIns="0" rIns="0" bIns="0" rtlCol="0" anchor="t"/>
          <a:lstStyle/>
          <a:p>
            <a:pPr indent="0" marL="0">
              <a:buNone/>
            </a:pPr>
            <a:r>
              <a:rPr lang="en-US" sz="1600" b="1" dirty="0">
                <a:solidFill>
                  <a:schemeClr val="accent1"/>
                </a:solidFill>
              </a:rPr>
              <a:t>Throughout: no look-ahead, checked by 50 automated tests. Code: github.com/TKCH121/spy</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Follow the model</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model predicts the best action for the next 5 trading days: Buy, Hold or Sell. We trade on it the next morning.</a:t>
            </a:r>
            <a:endParaRPr lang="en-US" sz="1700" dirty="0"/>
          </a:p>
          <a:p>
            <a:pPr indent="0" marL="0">
              <a:buNone/>
            </a:pPr>
            <a:endParaRPr lang="en-US" sz="1700" dirty="0"/>
          </a:p>
          <a:p>
            <a:pPr indent="0" marL="0">
              <a:buNone/>
            </a:pPr>
            <a:r>
              <a:rPr lang="en-US" sz="1700" dirty="0">
                <a:solidFill>
                  <a:schemeClr val="tx2"/>
                </a:solidFill>
              </a:rPr>
              <a:t>Every trade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The action for the next 5 days: Buy (&gt; +1%), Sell (&lt; −1%) or Hold</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Act</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Buy → be invested · Sell → move to cash · Hold → keep the current position</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Any change fills at the next morning’s open, and pays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Buy, Hold or Sell for 5 days</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Sell · 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Hold · 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Buy · 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Class imbalance: good for predictions, bad for odds</a:t>
            </a:r>
            <a:endParaRPr lang="en-US" sz="3200" dirty="0"/>
          </a:p>
        </p:txBody>
      </p:sp>
      <p:sp>
        <p:nvSpPr>
          <p:cNvPr id="3" name="Text 1"/>
          <p:cNvSpPr txBox="1"/>
          <p:nvPr/>
        </p:nvSpPr>
        <p:spPr>
          <a:xfrm>
            <a:off x="548640" y="1325880"/>
            <a:ext cx="7589520" cy="347472"/>
          </a:xfrm>
          <a:prstGeom prst="rect">
            <a:avLst/>
          </a:prstGeom>
          <a:noFill/>
          <a:ln/>
        </p:spPr>
        <p:txBody>
          <a:bodyPr wrap="square" lIns="0" tIns="0" rIns="0" bIns="0" rtlCol="0" anchor="t"/>
          <a:lstStyle/>
          <a:p>
            <a:pPr indent="0" marL="0">
              <a:buNone/>
            </a:pPr>
            <a:r>
              <a:rPr lang="en-US" sz="1500" b="1" dirty="0">
                <a:solidFill>
                  <a:schemeClr val="tx1"/>
                </a:solidFill>
              </a:rPr>
              <a:t>Real mix of weeks, 2010–2020</a:t>
            </a:r>
            <a:endParaRPr lang="en-US" sz="1500" dirty="0"/>
          </a:p>
        </p:txBody>
      </p:sp>
      <p:sp>
        <p:nvSpPr>
          <p:cNvPr id="4" name="Shape 2"/>
          <p:cNvSpPr/>
          <p:nvPr/>
        </p:nvSpPr>
        <p:spPr>
          <a:xfrm>
            <a:off x="548640" y="1709928"/>
            <a:ext cx="1496507" cy="548640"/>
          </a:xfrm>
          <a:prstGeom prst="rect">
            <a:avLst/>
          </a:prstGeom>
          <a:solidFill>
            <a:schemeClr val="accent2"/>
          </a:solidFill>
          <a:ln w="12700">
            <a:solidFill>
              <a:schemeClr val="accent2"/>
            </a:solidFill>
            <a:prstDash val="solid"/>
          </a:ln>
        </p:spPr>
      </p:sp>
      <p:sp>
        <p:nvSpPr>
          <p:cNvPr id="5" name="Text 3"/>
          <p:cNvSpPr txBox="1"/>
          <p:nvPr/>
        </p:nvSpPr>
        <p:spPr>
          <a:xfrm>
            <a:off x="548640" y="1709928"/>
            <a:ext cx="1496507" cy="548640"/>
          </a:xfrm>
          <a:prstGeom prst="rect">
            <a:avLst/>
          </a:prstGeom>
          <a:noFill/>
          <a:ln/>
        </p:spPr>
        <p:txBody>
          <a:bodyPr wrap="square" lIns="0" tIns="0" rIns="0" bIns="0" rtlCol="0" anchor="ctr"/>
          <a:lstStyle/>
          <a:p>
            <a:pPr algn="ctr" indent="0" marL="0">
              <a:buNone/>
            </a:pPr>
            <a:r>
              <a:rPr lang="en-US" sz="1500" b="1" dirty="0">
                <a:solidFill>
                  <a:schemeClr val="bg1"/>
                </a:solidFill>
              </a:rPr>
              <a:t>Down 20%</a:t>
            </a:r>
            <a:endParaRPr lang="en-US" sz="1500" dirty="0"/>
          </a:p>
        </p:txBody>
      </p:sp>
      <p:sp>
        <p:nvSpPr>
          <p:cNvPr id="6" name="Shape 4"/>
          <p:cNvSpPr/>
          <p:nvPr/>
        </p:nvSpPr>
        <p:spPr>
          <a:xfrm>
            <a:off x="2081723" y="1709928"/>
            <a:ext cx="3363529" cy="548640"/>
          </a:xfrm>
          <a:prstGeom prst="rect">
            <a:avLst/>
          </a:prstGeom>
          <a:solidFill>
            <a:schemeClr val="accent3"/>
          </a:solidFill>
          <a:ln w="12700">
            <a:solidFill>
              <a:schemeClr val="accent3"/>
            </a:solidFill>
            <a:prstDash val="solid"/>
          </a:ln>
        </p:spPr>
      </p:sp>
      <p:sp>
        <p:nvSpPr>
          <p:cNvPr id="7" name="Text 5"/>
          <p:cNvSpPr txBox="1"/>
          <p:nvPr/>
        </p:nvSpPr>
        <p:spPr>
          <a:xfrm>
            <a:off x="2081723" y="1709928"/>
            <a:ext cx="3363529" cy="548640"/>
          </a:xfrm>
          <a:prstGeom prst="rect">
            <a:avLst/>
          </a:prstGeom>
          <a:noFill/>
          <a:ln/>
        </p:spPr>
        <p:txBody>
          <a:bodyPr wrap="square" lIns="0" tIns="0" rIns="0" bIns="0" rtlCol="0" anchor="ctr"/>
          <a:lstStyle/>
          <a:p>
            <a:pPr algn="ctr" indent="0" marL="0">
              <a:buNone/>
            </a:pPr>
            <a:r>
              <a:rPr lang="en-US" sz="1500" b="1" dirty="0">
                <a:solidFill>
                  <a:schemeClr val="bg1"/>
                </a:solidFill>
              </a:rPr>
              <a:t>Flat 45%</a:t>
            </a:r>
            <a:endParaRPr lang="en-US" sz="1500" dirty="0"/>
          </a:p>
        </p:txBody>
      </p:sp>
      <p:sp>
        <p:nvSpPr>
          <p:cNvPr id="8" name="Shape 6"/>
          <p:cNvSpPr/>
          <p:nvPr/>
        </p:nvSpPr>
        <p:spPr>
          <a:xfrm>
            <a:off x="5481828" y="1709928"/>
            <a:ext cx="2619756" cy="548640"/>
          </a:xfrm>
          <a:prstGeom prst="rect">
            <a:avLst/>
          </a:prstGeom>
          <a:solidFill>
            <a:schemeClr val="accent1"/>
          </a:solidFill>
          <a:ln w="12700">
            <a:solidFill>
              <a:schemeClr val="accent1"/>
            </a:solidFill>
            <a:prstDash val="solid"/>
          </a:ln>
        </p:spPr>
      </p:sp>
      <p:sp>
        <p:nvSpPr>
          <p:cNvPr id="9" name="Text 7"/>
          <p:cNvSpPr txBox="1"/>
          <p:nvPr/>
        </p:nvSpPr>
        <p:spPr>
          <a:xfrm>
            <a:off x="5481828" y="1709928"/>
            <a:ext cx="2619756" cy="548640"/>
          </a:xfrm>
          <a:prstGeom prst="rect">
            <a:avLst/>
          </a:prstGeom>
          <a:noFill/>
          <a:ln/>
        </p:spPr>
        <p:txBody>
          <a:bodyPr wrap="square" lIns="0" tIns="0" rIns="0" bIns="0" rtlCol="0" anchor="ctr"/>
          <a:lstStyle/>
          <a:p>
            <a:pPr algn="ctr" indent="0" marL="0">
              <a:buNone/>
            </a:pPr>
            <a:r>
              <a:rPr lang="en-US" sz="1500" b="1" dirty="0">
                <a:solidFill>
                  <a:schemeClr val="bg1"/>
                </a:solidFill>
              </a:rPr>
              <a:t>Up 35%</a:t>
            </a:r>
            <a:endParaRPr lang="en-US" sz="1500" dirty="0"/>
          </a:p>
        </p:txBody>
      </p:sp>
      <p:sp>
        <p:nvSpPr>
          <p:cNvPr id="10" name="Text 8"/>
          <p:cNvSpPr txBox="1"/>
          <p:nvPr/>
        </p:nvSpPr>
        <p:spPr>
          <a:xfrm>
            <a:off x="548640" y="2423160"/>
            <a:ext cx="7589520" cy="347472"/>
          </a:xfrm>
          <a:prstGeom prst="rect">
            <a:avLst/>
          </a:prstGeom>
          <a:noFill/>
          <a:ln/>
        </p:spPr>
        <p:txBody>
          <a:bodyPr wrap="square" lIns="0" tIns="0" rIns="0" bIns="0" rtlCol="0" anchor="t"/>
          <a:lstStyle/>
          <a:p>
            <a:pPr indent="0" marL="0">
              <a:buNone/>
            </a:pPr>
            <a:r>
              <a:rPr lang="en-US" sz="1500" b="1" dirty="0">
                <a:solidFill>
                  <a:schemeClr val="tx1"/>
                </a:solidFill>
              </a:rPr>
              <a:t>What the model is trained to treat as normal, after balancing</a:t>
            </a:r>
            <a:endParaRPr lang="en-US" sz="1500" dirty="0"/>
          </a:p>
        </p:txBody>
      </p:sp>
      <p:sp>
        <p:nvSpPr>
          <p:cNvPr id="11" name="Shape 9"/>
          <p:cNvSpPr/>
          <p:nvPr/>
        </p:nvSpPr>
        <p:spPr>
          <a:xfrm>
            <a:off x="548640" y="2807208"/>
            <a:ext cx="2493264" cy="548640"/>
          </a:xfrm>
          <a:prstGeom prst="rect">
            <a:avLst/>
          </a:prstGeom>
          <a:solidFill>
            <a:schemeClr val="accent2"/>
          </a:solidFill>
          <a:ln w="12700">
            <a:solidFill>
              <a:schemeClr val="accent2"/>
            </a:solidFill>
            <a:prstDash val="solid"/>
          </a:ln>
        </p:spPr>
      </p:sp>
      <p:sp>
        <p:nvSpPr>
          <p:cNvPr id="12" name="Text 10"/>
          <p:cNvSpPr txBox="1"/>
          <p:nvPr/>
        </p:nvSpPr>
        <p:spPr>
          <a:xfrm>
            <a:off x="54864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Down 33%</a:t>
            </a:r>
            <a:endParaRPr lang="en-US" sz="1500" dirty="0"/>
          </a:p>
        </p:txBody>
      </p:sp>
      <p:sp>
        <p:nvSpPr>
          <p:cNvPr id="13" name="Shape 11"/>
          <p:cNvSpPr/>
          <p:nvPr/>
        </p:nvSpPr>
        <p:spPr>
          <a:xfrm>
            <a:off x="3078480" y="2807208"/>
            <a:ext cx="2493264" cy="548640"/>
          </a:xfrm>
          <a:prstGeom prst="rect">
            <a:avLst/>
          </a:prstGeom>
          <a:solidFill>
            <a:schemeClr val="accent3"/>
          </a:solidFill>
          <a:ln w="12700">
            <a:solidFill>
              <a:schemeClr val="accent3"/>
            </a:solidFill>
            <a:prstDash val="solid"/>
          </a:ln>
        </p:spPr>
      </p:sp>
      <p:sp>
        <p:nvSpPr>
          <p:cNvPr id="14" name="Text 12"/>
          <p:cNvSpPr txBox="1"/>
          <p:nvPr/>
        </p:nvSpPr>
        <p:spPr>
          <a:xfrm>
            <a:off x="307848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Flat 33%</a:t>
            </a:r>
            <a:endParaRPr lang="en-US" sz="1500" dirty="0"/>
          </a:p>
        </p:txBody>
      </p:sp>
      <p:sp>
        <p:nvSpPr>
          <p:cNvPr id="15" name="Shape 13"/>
          <p:cNvSpPr/>
          <p:nvPr/>
        </p:nvSpPr>
        <p:spPr>
          <a:xfrm>
            <a:off x="5608320" y="2807208"/>
            <a:ext cx="2493264" cy="548640"/>
          </a:xfrm>
          <a:prstGeom prst="rect">
            <a:avLst/>
          </a:prstGeom>
          <a:solidFill>
            <a:schemeClr val="accent1"/>
          </a:solidFill>
          <a:ln w="12700">
            <a:solidFill>
              <a:schemeClr val="accent1"/>
            </a:solidFill>
            <a:prstDash val="solid"/>
          </a:ln>
        </p:spPr>
      </p:sp>
      <p:sp>
        <p:nvSpPr>
          <p:cNvPr id="16" name="Text 14"/>
          <p:cNvSpPr txBox="1"/>
          <p:nvPr/>
        </p:nvSpPr>
        <p:spPr>
          <a:xfrm>
            <a:off x="560832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Up 33%</a:t>
            </a:r>
            <a:endParaRPr lang="en-US" sz="1500" dirty="0"/>
          </a:p>
        </p:txBody>
      </p:sp>
      <p:sp>
        <p:nvSpPr>
          <p:cNvPr id="17" name="Shape 15"/>
          <p:cNvSpPr/>
          <p:nvPr/>
        </p:nvSpPr>
        <p:spPr>
          <a:xfrm>
            <a:off x="8412480" y="1325880"/>
            <a:ext cx="3227832" cy="2057400"/>
          </a:xfrm>
          <a:prstGeom prst="roundRect">
            <a:avLst>
              <a:gd name="adj" fmla="val 5333"/>
            </a:avLst>
          </a:prstGeom>
          <a:solidFill>
            <a:srgbClr val="FBEDE4"/>
          </a:solidFill>
          <a:ln w="12700">
            <a:solidFill>
              <a:srgbClr val="FBEDE4"/>
            </a:solidFill>
            <a:prstDash val="solid"/>
          </a:ln>
        </p:spPr>
      </p:sp>
      <p:sp>
        <p:nvSpPr>
          <p:cNvPr id="18" name="Text 16"/>
          <p:cNvSpPr txBox="1"/>
          <p:nvPr/>
        </p:nvSpPr>
        <p:spPr>
          <a:xfrm>
            <a:off x="8641080" y="1554480"/>
            <a:ext cx="27706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for predictions, bad for odds</a:t>
            </a:r>
            <a:endParaRPr lang="en-US" sz="1700" dirty="0"/>
          </a:p>
        </p:txBody>
      </p:sp>
      <p:sp>
        <p:nvSpPr>
          <p:cNvPr id="19" name="Text 17"/>
          <p:cNvSpPr txBox="1"/>
          <p:nvPr/>
        </p:nvSpPr>
        <p:spPr>
          <a:xfrm>
            <a:off x="8641080" y="2228088"/>
            <a:ext cx="2770632" cy="972312"/>
          </a:xfrm>
          <a:prstGeom prst="rect">
            <a:avLst/>
          </a:prstGeom>
          <a:noFill/>
          <a:ln/>
        </p:spPr>
        <p:txBody>
          <a:bodyPr wrap="square" lIns="0" tIns="0" rIns="0" bIns="0" rtlCol="0" anchor="t"/>
          <a:lstStyle/>
          <a:p>
            <a:pPr indent="0" marL="0">
              <a:buNone/>
            </a:pPr>
            <a:r>
              <a:rPr lang="en-US" sz="1400" dirty="0">
                <a:solidFill>
                  <a:schemeClr val="tx2"/>
                </a:solidFill>
              </a:rPr>
              <a:t>The model stops ignoring rare down weeks, but its odds of one come out inflated: 30% predicted vs 21% real.</a:t>
            </a:r>
            <a:endParaRPr lang="en-US" sz="1400" dirty="0"/>
          </a:p>
        </p:txBody>
      </p:sp>
      <p:sp>
        <p:nvSpPr>
          <p:cNvPr id="20" name="Shape 18"/>
          <p:cNvSpPr/>
          <p:nvPr/>
        </p:nvSpPr>
        <p:spPr>
          <a:xfrm>
            <a:off x="548640" y="3657600"/>
            <a:ext cx="2636444" cy="2240280"/>
          </a:xfrm>
          <a:prstGeom prst="roundRect">
            <a:avLst>
              <a:gd name="adj" fmla="val 4898"/>
            </a:avLst>
          </a:prstGeom>
          <a:solidFill>
            <a:schemeClr val="bg2"/>
          </a:solidFill>
          <a:ln w="12700">
            <a:solidFill>
              <a:schemeClr val="bg2"/>
            </a:solidFill>
            <a:prstDash val="solid"/>
          </a:ln>
        </p:spPr>
      </p:sp>
      <p:sp>
        <p:nvSpPr>
          <p:cNvPr id="21" name="Shape 19"/>
          <p:cNvSpPr/>
          <p:nvPr/>
        </p:nvSpPr>
        <p:spPr>
          <a:xfrm>
            <a:off x="777240" y="3886200"/>
            <a:ext cx="438912" cy="438912"/>
          </a:xfrm>
          <a:prstGeom prst="ellipse">
            <a:avLst/>
          </a:prstGeom>
          <a:solidFill>
            <a:schemeClr val="accent1"/>
          </a:solidFill>
          <a:ln w="12700">
            <a:solidFill>
              <a:schemeClr val="accent1"/>
            </a:solidFill>
            <a:prstDash val="solid"/>
          </a:ln>
        </p:spPr>
      </p:sp>
      <p:sp>
        <p:nvSpPr>
          <p:cNvPr id="22" name="Text 20"/>
          <p:cNvSpPr txBox="1"/>
          <p:nvPr/>
        </p:nvSpPr>
        <p:spPr>
          <a:xfrm>
            <a:off x="777240"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3" name="Text 21"/>
          <p:cNvSpPr txBox="1"/>
          <p:nvPr/>
        </p:nvSpPr>
        <p:spPr>
          <a:xfrm>
            <a:off x="1371600"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brief</a:t>
            </a:r>
            <a:endParaRPr lang="en-US" sz="1700" dirty="0"/>
          </a:p>
        </p:txBody>
      </p:sp>
      <p:sp>
        <p:nvSpPr>
          <p:cNvPr id="24" name="Text 22"/>
          <p:cNvSpPr txBox="1"/>
          <p:nvPr/>
        </p:nvSpPr>
        <p:spPr>
          <a:xfrm>
            <a:off x="777240"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Requires handling imbalance: SMOTE, class weights or thresholds.</a:t>
            </a:r>
            <a:endParaRPr lang="en-US" sz="1400" dirty="0"/>
          </a:p>
        </p:txBody>
      </p:sp>
      <p:sp>
        <p:nvSpPr>
          <p:cNvPr id="25" name="Shape 23"/>
          <p:cNvSpPr/>
          <p:nvPr/>
        </p:nvSpPr>
        <p:spPr>
          <a:xfrm>
            <a:off x="3367964" y="3657600"/>
            <a:ext cx="2636444" cy="2240280"/>
          </a:xfrm>
          <a:prstGeom prst="roundRect">
            <a:avLst>
              <a:gd name="adj" fmla="val 4898"/>
            </a:avLst>
          </a:prstGeom>
          <a:solidFill>
            <a:schemeClr val="bg2"/>
          </a:solidFill>
          <a:ln w="12700">
            <a:solidFill>
              <a:schemeClr val="bg2"/>
            </a:solidFill>
            <a:prstDash val="solid"/>
          </a:ln>
        </p:spPr>
      </p:sp>
      <p:sp>
        <p:nvSpPr>
          <p:cNvPr id="26" name="Shape 24"/>
          <p:cNvSpPr/>
          <p:nvPr/>
        </p:nvSpPr>
        <p:spPr>
          <a:xfrm>
            <a:off x="3596564" y="3886200"/>
            <a:ext cx="438912" cy="438912"/>
          </a:xfrm>
          <a:prstGeom prst="ellipse">
            <a:avLst/>
          </a:prstGeom>
          <a:solidFill>
            <a:schemeClr val="accent1"/>
          </a:solidFill>
          <a:ln w="12700">
            <a:solidFill>
              <a:schemeClr val="accent1"/>
            </a:solidFill>
            <a:prstDash val="solid"/>
          </a:ln>
        </p:spPr>
      </p:sp>
      <p:sp>
        <p:nvSpPr>
          <p:cNvPr id="27" name="Text 25"/>
          <p:cNvSpPr txBox="1"/>
          <p:nvPr/>
        </p:nvSpPr>
        <p:spPr>
          <a:xfrm>
            <a:off x="3596564"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Text 26"/>
          <p:cNvSpPr txBox="1"/>
          <p:nvPr/>
        </p:nvSpPr>
        <p:spPr>
          <a:xfrm>
            <a:off x="4190924"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1</a:t>
            </a:r>
            <a:endParaRPr lang="en-US" sz="1700" dirty="0"/>
          </a:p>
        </p:txBody>
      </p:sp>
      <p:sp>
        <p:nvSpPr>
          <p:cNvPr id="29" name="Text 27"/>
          <p:cNvSpPr txBox="1"/>
          <p:nvPr/>
        </p:nvSpPr>
        <p:spPr>
          <a:xfrm>
            <a:off x="3596564"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Class weights. SMOTE and no weighting were tested; weights scored best.</a:t>
            </a:r>
            <a:endParaRPr lang="en-US" sz="1400" dirty="0"/>
          </a:p>
        </p:txBody>
      </p:sp>
      <p:sp>
        <p:nvSpPr>
          <p:cNvPr id="30" name="Shape 28"/>
          <p:cNvSpPr/>
          <p:nvPr/>
        </p:nvSpPr>
        <p:spPr>
          <a:xfrm>
            <a:off x="6187288" y="3657600"/>
            <a:ext cx="2636444" cy="2240280"/>
          </a:xfrm>
          <a:prstGeom prst="roundRect">
            <a:avLst>
              <a:gd name="adj" fmla="val 4898"/>
            </a:avLst>
          </a:prstGeom>
          <a:solidFill>
            <a:schemeClr val="bg2"/>
          </a:solidFill>
          <a:ln w="12700">
            <a:solidFill>
              <a:schemeClr val="bg2"/>
            </a:solidFill>
            <a:prstDash val="solid"/>
          </a:ln>
        </p:spPr>
      </p:sp>
      <p:sp>
        <p:nvSpPr>
          <p:cNvPr id="31" name="Shape 29"/>
          <p:cNvSpPr/>
          <p:nvPr/>
        </p:nvSpPr>
        <p:spPr>
          <a:xfrm>
            <a:off x="6415888" y="3886200"/>
            <a:ext cx="438912" cy="438912"/>
          </a:xfrm>
          <a:prstGeom prst="ellipse">
            <a:avLst/>
          </a:prstGeom>
          <a:solidFill>
            <a:schemeClr val="accent1"/>
          </a:solidFill>
          <a:ln w="12700">
            <a:solidFill>
              <a:schemeClr val="accent1"/>
            </a:solidFill>
            <a:prstDash val="solid"/>
          </a:ln>
        </p:spPr>
      </p:sp>
      <p:sp>
        <p:nvSpPr>
          <p:cNvPr id="32" name="Text 30"/>
          <p:cNvSpPr txBox="1"/>
          <p:nvPr/>
        </p:nvSpPr>
        <p:spPr>
          <a:xfrm>
            <a:off x="6415888"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3" name="Text 31"/>
          <p:cNvSpPr txBox="1"/>
          <p:nvPr/>
        </p:nvSpPr>
        <p:spPr>
          <a:xfrm>
            <a:off x="7010248"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a:t>
            </a:r>
            <a:endParaRPr lang="en-US" sz="1700" dirty="0"/>
          </a:p>
        </p:txBody>
      </p:sp>
      <p:sp>
        <p:nvSpPr>
          <p:cNvPr id="34" name="Text 32"/>
          <p:cNvSpPr txBox="1"/>
          <p:nvPr/>
        </p:nvSpPr>
        <p:spPr>
          <a:xfrm>
            <a:off x="6415888"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Used the odds directly, so the inflated down-week odds kept it selling.</a:t>
            </a:r>
            <a:endParaRPr lang="en-US" sz="1400" dirty="0"/>
          </a:p>
        </p:txBody>
      </p:sp>
      <p:sp>
        <p:nvSpPr>
          <p:cNvPr id="35" name="Shape 33"/>
          <p:cNvSpPr/>
          <p:nvPr/>
        </p:nvSpPr>
        <p:spPr>
          <a:xfrm>
            <a:off x="9006611" y="3657600"/>
            <a:ext cx="2636444" cy="2240280"/>
          </a:xfrm>
          <a:prstGeom prst="roundRect">
            <a:avLst>
              <a:gd name="adj" fmla="val 4898"/>
            </a:avLst>
          </a:prstGeom>
          <a:solidFill>
            <a:schemeClr val="bg2"/>
          </a:solidFill>
          <a:ln w="12700">
            <a:solidFill>
              <a:schemeClr val="bg2"/>
            </a:solidFill>
            <a:prstDash val="solid"/>
          </a:ln>
        </p:spPr>
      </p:sp>
      <p:sp>
        <p:nvSpPr>
          <p:cNvPr id="36" name="Shape 34"/>
          <p:cNvSpPr/>
          <p:nvPr/>
        </p:nvSpPr>
        <p:spPr>
          <a:xfrm>
            <a:off x="9235211" y="3886200"/>
            <a:ext cx="438912" cy="438912"/>
          </a:xfrm>
          <a:prstGeom prst="ellipse">
            <a:avLst/>
          </a:prstGeom>
          <a:solidFill>
            <a:schemeClr val="accent1"/>
          </a:solidFill>
          <a:ln w="12700">
            <a:solidFill>
              <a:schemeClr val="accent1"/>
            </a:solidFill>
            <a:prstDash val="solid"/>
          </a:ln>
        </p:spPr>
      </p:sp>
      <p:sp>
        <p:nvSpPr>
          <p:cNvPr id="37" name="Text 35"/>
          <p:cNvSpPr txBox="1"/>
          <p:nvPr/>
        </p:nvSpPr>
        <p:spPr>
          <a:xfrm>
            <a:off x="9235211"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8" name="Text 36"/>
          <p:cNvSpPr txBox="1"/>
          <p:nvPr/>
        </p:nvSpPr>
        <p:spPr>
          <a:xfrm>
            <a:off x="9829571"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3</a:t>
            </a:r>
            <a:endParaRPr lang="en-US" sz="1700" dirty="0"/>
          </a:p>
        </p:txBody>
      </p:sp>
      <p:sp>
        <p:nvSpPr>
          <p:cNvPr id="39" name="Text 37"/>
          <p:cNvSpPr txBox="1"/>
          <p:nvPr/>
        </p:nvSpPr>
        <p:spPr>
          <a:xfrm>
            <a:off x="9235211"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Keep the weights for training, then correct the odds before trading.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400" dirty="0">
                <a:solidFill>
                  <a:schemeClr val="tx2"/>
                </a:solidFill>
              </a:rPr>
              <a:t>Chosen by a rule fixed in advance. It never stepped out of the market: not in 2013–22, not in 2023–24 ($156,546), not on the 2025–26 holdout ($134,410). It is Buy &amp; Hold.</a:t>
            </a:r>
            <a:endParaRPr lang="en-US" sz="14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 over 2013–22.</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A live paper-trade of the frozen rule runs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Which model, and how accurate?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005840"/>
                <a:gridCol w="2834640"/>
                <a:gridCol w="2514600"/>
                <a:gridCol w="1234440"/>
                <a:gridCol w="1234440"/>
                <a:gridCol w="2267712"/>
              </a:tblGrid>
              <a:tr h="566928">
                <a:tc>
                  <a:txBody>
                    <a:bodyPr/>
                    <a:lstStyle/>
                    <a:p>
                      <a:pPr indent="0" marL="0">
                        <a:buNone/>
                      </a:pPr>
                      <a:r>
                        <a:rPr lang="en-US" sz="1500" b="1" dirty="0">
                          <a:solidFill>
                            <a:schemeClr val="bg1"/>
                          </a:solidFill>
                        </a:rPr>
                        <a:t>Version</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Chosen by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Accuracy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Macro-F1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on 2023–24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v1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Random forest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Best prediction score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44.9%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0.41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Most money on the practice exam</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40.9%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 + corrected odds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Pre-set rule, 2013–2022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48.4%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0.35</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 (never trades)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548640" y="3886200"/>
            <a:ext cx="3593592"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77724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model changed</a:t>
            </a:r>
            <a:endParaRPr lang="en-US" sz="1700" dirty="0"/>
          </a:p>
        </p:txBody>
      </p:sp>
      <p:sp>
        <p:nvSpPr>
          <p:cNvPr id="6" name="Text 3"/>
          <p:cNvSpPr txBox="1"/>
          <p:nvPr/>
        </p:nvSpPr>
        <p:spPr>
          <a:xfrm>
            <a:off x="77724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v2 picked the model by money made, not prediction score, so gradient boosting replaced the random forest.</a:t>
            </a:r>
            <a:endParaRPr lang="en-US" sz="1400" dirty="0"/>
          </a:p>
        </p:txBody>
      </p:sp>
      <p:sp>
        <p:nvSpPr>
          <p:cNvPr id="7" name="Shape 4"/>
          <p:cNvSpPr/>
          <p:nvPr/>
        </p:nvSpPr>
        <p:spPr>
          <a:xfrm>
            <a:off x="4297680" y="3886200"/>
            <a:ext cx="3593592" cy="2011680"/>
          </a:xfrm>
          <a:prstGeom prst="roundRect">
            <a:avLst>
              <a:gd name="adj" fmla="val 5455"/>
            </a:avLst>
          </a:prstGeom>
          <a:solidFill>
            <a:srgbClr val="FBEDE4"/>
          </a:solidFill>
          <a:ln w="12700">
            <a:solidFill>
              <a:srgbClr val="FBEDE4"/>
            </a:solidFill>
            <a:prstDash val="solid"/>
          </a:ln>
        </p:spPr>
      </p:sp>
      <p:sp>
        <p:nvSpPr>
          <p:cNvPr id="8" name="Text 5"/>
          <p:cNvSpPr txBox="1"/>
          <p:nvPr/>
        </p:nvSpPr>
        <p:spPr>
          <a:xfrm>
            <a:off x="452628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Highest accuracy ≠ best</a:t>
            </a:r>
            <a:endParaRPr lang="en-US" sz="1700" dirty="0"/>
          </a:p>
        </p:txBody>
      </p:sp>
      <p:sp>
        <p:nvSpPr>
          <p:cNvPr id="9" name="Text 6"/>
          <p:cNvSpPr txBox="1"/>
          <p:nvPr/>
        </p:nvSpPr>
        <p:spPr>
          <a:xfrm>
            <a:off x="452628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v3’s corrected odds call the common flat weeks more often: accuracy up, macro-F1 down.</a:t>
            </a:r>
            <a:endParaRPr lang="en-US" sz="1400" dirty="0"/>
          </a:p>
        </p:txBody>
      </p:sp>
      <p:sp>
        <p:nvSpPr>
          <p:cNvPr id="10" name="Shape 7"/>
          <p:cNvSpPr/>
          <p:nvPr/>
        </p:nvSpPr>
        <p:spPr>
          <a:xfrm>
            <a:off x="8046720" y="3886200"/>
            <a:ext cx="3593592"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27532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No sign of a leak</a:t>
            </a:r>
            <a:endParaRPr lang="en-US" sz="1700" dirty="0"/>
          </a:p>
        </p:txBody>
      </p:sp>
      <p:sp>
        <p:nvSpPr>
          <p:cNvPr id="12" name="Text 9"/>
          <p:cNvSpPr txBox="1"/>
          <p:nvPr/>
        </p:nvSpPr>
        <p:spPr>
          <a:xfrm>
            <a:off x="827532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41–50% across three classes. The brief calls 35–40% normal and warns that 80% means a leak.</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One decision a week: the brief’s literal reading</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3291840"/>
                <a:gridCol w="3291840"/>
                <a:gridCol w="2130552"/>
              </a:tblGrid>
              <a:tr h="566928">
                <a:tc>
                  <a:txBody>
                    <a:bodyPr/>
                    <a:lstStyle/>
                    <a:p>
                      <a:pPr indent="0" marL="0">
                        <a:buNone/>
                      </a:pPr>
                      <a:r>
                        <a:rPr lang="en-US" sz="1600" b="1" dirty="0">
                          <a:solidFill>
                            <a:schemeClr val="bg1"/>
                          </a:solidFill>
                        </a:rPr>
                        <a:t>$100,000, 2023–24</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Decides every day</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Decides each Friday</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Buy &amp; Hold</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600" dirty="0">
                          <a:solidFill>
                            <a:schemeClr val="tx2"/>
                          </a:solidFill>
                        </a:rPr>
                        <a:t>Version 1</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$123,714 · 15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$124,654 · 6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600" dirty="0">
                          <a:solidFill>
                            <a:schemeClr val="tx2"/>
                          </a:solidFill>
                        </a:rPr>
                        <a:t>Version 2</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$121,812 · 17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$123,834 · 9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600" dirty="0">
                          <a:solidFill>
                            <a:schemeClr val="tx2"/>
                          </a:solidFill>
                        </a:rPr>
                        <a:t>Version 3</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never trades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never trades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3794760"/>
            <a:ext cx="11094415" cy="548640"/>
          </a:xfrm>
          <a:prstGeom prst="rect">
            <a:avLst/>
          </a:prstGeom>
          <a:noFill/>
          <a:ln/>
        </p:spPr>
        <p:txBody>
          <a:bodyPr wrap="square" lIns="0" tIns="0" rIns="0" bIns="0" rtlCol="0" anchor="t"/>
          <a:lstStyle/>
          <a:p>
            <a:pPr indent="0" marL="0">
              <a:buNone/>
            </a:pPr>
            <a:r>
              <a:rPr lang="en-US" sz="1400" i="1" dirty="0">
                <a:solidFill>
                  <a:schemeClr val="accent3"/>
                </a:solidFill>
              </a:rPr>
              <a:t>Each Friday after the close: predict Buy, Hold or Sell for the next 5 trading days, trade at Monday’s open, hold all week. Same frozen models; checked after the test results were known.</a:t>
            </a:r>
            <a:endParaRPr lang="en-US" sz="1400" dirty="0"/>
          </a:p>
        </p:txBody>
      </p:sp>
      <p:sp>
        <p:nvSpPr>
          <p:cNvPr id="5" name="Shape 2"/>
          <p:cNvSpPr/>
          <p:nvPr/>
        </p:nvSpPr>
        <p:spPr>
          <a:xfrm>
            <a:off x="548640" y="4434840"/>
            <a:ext cx="3593592" cy="1463040"/>
          </a:xfrm>
          <a:prstGeom prst="roundRect">
            <a:avLst>
              <a:gd name="adj" fmla="val 7500"/>
            </a:avLst>
          </a:prstGeom>
          <a:solidFill>
            <a:schemeClr val="bg2"/>
          </a:solidFill>
          <a:ln w="12700">
            <a:solidFill>
              <a:schemeClr val="bg2"/>
            </a:solidFill>
            <a:prstDash val="solid"/>
          </a:ln>
        </p:spPr>
      </p:sp>
      <p:sp>
        <p:nvSpPr>
          <p:cNvPr id="6" name="Text 3"/>
          <p:cNvSpPr txBox="1"/>
          <p:nvPr/>
        </p:nvSpPr>
        <p:spPr>
          <a:xfrm>
            <a:off x="77724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Half the trades</a:t>
            </a:r>
            <a:endParaRPr lang="en-US" sz="1700" dirty="0"/>
          </a:p>
        </p:txBody>
      </p:sp>
      <p:sp>
        <p:nvSpPr>
          <p:cNvPr id="7" name="Text 4"/>
          <p:cNvSpPr txBox="1"/>
          <p:nvPr/>
        </p:nvSpPr>
        <p:spPr>
          <a:xfrm>
            <a:off x="77724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Fewer, longer positions roughly halve trading costs.</a:t>
            </a:r>
            <a:endParaRPr lang="en-US" sz="1400" dirty="0"/>
          </a:p>
        </p:txBody>
      </p:sp>
      <p:sp>
        <p:nvSpPr>
          <p:cNvPr id="8" name="Shape 5"/>
          <p:cNvSpPr/>
          <p:nvPr/>
        </p:nvSpPr>
        <p:spPr>
          <a:xfrm>
            <a:off x="4297680" y="4434840"/>
            <a:ext cx="3593592" cy="1463040"/>
          </a:xfrm>
          <a:prstGeom prst="roundRect">
            <a:avLst>
              <a:gd name="adj" fmla="val 7500"/>
            </a:avLst>
          </a:prstGeom>
          <a:solidFill>
            <a:srgbClr val="FBEDE4"/>
          </a:solidFill>
          <a:ln w="12700">
            <a:solidFill>
              <a:srgbClr val="FBEDE4"/>
            </a:solidFill>
            <a:prstDash val="solid"/>
          </a:ln>
        </p:spPr>
      </p:sp>
      <p:sp>
        <p:nvSpPr>
          <p:cNvPr id="9" name="Text 6"/>
          <p:cNvSpPr txBox="1"/>
          <p:nvPr/>
        </p:nvSpPr>
        <p:spPr>
          <a:xfrm>
            <a:off x="452628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Same conclusion</a:t>
            </a:r>
            <a:endParaRPr lang="en-US" sz="1700" dirty="0"/>
          </a:p>
        </p:txBody>
      </p:sp>
      <p:sp>
        <p:nvSpPr>
          <p:cNvPr id="10" name="Text 7"/>
          <p:cNvSpPr txBox="1"/>
          <p:nvPr/>
        </p:nvSpPr>
        <p:spPr>
          <a:xfrm>
            <a:off x="452628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Still about $32,000 behind Buy &amp; Hold on 2023–24.</a:t>
            </a:r>
            <a:endParaRPr lang="en-US" sz="1400" dirty="0"/>
          </a:p>
        </p:txBody>
      </p:sp>
      <p:sp>
        <p:nvSpPr>
          <p:cNvPr id="11" name="Shape 8"/>
          <p:cNvSpPr/>
          <p:nvPr/>
        </p:nvSpPr>
        <p:spPr>
          <a:xfrm>
            <a:off x="8046720" y="4434840"/>
            <a:ext cx="3593592" cy="1463040"/>
          </a:xfrm>
          <a:prstGeom prst="roundRect">
            <a:avLst>
              <a:gd name="adj" fmla="val 7500"/>
            </a:avLst>
          </a:prstGeom>
          <a:solidFill>
            <a:schemeClr val="bg2"/>
          </a:solidFill>
          <a:ln w="12700">
            <a:solidFill>
              <a:schemeClr val="bg2"/>
            </a:solidFill>
            <a:prstDash val="solid"/>
          </a:ln>
        </p:spPr>
      </p:sp>
      <p:sp>
        <p:nvSpPr>
          <p:cNvPr id="12" name="Text 9"/>
          <p:cNvSpPr txBox="1"/>
          <p:nvPr/>
        </p:nvSpPr>
        <p:spPr>
          <a:xfrm>
            <a:off x="827532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Slower, not smarter</a:t>
            </a:r>
            <a:endParaRPr lang="en-US" sz="1700" dirty="0"/>
          </a:p>
        </p:txBody>
      </p:sp>
      <p:sp>
        <p:nvSpPr>
          <p:cNvPr id="13" name="Text 10"/>
          <p:cNvSpPr txBox="1"/>
          <p:nvPr/>
        </p:nvSpPr>
        <p:spPr>
          <a:xfrm>
            <a:off x="827532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Over 2013–24, weekly v2 made $167,581 vs $179,977 daily.</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50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2026-10-22T12:41:33Z</dcterms:created>
  <dcterms:modified xsi:type="dcterms:W3CDTF">2026-10-22T12:41:33Z</dcterms:modified>
</cp:coreProperties>
</file>