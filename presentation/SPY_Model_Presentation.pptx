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6c37e3c1-ba90-9022-cf64-476bff283aa0}">
          <p14:sldIdLst>
            <p14:sldId id="256"/>
            <p14:sldId id="257"/>
            <p14:sldId id="258"/>
            <p14:sldId id="259"/>
            <p14:sldId id="260"/>
          </p14:sldIdLst>
        </p14:section>
        <p14:section name="How the model works" id="{556de192-f166-815a-fddd-07cc68ee6aa1}">
          <p14:sldIdLst>
            <p14:sldId id="261"/>
            <p14:sldId id="262"/>
            <p14:sldId id="263"/>
            <p14:sldId id="264"/>
            <p14:sldId id="265"/>
            <p14:sldId id="266"/>
          </p14:sldIdLst>
        </p14:section>
        <p14:section name="What happened" id="{f812ec2d-409f-d848-b6be-c07514ecfe93}">
          <p14:sldIdLst>
            <p14:sldId id="267"/>
            <p14:sldId id="268"/>
            <p14:sldId id="269"/>
            <p14:sldId id="270"/>
          </p14:sldIdLst>
        </p14:section>
        <p14:section name="Version 2" id="{33e48b7a-6001-b8c3-91e1-9ca89066c82f}">
          <p14:sldIdLst>
            <p14:sldId id="271"/>
            <p14:sldId id="272"/>
            <p14:sldId id="273"/>
            <p14:sldId id="274"/>
            <p14:sldId id="275"/>
            <p14:sldId id="276"/>
          </p14:sldIdLst>
        </p14:section>
        <p14:section name="Version 3" id="{796f2796-6a90-8111-6e5b-bd168408cb54}">
          <p14:sldIdLst>
            <p14:sldId id="277"/>
            <p14:sldId id="278"/>
            <p14:sldId id="279"/>
          </p14:sldIdLst>
        </p14:section>
        <p14:section name="Wrap-up" id="{eebb2f6c-3dfa-8398-3df0-e1a9898f8449}">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Testing a machine-learning trading model on the US stock market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Let the model decide</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Every evening, a computer model decides whether the money should be in the market or safely in cash the next day.</a:t>
            </a:r>
            <a:endParaRPr lang="en-US" sz="1700" dirty="0"/>
          </a:p>
          <a:p>
            <a:pPr indent="0" marL="0">
              <a:buNone/>
            </a:pPr>
            <a:endParaRPr lang="en-US" sz="1700" dirty="0"/>
          </a:p>
          <a:p>
            <a:pPr indent="0" marL="0">
              <a:buNone/>
            </a:pPr>
            <a:r>
              <a:rPr lang="en-US" sz="1700" dirty="0">
                <a:solidFill>
                  <a:schemeClr val="tx2"/>
                </a:solidFill>
              </a:rPr>
              <a:t>Every switch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paid $3,237 in costs</a:t>
            </a:r>
            <a:endParaRPr lang="en-US" sz="1500" dirty="0"/>
          </a:p>
        </p:txBody>
      </p:sp>
      <p:sp>
        <p:nvSpPr>
          <p:cNvPr id="8" name="Text 5"/>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9" name="Text 6"/>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 every evening</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Will next week be Up (&gt; +1%), Down (&lt; −1%) or Flat?</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Decide</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Turn that prediction into: in the market or in cash tomorrow</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If it switches, buy or sell when the market opens, and pay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what kind of week is next</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71600"/>
            <a:ext cx="11094415" cy="841248"/>
          </a:xfrm>
          <a:prstGeom prst="roundRect">
            <a:avLst>
              <a:gd name="adj" fmla="val 10870"/>
            </a:avLst>
          </a:prstGeom>
          <a:solidFill>
            <a:schemeClr val="bg2"/>
          </a:solidFill>
          <a:ln w="12700">
            <a:solidFill>
              <a:schemeClr val="bg2"/>
            </a:solidFill>
            <a:prstDash val="solid"/>
          </a:ln>
        </p:spPr>
      </p:sp>
      <p:sp>
        <p:nvSpPr>
          <p:cNvPr id="4" name="Shape 2"/>
          <p:cNvSpPr/>
          <p:nvPr/>
        </p:nvSpPr>
        <p:spPr>
          <a:xfrm>
            <a:off x="749808" y="1572768"/>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57276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71600"/>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71600"/>
            <a:ext cx="6751015" cy="841248"/>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304288"/>
            <a:ext cx="11094415" cy="841248"/>
          </a:xfrm>
          <a:prstGeom prst="roundRect">
            <a:avLst>
              <a:gd name="adj" fmla="val 10870"/>
            </a:avLst>
          </a:prstGeom>
          <a:solidFill>
            <a:schemeClr val="bg2"/>
          </a:solidFill>
          <a:ln w="12700">
            <a:solidFill>
              <a:schemeClr val="bg2"/>
            </a:solidFill>
            <a:prstDash val="solid"/>
          </a:ln>
        </p:spPr>
      </p:sp>
      <p:sp>
        <p:nvSpPr>
          <p:cNvPr id="9" name="Shape 7"/>
          <p:cNvSpPr/>
          <p:nvPr/>
        </p:nvSpPr>
        <p:spPr>
          <a:xfrm>
            <a:off x="749808" y="2505456"/>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50545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304288"/>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304288"/>
            <a:ext cx="6751015" cy="841248"/>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3236976"/>
            <a:ext cx="11094415" cy="841248"/>
          </a:xfrm>
          <a:prstGeom prst="roundRect">
            <a:avLst>
              <a:gd name="adj" fmla="val 10870"/>
            </a:avLst>
          </a:prstGeom>
          <a:solidFill>
            <a:schemeClr val="bg2"/>
          </a:solidFill>
          <a:ln w="12700">
            <a:solidFill>
              <a:schemeClr val="bg2"/>
            </a:solidFill>
            <a:prstDash val="solid"/>
          </a:ln>
        </p:spPr>
      </p:sp>
      <p:sp>
        <p:nvSpPr>
          <p:cNvPr id="14" name="Shape 12"/>
          <p:cNvSpPr/>
          <p:nvPr/>
        </p:nvSpPr>
        <p:spPr>
          <a:xfrm>
            <a:off x="749808" y="3438144"/>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43814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236976"/>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3236976"/>
            <a:ext cx="6751015" cy="841248"/>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4169664"/>
            <a:ext cx="11094415" cy="841248"/>
          </a:xfrm>
          <a:prstGeom prst="roundRect">
            <a:avLst>
              <a:gd name="adj" fmla="val 10870"/>
            </a:avLst>
          </a:prstGeom>
          <a:solidFill>
            <a:schemeClr val="bg2"/>
          </a:solidFill>
          <a:ln w="12700">
            <a:solidFill>
              <a:schemeClr val="bg2"/>
            </a:solidFill>
            <a:prstDash val="solid"/>
          </a:ln>
        </p:spPr>
      </p:sp>
      <p:sp>
        <p:nvSpPr>
          <p:cNvPr id="19" name="Shape 17"/>
          <p:cNvSpPr/>
          <p:nvPr/>
        </p:nvSpPr>
        <p:spPr>
          <a:xfrm>
            <a:off x="749808" y="437083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437083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4169664"/>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4169664"/>
            <a:ext cx="6751015" cy="841248"/>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5102352"/>
            <a:ext cx="11094415" cy="841248"/>
          </a:xfrm>
          <a:prstGeom prst="roundRect">
            <a:avLst>
              <a:gd name="adj" fmla="val 10870"/>
            </a:avLst>
          </a:prstGeom>
          <a:solidFill>
            <a:schemeClr val="bg2"/>
          </a:solidFill>
          <a:ln w="12700">
            <a:solidFill>
              <a:schemeClr val="bg2"/>
            </a:solidFill>
            <a:prstDash val="solid"/>
          </a:ln>
        </p:spPr>
      </p:sp>
      <p:sp>
        <p:nvSpPr>
          <p:cNvPr id="24" name="Shape 22"/>
          <p:cNvSpPr/>
          <p:nvPr/>
        </p:nvSpPr>
        <p:spPr>
          <a:xfrm>
            <a:off x="749808" y="5303520"/>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5303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5102352"/>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5102352"/>
            <a:ext cx="6751015" cy="841248"/>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Profit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Class imbalance: good for predictions, bad for odds</a:t>
            </a:r>
            <a:endParaRPr lang="en-US" sz="3200" dirty="0"/>
          </a:p>
        </p:txBody>
      </p:sp>
      <p:sp>
        <p:nvSpPr>
          <p:cNvPr id="3" name="Text 1"/>
          <p:cNvSpPr txBox="1"/>
          <p:nvPr/>
        </p:nvSpPr>
        <p:spPr>
          <a:xfrm>
            <a:off x="548640" y="1325880"/>
            <a:ext cx="7589520" cy="347472"/>
          </a:xfrm>
          <a:prstGeom prst="rect">
            <a:avLst/>
          </a:prstGeom>
          <a:noFill/>
          <a:ln/>
        </p:spPr>
        <p:txBody>
          <a:bodyPr wrap="square" lIns="0" tIns="0" rIns="0" bIns="0" rtlCol="0" anchor="t"/>
          <a:lstStyle/>
          <a:p>
            <a:pPr indent="0" marL="0">
              <a:buNone/>
            </a:pPr>
            <a:r>
              <a:rPr lang="en-US" sz="1500" b="1" dirty="0">
                <a:solidFill>
                  <a:schemeClr val="tx1"/>
                </a:solidFill>
              </a:rPr>
              <a:t>Real mix of weeks, 2010–2020</a:t>
            </a:r>
            <a:endParaRPr lang="en-US" sz="1500" dirty="0"/>
          </a:p>
        </p:txBody>
      </p:sp>
      <p:sp>
        <p:nvSpPr>
          <p:cNvPr id="4" name="Shape 2"/>
          <p:cNvSpPr/>
          <p:nvPr/>
        </p:nvSpPr>
        <p:spPr>
          <a:xfrm>
            <a:off x="548640" y="1709928"/>
            <a:ext cx="1496507" cy="548640"/>
          </a:xfrm>
          <a:prstGeom prst="rect">
            <a:avLst/>
          </a:prstGeom>
          <a:solidFill>
            <a:schemeClr val="accent2"/>
          </a:solidFill>
          <a:ln w="12700">
            <a:solidFill>
              <a:schemeClr val="accent2"/>
            </a:solidFill>
            <a:prstDash val="solid"/>
          </a:ln>
        </p:spPr>
      </p:sp>
      <p:sp>
        <p:nvSpPr>
          <p:cNvPr id="5" name="Text 3"/>
          <p:cNvSpPr txBox="1"/>
          <p:nvPr/>
        </p:nvSpPr>
        <p:spPr>
          <a:xfrm>
            <a:off x="548640" y="1709928"/>
            <a:ext cx="1496507" cy="548640"/>
          </a:xfrm>
          <a:prstGeom prst="rect">
            <a:avLst/>
          </a:prstGeom>
          <a:noFill/>
          <a:ln/>
        </p:spPr>
        <p:txBody>
          <a:bodyPr wrap="square" lIns="0" tIns="0" rIns="0" bIns="0" rtlCol="0" anchor="ctr"/>
          <a:lstStyle/>
          <a:p>
            <a:pPr algn="ctr" indent="0" marL="0">
              <a:buNone/>
            </a:pPr>
            <a:r>
              <a:rPr lang="en-US" sz="1500" b="1" dirty="0">
                <a:solidFill>
                  <a:schemeClr val="bg1"/>
                </a:solidFill>
              </a:rPr>
              <a:t>Down 20%</a:t>
            </a:r>
            <a:endParaRPr lang="en-US" sz="1500" dirty="0"/>
          </a:p>
        </p:txBody>
      </p:sp>
      <p:sp>
        <p:nvSpPr>
          <p:cNvPr id="6" name="Shape 4"/>
          <p:cNvSpPr/>
          <p:nvPr/>
        </p:nvSpPr>
        <p:spPr>
          <a:xfrm>
            <a:off x="2081723" y="1709928"/>
            <a:ext cx="3363529" cy="548640"/>
          </a:xfrm>
          <a:prstGeom prst="rect">
            <a:avLst/>
          </a:prstGeom>
          <a:solidFill>
            <a:schemeClr val="accent3"/>
          </a:solidFill>
          <a:ln w="12700">
            <a:solidFill>
              <a:schemeClr val="accent3"/>
            </a:solidFill>
            <a:prstDash val="solid"/>
          </a:ln>
        </p:spPr>
      </p:sp>
      <p:sp>
        <p:nvSpPr>
          <p:cNvPr id="7" name="Text 5"/>
          <p:cNvSpPr txBox="1"/>
          <p:nvPr/>
        </p:nvSpPr>
        <p:spPr>
          <a:xfrm>
            <a:off x="2081723" y="1709928"/>
            <a:ext cx="3363529" cy="548640"/>
          </a:xfrm>
          <a:prstGeom prst="rect">
            <a:avLst/>
          </a:prstGeom>
          <a:noFill/>
          <a:ln/>
        </p:spPr>
        <p:txBody>
          <a:bodyPr wrap="square" lIns="0" tIns="0" rIns="0" bIns="0" rtlCol="0" anchor="ctr"/>
          <a:lstStyle/>
          <a:p>
            <a:pPr algn="ctr" indent="0" marL="0">
              <a:buNone/>
            </a:pPr>
            <a:r>
              <a:rPr lang="en-US" sz="1500" b="1" dirty="0">
                <a:solidFill>
                  <a:schemeClr val="bg1"/>
                </a:solidFill>
              </a:rPr>
              <a:t>Flat 45%</a:t>
            </a:r>
            <a:endParaRPr lang="en-US" sz="1500" dirty="0"/>
          </a:p>
        </p:txBody>
      </p:sp>
      <p:sp>
        <p:nvSpPr>
          <p:cNvPr id="8" name="Shape 6"/>
          <p:cNvSpPr/>
          <p:nvPr/>
        </p:nvSpPr>
        <p:spPr>
          <a:xfrm>
            <a:off x="5481828" y="1709928"/>
            <a:ext cx="2619756" cy="548640"/>
          </a:xfrm>
          <a:prstGeom prst="rect">
            <a:avLst/>
          </a:prstGeom>
          <a:solidFill>
            <a:schemeClr val="accent1"/>
          </a:solidFill>
          <a:ln w="12700">
            <a:solidFill>
              <a:schemeClr val="accent1"/>
            </a:solidFill>
            <a:prstDash val="solid"/>
          </a:ln>
        </p:spPr>
      </p:sp>
      <p:sp>
        <p:nvSpPr>
          <p:cNvPr id="9" name="Text 7"/>
          <p:cNvSpPr txBox="1"/>
          <p:nvPr/>
        </p:nvSpPr>
        <p:spPr>
          <a:xfrm>
            <a:off x="5481828" y="1709928"/>
            <a:ext cx="2619756" cy="548640"/>
          </a:xfrm>
          <a:prstGeom prst="rect">
            <a:avLst/>
          </a:prstGeom>
          <a:noFill/>
          <a:ln/>
        </p:spPr>
        <p:txBody>
          <a:bodyPr wrap="square" lIns="0" tIns="0" rIns="0" bIns="0" rtlCol="0" anchor="ctr"/>
          <a:lstStyle/>
          <a:p>
            <a:pPr algn="ctr" indent="0" marL="0">
              <a:buNone/>
            </a:pPr>
            <a:r>
              <a:rPr lang="en-US" sz="1500" b="1" dirty="0">
                <a:solidFill>
                  <a:schemeClr val="bg1"/>
                </a:solidFill>
              </a:rPr>
              <a:t>Up 35%</a:t>
            </a:r>
            <a:endParaRPr lang="en-US" sz="1500" dirty="0"/>
          </a:p>
        </p:txBody>
      </p:sp>
      <p:sp>
        <p:nvSpPr>
          <p:cNvPr id="10" name="Text 8"/>
          <p:cNvSpPr txBox="1"/>
          <p:nvPr/>
        </p:nvSpPr>
        <p:spPr>
          <a:xfrm>
            <a:off x="548640" y="2423160"/>
            <a:ext cx="7589520" cy="347472"/>
          </a:xfrm>
          <a:prstGeom prst="rect">
            <a:avLst/>
          </a:prstGeom>
          <a:noFill/>
          <a:ln/>
        </p:spPr>
        <p:txBody>
          <a:bodyPr wrap="square" lIns="0" tIns="0" rIns="0" bIns="0" rtlCol="0" anchor="t"/>
          <a:lstStyle/>
          <a:p>
            <a:pPr indent="0" marL="0">
              <a:buNone/>
            </a:pPr>
            <a:r>
              <a:rPr lang="en-US" sz="1500" b="1" dirty="0">
                <a:solidFill>
                  <a:schemeClr val="tx1"/>
                </a:solidFill>
              </a:rPr>
              <a:t>What the model is trained to treat as normal, after balancing</a:t>
            </a:r>
            <a:endParaRPr lang="en-US" sz="1500" dirty="0"/>
          </a:p>
        </p:txBody>
      </p:sp>
      <p:sp>
        <p:nvSpPr>
          <p:cNvPr id="11" name="Shape 9"/>
          <p:cNvSpPr/>
          <p:nvPr/>
        </p:nvSpPr>
        <p:spPr>
          <a:xfrm>
            <a:off x="548640" y="2807208"/>
            <a:ext cx="2493264" cy="548640"/>
          </a:xfrm>
          <a:prstGeom prst="rect">
            <a:avLst/>
          </a:prstGeom>
          <a:solidFill>
            <a:schemeClr val="accent2"/>
          </a:solidFill>
          <a:ln w="12700">
            <a:solidFill>
              <a:schemeClr val="accent2"/>
            </a:solidFill>
            <a:prstDash val="solid"/>
          </a:ln>
        </p:spPr>
      </p:sp>
      <p:sp>
        <p:nvSpPr>
          <p:cNvPr id="12" name="Text 10"/>
          <p:cNvSpPr txBox="1"/>
          <p:nvPr/>
        </p:nvSpPr>
        <p:spPr>
          <a:xfrm>
            <a:off x="54864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Down 33%</a:t>
            </a:r>
            <a:endParaRPr lang="en-US" sz="1500" dirty="0"/>
          </a:p>
        </p:txBody>
      </p:sp>
      <p:sp>
        <p:nvSpPr>
          <p:cNvPr id="13" name="Shape 11"/>
          <p:cNvSpPr/>
          <p:nvPr/>
        </p:nvSpPr>
        <p:spPr>
          <a:xfrm>
            <a:off x="3078480" y="2807208"/>
            <a:ext cx="2493264" cy="548640"/>
          </a:xfrm>
          <a:prstGeom prst="rect">
            <a:avLst/>
          </a:prstGeom>
          <a:solidFill>
            <a:schemeClr val="accent3"/>
          </a:solidFill>
          <a:ln w="12700">
            <a:solidFill>
              <a:schemeClr val="accent3"/>
            </a:solidFill>
            <a:prstDash val="solid"/>
          </a:ln>
        </p:spPr>
      </p:sp>
      <p:sp>
        <p:nvSpPr>
          <p:cNvPr id="14" name="Text 12"/>
          <p:cNvSpPr txBox="1"/>
          <p:nvPr/>
        </p:nvSpPr>
        <p:spPr>
          <a:xfrm>
            <a:off x="307848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Flat 33%</a:t>
            </a:r>
            <a:endParaRPr lang="en-US" sz="1500" dirty="0"/>
          </a:p>
        </p:txBody>
      </p:sp>
      <p:sp>
        <p:nvSpPr>
          <p:cNvPr id="15" name="Shape 13"/>
          <p:cNvSpPr/>
          <p:nvPr/>
        </p:nvSpPr>
        <p:spPr>
          <a:xfrm>
            <a:off x="5608320" y="2807208"/>
            <a:ext cx="2493264" cy="548640"/>
          </a:xfrm>
          <a:prstGeom prst="rect">
            <a:avLst/>
          </a:prstGeom>
          <a:solidFill>
            <a:schemeClr val="accent1"/>
          </a:solidFill>
          <a:ln w="12700">
            <a:solidFill>
              <a:schemeClr val="accent1"/>
            </a:solidFill>
            <a:prstDash val="solid"/>
          </a:ln>
        </p:spPr>
      </p:sp>
      <p:sp>
        <p:nvSpPr>
          <p:cNvPr id="16" name="Text 14"/>
          <p:cNvSpPr txBox="1"/>
          <p:nvPr/>
        </p:nvSpPr>
        <p:spPr>
          <a:xfrm>
            <a:off x="560832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Up 33%</a:t>
            </a:r>
            <a:endParaRPr lang="en-US" sz="1500" dirty="0"/>
          </a:p>
        </p:txBody>
      </p:sp>
      <p:sp>
        <p:nvSpPr>
          <p:cNvPr id="17" name="Shape 15"/>
          <p:cNvSpPr/>
          <p:nvPr/>
        </p:nvSpPr>
        <p:spPr>
          <a:xfrm>
            <a:off x="8412480" y="1325880"/>
            <a:ext cx="3227832" cy="2057400"/>
          </a:xfrm>
          <a:prstGeom prst="roundRect">
            <a:avLst>
              <a:gd name="adj" fmla="val 5333"/>
            </a:avLst>
          </a:prstGeom>
          <a:solidFill>
            <a:srgbClr val="FBEDE4"/>
          </a:solidFill>
          <a:ln w="12700">
            <a:solidFill>
              <a:srgbClr val="FBEDE4"/>
            </a:solidFill>
            <a:prstDash val="solid"/>
          </a:ln>
        </p:spPr>
      </p:sp>
      <p:sp>
        <p:nvSpPr>
          <p:cNvPr id="18" name="Text 16"/>
          <p:cNvSpPr txBox="1"/>
          <p:nvPr/>
        </p:nvSpPr>
        <p:spPr>
          <a:xfrm>
            <a:off x="8641080" y="1554480"/>
            <a:ext cx="27706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Good for predictions, bad for odds</a:t>
            </a:r>
            <a:endParaRPr lang="en-US" sz="1700" dirty="0"/>
          </a:p>
        </p:txBody>
      </p:sp>
      <p:sp>
        <p:nvSpPr>
          <p:cNvPr id="19" name="Text 17"/>
          <p:cNvSpPr txBox="1"/>
          <p:nvPr/>
        </p:nvSpPr>
        <p:spPr>
          <a:xfrm>
            <a:off x="8641080" y="2228088"/>
            <a:ext cx="2770632" cy="972312"/>
          </a:xfrm>
          <a:prstGeom prst="rect">
            <a:avLst/>
          </a:prstGeom>
          <a:noFill/>
          <a:ln/>
        </p:spPr>
        <p:txBody>
          <a:bodyPr wrap="square" lIns="0" tIns="0" rIns="0" bIns="0" rtlCol="0" anchor="t"/>
          <a:lstStyle/>
          <a:p>
            <a:pPr indent="0" marL="0">
              <a:buNone/>
            </a:pPr>
            <a:r>
              <a:rPr lang="en-US" sz="1400" dirty="0">
                <a:solidFill>
                  <a:schemeClr val="tx2"/>
                </a:solidFill>
              </a:rPr>
              <a:t>The model stops ignoring rare down weeks, but its odds of one come out inflated: 30% predicted vs 21% real.</a:t>
            </a:r>
            <a:endParaRPr lang="en-US" sz="1400" dirty="0"/>
          </a:p>
        </p:txBody>
      </p:sp>
      <p:sp>
        <p:nvSpPr>
          <p:cNvPr id="20" name="Shape 18"/>
          <p:cNvSpPr/>
          <p:nvPr/>
        </p:nvSpPr>
        <p:spPr>
          <a:xfrm>
            <a:off x="548640" y="3657600"/>
            <a:ext cx="2636444" cy="2240280"/>
          </a:xfrm>
          <a:prstGeom prst="roundRect">
            <a:avLst>
              <a:gd name="adj" fmla="val 4898"/>
            </a:avLst>
          </a:prstGeom>
          <a:solidFill>
            <a:schemeClr val="bg2"/>
          </a:solidFill>
          <a:ln w="12700">
            <a:solidFill>
              <a:schemeClr val="bg2"/>
            </a:solidFill>
            <a:prstDash val="solid"/>
          </a:ln>
        </p:spPr>
      </p:sp>
      <p:sp>
        <p:nvSpPr>
          <p:cNvPr id="21" name="Shape 19"/>
          <p:cNvSpPr/>
          <p:nvPr/>
        </p:nvSpPr>
        <p:spPr>
          <a:xfrm>
            <a:off x="777240" y="3886200"/>
            <a:ext cx="438912" cy="438912"/>
          </a:xfrm>
          <a:prstGeom prst="ellipse">
            <a:avLst/>
          </a:prstGeom>
          <a:solidFill>
            <a:schemeClr val="accent1"/>
          </a:solidFill>
          <a:ln w="12700">
            <a:solidFill>
              <a:schemeClr val="accent1"/>
            </a:solidFill>
            <a:prstDash val="solid"/>
          </a:ln>
        </p:spPr>
      </p:sp>
      <p:sp>
        <p:nvSpPr>
          <p:cNvPr id="22" name="Text 20"/>
          <p:cNvSpPr txBox="1"/>
          <p:nvPr/>
        </p:nvSpPr>
        <p:spPr>
          <a:xfrm>
            <a:off x="777240"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3" name="Text 21"/>
          <p:cNvSpPr txBox="1"/>
          <p:nvPr/>
        </p:nvSpPr>
        <p:spPr>
          <a:xfrm>
            <a:off x="1371600"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brief</a:t>
            </a:r>
            <a:endParaRPr lang="en-US" sz="1700" dirty="0"/>
          </a:p>
        </p:txBody>
      </p:sp>
      <p:sp>
        <p:nvSpPr>
          <p:cNvPr id="24" name="Text 22"/>
          <p:cNvSpPr txBox="1"/>
          <p:nvPr/>
        </p:nvSpPr>
        <p:spPr>
          <a:xfrm>
            <a:off x="777240"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Requires handling imbalance: SMOTE, class weights or thresholds.</a:t>
            </a:r>
            <a:endParaRPr lang="en-US" sz="1400" dirty="0"/>
          </a:p>
        </p:txBody>
      </p:sp>
      <p:sp>
        <p:nvSpPr>
          <p:cNvPr id="25" name="Shape 23"/>
          <p:cNvSpPr/>
          <p:nvPr/>
        </p:nvSpPr>
        <p:spPr>
          <a:xfrm>
            <a:off x="3367964" y="3657600"/>
            <a:ext cx="2636444" cy="2240280"/>
          </a:xfrm>
          <a:prstGeom prst="roundRect">
            <a:avLst>
              <a:gd name="adj" fmla="val 4898"/>
            </a:avLst>
          </a:prstGeom>
          <a:solidFill>
            <a:schemeClr val="bg2"/>
          </a:solidFill>
          <a:ln w="12700">
            <a:solidFill>
              <a:schemeClr val="bg2"/>
            </a:solidFill>
            <a:prstDash val="solid"/>
          </a:ln>
        </p:spPr>
      </p:sp>
      <p:sp>
        <p:nvSpPr>
          <p:cNvPr id="26" name="Shape 24"/>
          <p:cNvSpPr/>
          <p:nvPr/>
        </p:nvSpPr>
        <p:spPr>
          <a:xfrm>
            <a:off x="3596564" y="3886200"/>
            <a:ext cx="438912" cy="438912"/>
          </a:xfrm>
          <a:prstGeom prst="ellipse">
            <a:avLst/>
          </a:prstGeom>
          <a:solidFill>
            <a:schemeClr val="accent1"/>
          </a:solidFill>
          <a:ln w="12700">
            <a:solidFill>
              <a:schemeClr val="accent1"/>
            </a:solidFill>
            <a:prstDash val="solid"/>
          </a:ln>
        </p:spPr>
      </p:sp>
      <p:sp>
        <p:nvSpPr>
          <p:cNvPr id="27" name="Text 25"/>
          <p:cNvSpPr txBox="1"/>
          <p:nvPr/>
        </p:nvSpPr>
        <p:spPr>
          <a:xfrm>
            <a:off x="3596564"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Text 26"/>
          <p:cNvSpPr txBox="1"/>
          <p:nvPr/>
        </p:nvSpPr>
        <p:spPr>
          <a:xfrm>
            <a:off x="4190924"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1</a:t>
            </a:r>
            <a:endParaRPr lang="en-US" sz="1700" dirty="0"/>
          </a:p>
        </p:txBody>
      </p:sp>
      <p:sp>
        <p:nvSpPr>
          <p:cNvPr id="29" name="Text 27"/>
          <p:cNvSpPr txBox="1"/>
          <p:nvPr/>
        </p:nvSpPr>
        <p:spPr>
          <a:xfrm>
            <a:off x="3596564"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Class weights. SMOTE and no weighting were tested; weights scored best.</a:t>
            </a:r>
            <a:endParaRPr lang="en-US" sz="1400" dirty="0"/>
          </a:p>
        </p:txBody>
      </p:sp>
      <p:sp>
        <p:nvSpPr>
          <p:cNvPr id="30" name="Shape 28"/>
          <p:cNvSpPr/>
          <p:nvPr/>
        </p:nvSpPr>
        <p:spPr>
          <a:xfrm>
            <a:off x="6187288" y="3657600"/>
            <a:ext cx="2636444" cy="2240280"/>
          </a:xfrm>
          <a:prstGeom prst="roundRect">
            <a:avLst>
              <a:gd name="adj" fmla="val 4898"/>
            </a:avLst>
          </a:prstGeom>
          <a:solidFill>
            <a:schemeClr val="bg2"/>
          </a:solidFill>
          <a:ln w="12700">
            <a:solidFill>
              <a:schemeClr val="bg2"/>
            </a:solidFill>
            <a:prstDash val="solid"/>
          </a:ln>
        </p:spPr>
      </p:sp>
      <p:sp>
        <p:nvSpPr>
          <p:cNvPr id="31" name="Shape 29"/>
          <p:cNvSpPr/>
          <p:nvPr/>
        </p:nvSpPr>
        <p:spPr>
          <a:xfrm>
            <a:off x="6415888" y="3886200"/>
            <a:ext cx="438912" cy="438912"/>
          </a:xfrm>
          <a:prstGeom prst="ellipse">
            <a:avLst/>
          </a:prstGeom>
          <a:solidFill>
            <a:schemeClr val="accent1"/>
          </a:solidFill>
          <a:ln w="12700">
            <a:solidFill>
              <a:schemeClr val="accent1"/>
            </a:solidFill>
            <a:prstDash val="solid"/>
          </a:ln>
        </p:spPr>
      </p:sp>
      <p:sp>
        <p:nvSpPr>
          <p:cNvPr id="32" name="Text 30"/>
          <p:cNvSpPr txBox="1"/>
          <p:nvPr/>
        </p:nvSpPr>
        <p:spPr>
          <a:xfrm>
            <a:off x="6415888"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3" name="Text 31"/>
          <p:cNvSpPr txBox="1"/>
          <p:nvPr/>
        </p:nvSpPr>
        <p:spPr>
          <a:xfrm>
            <a:off x="7010248"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a:t>
            </a:r>
            <a:endParaRPr lang="en-US" sz="1700" dirty="0"/>
          </a:p>
        </p:txBody>
      </p:sp>
      <p:sp>
        <p:nvSpPr>
          <p:cNvPr id="34" name="Text 32"/>
          <p:cNvSpPr txBox="1"/>
          <p:nvPr/>
        </p:nvSpPr>
        <p:spPr>
          <a:xfrm>
            <a:off x="6415888"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Used the odds directly, so the inflated down-week odds kept it selling.</a:t>
            </a:r>
            <a:endParaRPr lang="en-US" sz="1400" dirty="0"/>
          </a:p>
        </p:txBody>
      </p:sp>
      <p:sp>
        <p:nvSpPr>
          <p:cNvPr id="35" name="Shape 33"/>
          <p:cNvSpPr/>
          <p:nvPr/>
        </p:nvSpPr>
        <p:spPr>
          <a:xfrm>
            <a:off x="9006611" y="3657600"/>
            <a:ext cx="2636444" cy="2240280"/>
          </a:xfrm>
          <a:prstGeom prst="roundRect">
            <a:avLst>
              <a:gd name="adj" fmla="val 4898"/>
            </a:avLst>
          </a:prstGeom>
          <a:solidFill>
            <a:schemeClr val="bg2"/>
          </a:solidFill>
          <a:ln w="12700">
            <a:solidFill>
              <a:schemeClr val="bg2"/>
            </a:solidFill>
            <a:prstDash val="solid"/>
          </a:ln>
        </p:spPr>
      </p:sp>
      <p:sp>
        <p:nvSpPr>
          <p:cNvPr id="36" name="Shape 34"/>
          <p:cNvSpPr/>
          <p:nvPr/>
        </p:nvSpPr>
        <p:spPr>
          <a:xfrm>
            <a:off x="9235211" y="3886200"/>
            <a:ext cx="438912" cy="438912"/>
          </a:xfrm>
          <a:prstGeom prst="ellipse">
            <a:avLst/>
          </a:prstGeom>
          <a:solidFill>
            <a:schemeClr val="accent1"/>
          </a:solidFill>
          <a:ln w="12700">
            <a:solidFill>
              <a:schemeClr val="accent1"/>
            </a:solidFill>
            <a:prstDash val="solid"/>
          </a:ln>
        </p:spPr>
      </p:sp>
      <p:sp>
        <p:nvSpPr>
          <p:cNvPr id="37" name="Text 35"/>
          <p:cNvSpPr txBox="1"/>
          <p:nvPr/>
        </p:nvSpPr>
        <p:spPr>
          <a:xfrm>
            <a:off x="9235211"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8" name="Text 36"/>
          <p:cNvSpPr txBox="1"/>
          <p:nvPr/>
        </p:nvSpPr>
        <p:spPr>
          <a:xfrm>
            <a:off x="9829571"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3</a:t>
            </a:r>
            <a:endParaRPr lang="en-US" sz="1700" dirty="0"/>
          </a:p>
        </p:txBody>
      </p:sp>
      <p:sp>
        <p:nvSpPr>
          <p:cNvPr id="39" name="Text 37"/>
          <p:cNvSpPr txBox="1"/>
          <p:nvPr/>
        </p:nvSpPr>
        <p:spPr>
          <a:xfrm>
            <a:off x="9235211"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Keep the weights for training, then correct the odds before trading.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500" dirty="0">
                <a:solidFill>
                  <a:schemeClr val="tx2"/>
                </a:solidFill>
              </a:rPr>
              <a:t>Chosen by a rule fixed in advance. In ten years it never stepped out of the market: it is Buy &amp; Hold, and it ties Buy &amp; Hold.</a:t>
            </a:r>
            <a:endParaRPr lang="en-US" sz="15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Still to come: the frozen pick on 2025–26 data and a live paper-trade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46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flaw of machine learning, or of the question?</a:t>
            </a:r>
            <a:endParaRPr lang="en-US" sz="3200" dirty="0"/>
          </a:p>
        </p:txBody>
      </p:sp>
      <p:sp>
        <p:nvSpPr>
          <p:cNvPr id="3" name="Shape 1"/>
          <p:cNvSpPr/>
          <p:nvPr/>
        </p:nvSpPr>
        <p:spPr>
          <a:xfrm>
            <a:off x="548640" y="1371600"/>
            <a:ext cx="11094415" cy="1024128"/>
          </a:xfrm>
          <a:prstGeom prst="roundRect">
            <a:avLst>
              <a:gd name="adj" fmla="val 8929"/>
            </a:avLst>
          </a:prstGeom>
          <a:solidFill>
            <a:srgbClr val="FBEDE4"/>
          </a:solidFill>
          <a:ln w="12700">
            <a:solidFill>
              <a:srgbClr val="FBEDE4"/>
            </a:solidFill>
            <a:prstDash val="solid"/>
          </a:ln>
        </p:spPr>
      </p:sp>
      <p:sp>
        <p:nvSpPr>
          <p:cNvPr id="4" name="Text 2"/>
          <p:cNvSpPr txBox="1"/>
          <p:nvPr/>
        </p:nvSpPr>
        <p:spPr>
          <a:xfrm>
            <a:off x="822960" y="1371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Mostly the question</a:t>
            </a:r>
            <a:endParaRPr lang="en-US" sz="1900" dirty="0"/>
          </a:p>
        </p:txBody>
      </p:sp>
      <p:sp>
        <p:nvSpPr>
          <p:cNvPr id="5" name="Text 3"/>
          <p:cNvSpPr txBox="1"/>
          <p:nvPr/>
        </p:nvSpPr>
        <p:spPr>
          <a:xfrm>
            <a:off x="4297680" y="1371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We asked for next week’s direction of the world’s most-watched fund, using only its own public price history. Simple patterns there get traded away, and no algorithm can find information that isn’t in the data.</a:t>
            </a:r>
            <a:endParaRPr lang="en-US" sz="1600" dirty="0"/>
          </a:p>
        </p:txBody>
      </p:sp>
      <p:sp>
        <p:nvSpPr>
          <p:cNvPr id="6" name="Shape 4"/>
          <p:cNvSpPr/>
          <p:nvPr/>
        </p:nvSpPr>
        <p:spPr>
          <a:xfrm>
            <a:off x="548640" y="2514600"/>
            <a:ext cx="11094415" cy="1024128"/>
          </a:xfrm>
          <a:prstGeom prst="roundRect">
            <a:avLst>
              <a:gd name="adj" fmla="val 8929"/>
            </a:avLst>
          </a:prstGeom>
          <a:solidFill>
            <a:schemeClr val="bg2"/>
          </a:solidFill>
          <a:ln w="12700">
            <a:solidFill>
              <a:schemeClr val="bg2"/>
            </a:solidFill>
            <a:prstDash val="solid"/>
          </a:ln>
        </p:spPr>
      </p:sp>
      <p:sp>
        <p:nvSpPr>
          <p:cNvPr id="7" name="Text 5"/>
          <p:cNvSpPr txBox="1"/>
          <p:nvPr/>
        </p:nvSpPr>
        <p:spPr>
          <a:xfrm>
            <a:off x="822960" y="2514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Partly our own limits</a:t>
            </a:r>
            <a:endParaRPr lang="en-US" sz="1900" dirty="0"/>
          </a:p>
        </p:txBody>
      </p:sp>
      <p:sp>
        <p:nvSpPr>
          <p:cNvPr id="8" name="Text 6"/>
          <p:cNvSpPr txBox="1"/>
          <p:nvPr/>
        </p:nvSpPr>
        <p:spPr>
          <a:xfrm>
            <a:off x="4297680" y="2514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One fund, all in or all out, price data only, a one-week horizon. Lifting these makes the task easier, but wouldn’t flip the result: even with zero fees, v1 still lost.</a:t>
            </a:r>
            <a:endParaRPr lang="en-US" sz="1600" dirty="0"/>
          </a:p>
        </p:txBody>
      </p:sp>
      <p:sp>
        <p:nvSpPr>
          <p:cNvPr id="9" name="Shape 7"/>
          <p:cNvSpPr/>
          <p:nvPr/>
        </p:nvSpPr>
        <p:spPr>
          <a:xfrm>
            <a:off x="548640" y="3657600"/>
            <a:ext cx="11094415" cy="1024128"/>
          </a:xfrm>
          <a:prstGeom prst="roundRect">
            <a:avLst>
              <a:gd name="adj" fmla="val 8929"/>
            </a:avLst>
          </a:prstGeom>
          <a:solidFill>
            <a:schemeClr val="bg2"/>
          </a:solidFill>
          <a:ln w="12700">
            <a:solidFill>
              <a:schemeClr val="bg2"/>
            </a:solidFill>
            <a:prstDash val="solid"/>
          </a:ln>
        </p:spPr>
      </p:sp>
      <p:sp>
        <p:nvSpPr>
          <p:cNvPr id="10" name="Text 8"/>
          <p:cNvSpPr txBox="1"/>
          <p:nvPr/>
        </p:nvSpPr>
        <p:spPr>
          <a:xfrm>
            <a:off x="822960" y="3657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Where machine learning does help</a:t>
            </a:r>
            <a:endParaRPr lang="en-US" sz="1900" dirty="0"/>
          </a:p>
        </p:txBody>
      </p:sp>
      <p:sp>
        <p:nvSpPr>
          <p:cNvPr id="11" name="Text 9"/>
          <p:cNvSpPr txBox="1"/>
          <p:nvPr/>
        </p:nvSpPr>
        <p:spPr>
          <a:xfrm>
            <a:off x="4297680" y="3657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Ranking many assets against each other, forecasting risk to size positions, and using data most people don’t have. Even there the edges are usually small and shrink after costs.</a:t>
            </a:r>
            <a:endParaRPr lang="en-US" sz="1600" dirty="0"/>
          </a:p>
        </p:txBody>
      </p:sp>
      <p:sp>
        <p:nvSpPr>
          <p:cNvPr id="12" name="Shape 10"/>
          <p:cNvSpPr/>
          <p:nvPr/>
        </p:nvSpPr>
        <p:spPr>
          <a:xfrm>
            <a:off x="548640" y="4800600"/>
            <a:ext cx="11094415" cy="1024128"/>
          </a:xfrm>
          <a:prstGeom prst="roundRect">
            <a:avLst>
              <a:gd name="adj" fmla="val 8929"/>
            </a:avLst>
          </a:prstGeom>
          <a:solidFill>
            <a:schemeClr val="bg2"/>
          </a:solidFill>
          <a:ln w="12700">
            <a:solidFill>
              <a:schemeClr val="bg2"/>
            </a:solidFill>
            <a:prstDash val="solid"/>
          </a:ln>
        </p:spPr>
      </p:sp>
      <p:sp>
        <p:nvSpPr>
          <p:cNvPr id="13" name="Text 11"/>
          <p:cNvSpPr txBox="1"/>
          <p:nvPr/>
        </p:nvSpPr>
        <p:spPr>
          <a:xfrm>
            <a:off x="822960" y="4800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fair bar</a:t>
            </a:r>
            <a:endParaRPr lang="en-US" sz="1900" dirty="0"/>
          </a:p>
        </p:txBody>
      </p:sp>
      <p:sp>
        <p:nvSpPr>
          <p:cNvPr id="14" name="Text 12"/>
          <p:cNvSpPr txBox="1"/>
          <p:nvPr/>
        </p:nvSpPr>
        <p:spPr>
          <a:xfrm>
            <a:off x="4297680" y="4800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Return for the risk taken, and beating random timing — not simply “more money than Buy &amp; Hold”. That is how we judged every version.</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$123,714 with v1, $121,812 with v2.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2026-10-22T12:11:04Z</dcterms:created>
  <dcterms:modified xsi:type="dcterms:W3CDTF">2026-10-22T12:11:04Z</dcterms:modified>
</cp:coreProperties>
</file>